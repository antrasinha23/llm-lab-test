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545"/>
                </a:solidFill>
                <a:latin typeface="Calibri"/>
              </a:defRPr>
            </a:pPr>
            <a:r>
              <a:rPr lang="en-US" sz="1400" b="0" i="0" u="none" strike="noStrike">
                <a:solidFill>
                  <a:srgbClr val="0B2545"/>
                </a:solidFill>
                <a:latin typeface="Calibri"/>
              </a:rPr>
              <a:t>Share of each asset affected (%)</a:t>
            </a:r>
          </a:p>
        </c:rich>
      </c:tx>
      <c:overlay val="0"/>
    </c:title>
    <c:autoTitleDeleted val="0"/>
    <c:plotArea>
      <c:layout/>
      <c:barChart>
        <c:barDir val="col"/>
        <c:grouping val="clustered"/>
        <c:varyColors val="0"/>
        <c:ser>
          <c:idx val="0"/>
          <c:order val="0"/>
          <c:tx>
            <c:strRef>
              <c:f>Sheet1!$B$1</c:f>
              <c:strCache>
                <c:ptCount val="1"/>
                <c:pt idx="0">
                  <c:v>Affected (%)</c:v>
                </c:pt>
              </c:strCache>
            </c:strRef>
          </c:tx>
          <c:spPr>
            <a:solidFill>
              <a:srgbClr val="E09F3E"/>
            </a:solidFill>
            <a:effectLst/>
          </c:spPr>
          <c:invertIfNegative val="0"/>
          <c:dLbls>
            <c:numFmt formatCode="0.0" sourceLinked="0"/>
            <c:spPr>
              <a:noFill/>
              <a:ln>
                <a:noFill/>
              </a:ln>
              <a:effectLst/>
            </c:spPr>
            <c:txPr>
              <a:bodyPr/>
              <a:lstStyle/>
              <a:p>
                <a:pPr>
                  <a:defRPr sz="1200" b="0" i="0" u="none" strike="noStrike">
                    <a:solidFill>
                      <a:srgbClr val="1F2D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Roads</c:v>
                </c:pt>
                <c:pt idx="1">
                  <c:v>Buildings</c:v>
                </c:pt>
                <c:pt idx="2">
                  <c:v>Cropland</c:v>
                </c:pt>
                <c:pt idx="3">
                  <c:v>Settlement</c:v>
                </c:pt>
              </c:strCache>
            </c:strRef>
          </c:cat>
          <c:val>
            <c:numRef>
              <c:f>Sheet1!$B$2:$B$5</c:f>
              <c:numCache>
                <c:formatCode>General</c:formatCode>
                <c:ptCount val="4"/>
                <c:pt idx="0">
                  <c:v>36.9</c:v>
                </c:pt>
                <c:pt idx="1">
                  <c:v>32.6</c:v>
                </c:pt>
                <c:pt idx="2">
                  <c:v>50.2</c:v>
                </c:pt>
                <c:pt idx="3">
                  <c:v>29.2</c:v>
                </c:pt>
              </c:numCache>
            </c:numRef>
          </c:val>
          <c:extLst>
            <c:ext xmlns:c16="http://schemas.microsoft.com/office/drawing/2014/chart" uri="{C3380CC4-5D6E-409C-BE32-E72D297353CC}">
              <c16:uniqueId val="{00000000-426D-4EB6-817B-27C2D01BF63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D"/>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E3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63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using drones to rapidly map where floodwater is, and using AI and GIS to turn those images into maps and numbers that disaster managers can act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motivation, the gap in current methods, the proposed pipeline stage by stage, results, applications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Floods and storms dominated disasters in 2000–2019. Bihar is India’s most flood-prone state: about 73% of its area is flood-affected and about 76% of North Bihar’s population lives under recurring flood threat. The key point is speed: response decisions depend on knowing the flood extent quickly.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are excellent for regional overviews: Sentinel-1 radar works through clouds, but at ~10 m it cannot show which individual houses or road segments are flooded. Optical satellites are blocked by monsoon clouds. Drones give centimetre detail on demand, at the cost of smaller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objectives map directly onto the stages of the pipeline shown next: acquire, detect, map, quantify and assess.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The deep-learning segmentation (highlighted) is the core, but the GIS stage is what converts pixels into actionable numbers. Auxiliary vector layers such as OpenStreetMap roads and building footprints are brought in at the GIS stage.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planning determines data quality. High overlap is needed because floodwater is a uniform, low-texture surface, which makes feature matching difficult. GSD tells us the ground size of one pixel; the example uses a 1-inch sensor camera at 100 m and gives about 2.7 cm per pixel. In India, the Drone Rules 2021 allow flights up to 400 ft (120 m) in green zones without prior permission.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Photogrammetry stitches hundreds of overlapping photos into one georeferenced orthomosaic. Projecting to a metric UTM system is essential so that later area calculations come out in square metres. Tiling is needed because a full orthomosaic is far too large to feed into a neural network at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methods like NDWI (McFeeters, 1996) need a near-infrared band, which most low-cost drones lack. Floodwater in the Gangetic plains is heavily silt-laden and brown, so simple colour thresholds confuse it with wet soil. Deep learning uses spatial context and is therefore selected for this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U-Net (Ronneberger et al., 2015) has a contracting encoder that captures context and an expanding decoder that recovers precise boundaries. Skip connections pass fine spatial detail across, which is why U-Net draws sharp water edges. Dice loss is combined with cross-entropy to cope with class imbalance when only a small part of a tile is water.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FloodNet (Rahnemoonfar et al., 2021) and RescueNet (Rahnemoonfar et al., 2023) are the main public high-resolution UAV disaster segmentation datasets. IoU is the primary metric because plain pixel accuracy is misleading when most pixels are non-water.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outputs a probability for every pixel. A 0.5 threshold gives a raw mask that is noisy and has holes where rooftops or trees hide the water. Morphological operations and a minimum-area filter clean it up, and polygonization converts it into vector flood boundaries for GIS.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the drone sees, a muddy flood spreading from the river into cropland and the western part of a village. Right: the same area after segmentation and GIS overlay. Newly flooded area is separated from the permanent river channel; submerged road segments and buildings touching floodwater are highlighted.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is simply the number of flood pixels times the ground area of one pixel, but only in a projected, metric coordinate system. The permanent river must be subtracted, otherwise normal water bodies would be counted as flood. Figures shown are from the demonstration scene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flood polygons are overlaid on vector layers. Road length inside the flood polygon gives kilometres of submerged road; buildings intersecting the flood are counted as affected; cropland intersected gives hectares of potential crop loss for compensation. Numbers are from the demonstration scene.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who uses the outputs: State Disaster Management Authorities and district administration for rescue and relief, agriculture departments for crop-loss compensation, and water resources departments for embankment monitoring and planning.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silt-laden water and sun glint are the main sources of error, and water hidden beneath vegetation cannot be seen optically. Future work focuses on real-time onboard inference, depth estimation with elevation models and fusion with Sentinel-1 radar.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contribution: the combination of drone imagery, deep learning and GIS produces rapid, detailed and quantitative flood information that directly supports emergency response.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11.png"/><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19.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2.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6.png"/><Relationship Id="rId10" Type="http://schemas.openxmlformats.org/officeDocument/2006/relationships/image" Target="../media/image12.png"/><Relationship Id="rId4" Type="http://schemas.openxmlformats.org/officeDocument/2006/relationships/image" Target="../media/image35.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9.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2545">
              <a:alpha val="38000"/>
            </a:srgbClr>
          </a:solidFill>
          <a:ln w="12700">
            <a:solidFill>
              <a:srgbClr val="0B2545">
                <a:alpha val="0"/>
              </a:srgbClr>
            </a:solidFill>
            <a:prstDash val="solid"/>
          </a:ln>
        </p:spPr>
      </p:sp>
      <p:sp>
        <p:nvSpPr>
          <p:cNvPr id="4" name="Shape 1"/>
          <p:cNvSpPr/>
          <p:nvPr/>
        </p:nvSpPr>
        <p:spPr>
          <a:xfrm>
            <a:off x="0" y="0"/>
            <a:ext cx="7498080" cy="6858000"/>
          </a:xfrm>
          <a:prstGeom prst="rect">
            <a:avLst/>
          </a:prstGeom>
          <a:solidFill>
            <a:srgbClr val="0B2545">
              <a:alpha val="92000"/>
            </a:srgbClr>
          </a:solidFill>
          <a:ln w="12700">
            <a:solidFill>
              <a:srgbClr val="0B2545">
                <a:alpha val="0"/>
              </a:srgbClr>
            </a:solidFill>
            <a:prstDash val="solid"/>
          </a:ln>
        </p:spPr>
      </p:sp>
      <p:sp>
        <p:nvSpPr>
          <p:cNvPr id="5" name="Shape 2"/>
          <p:cNvSpPr/>
          <p:nvPr/>
        </p:nvSpPr>
        <p:spPr>
          <a:xfrm>
            <a:off x="731520" y="960120"/>
            <a:ext cx="822960" cy="822960"/>
          </a:xfrm>
          <a:prstGeom prst="ellipse">
            <a:avLst/>
          </a:prstGeom>
          <a:solidFill>
            <a:srgbClr val="E09F3E"/>
          </a:solidFill>
          <a:ln w="12700">
            <a:solidFill>
              <a:srgbClr val="E09F3E"/>
            </a:solidFill>
            <a:prstDash val="solid"/>
          </a:ln>
        </p:spPr>
      </p:sp>
      <p:pic>
        <p:nvPicPr>
          <p:cNvPr id="6" name="Image 1" descr="preencoded.png"/>
          <p:cNvPicPr>
            <a:picLocks noChangeAspect="1"/>
          </p:cNvPicPr>
          <p:nvPr/>
        </p:nvPicPr>
        <p:blipFill>
          <a:blip r:embed="rId4"/>
          <a:stretch>
            <a:fillRect/>
          </a:stretch>
        </p:blipFill>
        <p:spPr>
          <a:xfrm>
            <a:off x="945490" y="1174090"/>
            <a:ext cx="395021" cy="395021"/>
          </a:xfrm>
          <a:prstGeom prst="rect">
            <a:avLst/>
          </a:prstGeom>
        </p:spPr>
      </p:pic>
      <p:sp>
        <p:nvSpPr>
          <p:cNvPr id="7" name="Text 3"/>
          <p:cNvSpPr txBox="1"/>
          <p:nvPr/>
        </p:nvSpPr>
        <p:spPr>
          <a:xfrm>
            <a:off x="731520" y="2011680"/>
            <a:ext cx="6217920" cy="320040"/>
          </a:xfrm>
          <a:prstGeom prst="rect">
            <a:avLst/>
          </a:prstGeom>
          <a:noFill/>
          <a:ln/>
        </p:spPr>
        <p:txBody>
          <a:bodyPr wrap="square" lIns="0" tIns="0" rIns="0" bIns="0" rtlCol="0" anchor="ctr"/>
          <a:lstStyle/>
          <a:p>
            <a:pPr marL="0" indent="0">
              <a:buNone/>
            </a:pPr>
            <a:r>
              <a:rPr lang="en-US" sz="1300" b="1" kern="0" spc="400" dirty="0">
                <a:solidFill>
                  <a:srgbClr val="E09F3E"/>
                </a:solidFill>
                <a:latin typeface="Calibri" pitchFamily="34" charset="0"/>
                <a:ea typeface="Calibri" pitchFamily="34" charset="-122"/>
                <a:cs typeface="Calibri" pitchFamily="34" charset="-120"/>
              </a:rPr>
              <a:t>PROJECT PRESENTATION</a:t>
            </a:r>
            <a:endParaRPr lang="en-US" sz="1300" dirty="0"/>
          </a:p>
        </p:txBody>
      </p:sp>
      <p:sp>
        <p:nvSpPr>
          <p:cNvPr id="8" name="Text 4"/>
          <p:cNvSpPr txBox="1"/>
          <p:nvPr/>
        </p:nvSpPr>
        <p:spPr>
          <a:xfrm>
            <a:off x="731520" y="2377440"/>
            <a:ext cx="6400800" cy="17373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Flood Extent Mapping Using Drone Imagery</a:t>
            </a:r>
            <a:endParaRPr lang="en-US" sz="4400" dirty="0"/>
          </a:p>
        </p:txBody>
      </p:sp>
      <p:sp>
        <p:nvSpPr>
          <p:cNvPr id="9" name="Text 5"/>
          <p:cNvSpPr txBox="1"/>
          <p:nvPr/>
        </p:nvSpPr>
        <p:spPr>
          <a:xfrm>
            <a:off x="731520" y="4160520"/>
            <a:ext cx="6309360" cy="8229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Deep-learning segmentation and GIS analytics for rapid flood assessment and emergency response</a:t>
            </a:r>
            <a:endParaRPr lang="en-US" sz="1800" dirty="0"/>
          </a:p>
        </p:txBody>
      </p:sp>
      <p:sp>
        <p:nvSpPr>
          <p:cNvPr id="10" name="Text 6"/>
          <p:cNvSpPr txBox="1"/>
          <p:nvPr/>
        </p:nvSpPr>
        <p:spPr>
          <a:xfrm>
            <a:off x="731520" y="5349240"/>
            <a:ext cx="6309360" cy="7772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Group 16</a:t>
            </a:r>
            <a:endParaRPr lang="en-US" sz="1800" dirty="0"/>
          </a:p>
          <a:p>
            <a:pPr marL="0" indent="0">
              <a:buNone/>
            </a:pPr>
            <a:r>
              <a:rPr lang="en-US" sz="1800" dirty="0">
                <a:solidFill>
                  <a:schemeClr val="accent4">
                    <a:lumMod val="20000"/>
                    <a:lumOff val="80000"/>
                  </a:schemeClr>
                </a:solidFill>
              </a:rPr>
              <a:t>Harsh Yadav- 2611MC04</a:t>
            </a:r>
          </a:p>
          <a:p>
            <a:r>
              <a:rPr lang="en-US" dirty="0">
                <a:solidFill>
                  <a:schemeClr val="accent4">
                    <a:lumMod val="20000"/>
                    <a:lumOff val="80000"/>
                  </a:schemeClr>
                </a:solidFill>
              </a:rPr>
              <a:t>Ratnesh Pandey- 2611MC19</a:t>
            </a:r>
          </a:p>
          <a:p>
            <a:r>
              <a:rPr lang="en-US" dirty="0">
                <a:solidFill>
                  <a:schemeClr val="accent4">
                    <a:lumMod val="20000"/>
                    <a:lumOff val="80000"/>
                  </a:schemeClr>
                </a:solidFill>
              </a:rPr>
              <a:t>Saurav Kumar- 2611MC08</a:t>
            </a:r>
            <a:endParaRPr lang="en-US" sz="1800" dirty="0">
              <a:solidFill>
                <a:schemeClr val="accent4">
                  <a:lumMod val="20000"/>
                  <a:lumOff val="80000"/>
                </a:schemeClr>
              </a:solidFill>
            </a:endParaRPr>
          </a:p>
          <a:p>
            <a:r>
              <a:rPr lang="en-US" dirty="0">
                <a:solidFill>
                  <a:schemeClr val="accent4">
                    <a:lumMod val="20000"/>
                    <a:lumOff val="80000"/>
                  </a:schemeClr>
                </a:solidFill>
              </a:rPr>
              <a:t>Antra Sinha- 2621MA06</a:t>
            </a:r>
            <a:endParaRPr lang="en-US" sz="1800" dirty="0">
              <a:solidFill>
                <a:schemeClr val="accent4">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0B2545"/>
          </a:solidFill>
          <a:ln w="12700">
            <a:solidFill>
              <a:srgbClr val="0B2545"/>
            </a:solidFill>
            <a:prstDash val="solid"/>
          </a:ln>
        </p:spPr>
      </p:sp>
      <p:sp>
        <p:nvSpPr>
          <p:cNvPr id="3" name="Shape 1"/>
          <p:cNvSpPr/>
          <p:nvPr/>
        </p:nvSpPr>
        <p:spPr>
          <a:xfrm>
            <a:off x="640080" y="914400"/>
            <a:ext cx="822960" cy="822960"/>
          </a:xfrm>
          <a:prstGeom prst="ellipse">
            <a:avLst/>
          </a:prstGeom>
          <a:solidFill>
            <a:srgbClr val="1B9AAA"/>
          </a:solidFill>
          <a:ln w="12700">
            <a:solidFill>
              <a:srgbClr val="1B9AAA"/>
            </a:solidFill>
            <a:prstDash val="solid"/>
          </a:ln>
        </p:spPr>
      </p:sp>
      <p:pic>
        <p:nvPicPr>
          <p:cNvPr id="4" name="Image 0" descr="preencoded.png"/>
          <p:cNvPicPr>
            <a:picLocks noChangeAspect="1"/>
          </p:cNvPicPr>
          <p:nvPr/>
        </p:nvPicPr>
        <p:blipFill>
          <a:blip r:embed="rId3"/>
          <a:stretch>
            <a:fillRect/>
          </a:stretch>
        </p:blipFill>
        <p:spPr>
          <a:xfrm>
            <a:off x="854050" y="1128370"/>
            <a:ext cx="395021" cy="395021"/>
          </a:xfrm>
          <a:prstGeom prst="rect">
            <a:avLst/>
          </a:prstGeom>
        </p:spPr>
      </p:pic>
      <p:sp>
        <p:nvSpPr>
          <p:cNvPr id="5" name="Text 2"/>
          <p:cNvSpPr txBox="1"/>
          <p:nvPr/>
        </p:nvSpPr>
        <p:spPr>
          <a:xfrm>
            <a:off x="640080" y="2011680"/>
            <a:ext cx="292608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Outline</a:t>
            </a:r>
            <a:endParaRPr lang="en-US" sz="4000" dirty="0"/>
          </a:p>
        </p:txBody>
      </p:sp>
      <p:sp>
        <p:nvSpPr>
          <p:cNvPr id="6" name="Text 3"/>
          <p:cNvSpPr txBox="1"/>
          <p:nvPr/>
        </p:nvSpPr>
        <p:spPr>
          <a:xfrm>
            <a:off x="640080" y="2880360"/>
            <a:ext cx="2926080" cy="109728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From a drone flight to a decision-ready flood impact map</a:t>
            </a:r>
            <a:endParaRPr lang="en-US" sz="1600" dirty="0"/>
          </a:p>
        </p:txBody>
      </p:sp>
      <p:sp>
        <p:nvSpPr>
          <p:cNvPr id="7" name="Text 4"/>
          <p:cNvSpPr txBox="1"/>
          <p:nvPr/>
        </p:nvSpPr>
        <p:spPr>
          <a:xfrm>
            <a:off x="4526280" y="1143000"/>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01</a:t>
            </a:r>
            <a:endParaRPr lang="en-US" sz="2600" dirty="0"/>
          </a:p>
        </p:txBody>
      </p:sp>
      <p:sp>
        <p:nvSpPr>
          <p:cNvPr id="8" name="Text 5"/>
          <p:cNvSpPr txBox="1"/>
          <p:nvPr/>
        </p:nvSpPr>
        <p:spPr>
          <a:xfrm>
            <a:off x="5257800" y="1143000"/>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Motivation: why flood mapping matters</a:t>
            </a:r>
            <a:endParaRPr lang="en-US" sz="1600" dirty="0"/>
          </a:p>
        </p:txBody>
      </p:sp>
      <p:sp>
        <p:nvSpPr>
          <p:cNvPr id="9" name="Text 6"/>
          <p:cNvSpPr txBox="1"/>
          <p:nvPr/>
        </p:nvSpPr>
        <p:spPr>
          <a:xfrm>
            <a:off x="4526280" y="2167128"/>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02</a:t>
            </a:r>
            <a:endParaRPr lang="en-US" sz="2600" dirty="0"/>
          </a:p>
        </p:txBody>
      </p:sp>
      <p:sp>
        <p:nvSpPr>
          <p:cNvPr id="10" name="Text 7"/>
          <p:cNvSpPr txBox="1"/>
          <p:nvPr/>
        </p:nvSpPr>
        <p:spPr>
          <a:xfrm>
            <a:off x="5257800" y="2167128"/>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Existing methods and their gaps</a:t>
            </a:r>
            <a:endParaRPr lang="en-US" sz="1600" dirty="0"/>
          </a:p>
        </p:txBody>
      </p:sp>
      <p:sp>
        <p:nvSpPr>
          <p:cNvPr id="11" name="Text 8"/>
          <p:cNvSpPr txBox="1"/>
          <p:nvPr/>
        </p:nvSpPr>
        <p:spPr>
          <a:xfrm>
            <a:off x="4526280" y="3191256"/>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03</a:t>
            </a:r>
            <a:endParaRPr lang="en-US" sz="2600" dirty="0"/>
          </a:p>
        </p:txBody>
      </p:sp>
      <p:sp>
        <p:nvSpPr>
          <p:cNvPr id="12" name="Text 9"/>
          <p:cNvSpPr txBox="1"/>
          <p:nvPr/>
        </p:nvSpPr>
        <p:spPr>
          <a:xfrm>
            <a:off x="5257800" y="3191256"/>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Problem statement and objectives</a:t>
            </a:r>
            <a:endParaRPr lang="en-US" sz="1600" dirty="0"/>
          </a:p>
        </p:txBody>
      </p:sp>
      <p:sp>
        <p:nvSpPr>
          <p:cNvPr id="13" name="Text 10"/>
          <p:cNvSpPr txBox="1"/>
          <p:nvPr/>
        </p:nvSpPr>
        <p:spPr>
          <a:xfrm>
            <a:off x="4526280" y="4215384"/>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04</a:t>
            </a:r>
            <a:endParaRPr lang="en-US" sz="2600" dirty="0"/>
          </a:p>
        </p:txBody>
      </p:sp>
      <p:sp>
        <p:nvSpPr>
          <p:cNvPr id="14" name="Text 11"/>
          <p:cNvSpPr txBox="1"/>
          <p:nvPr/>
        </p:nvSpPr>
        <p:spPr>
          <a:xfrm>
            <a:off x="5257800" y="4215384"/>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System architecture</a:t>
            </a:r>
            <a:endParaRPr lang="en-US" sz="1600" dirty="0"/>
          </a:p>
        </p:txBody>
      </p:sp>
      <p:sp>
        <p:nvSpPr>
          <p:cNvPr id="15" name="Text 12"/>
          <p:cNvSpPr txBox="1"/>
          <p:nvPr/>
        </p:nvSpPr>
        <p:spPr>
          <a:xfrm>
            <a:off x="4526280" y="5239512"/>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05</a:t>
            </a:r>
            <a:endParaRPr lang="en-US" sz="2600" dirty="0"/>
          </a:p>
        </p:txBody>
      </p:sp>
      <p:sp>
        <p:nvSpPr>
          <p:cNvPr id="16" name="Text 13"/>
          <p:cNvSpPr txBox="1"/>
          <p:nvPr/>
        </p:nvSpPr>
        <p:spPr>
          <a:xfrm>
            <a:off x="5257800" y="5239512"/>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Data acquisition and flight planning</a:t>
            </a:r>
            <a:endParaRPr lang="en-US" sz="1600" dirty="0"/>
          </a:p>
        </p:txBody>
      </p:sp>
      <p:sp>
        <p:nvSpPr>
          <p:cNvPr id="17" name="Text 14"/>
          <p:cNvSpPr txBox="1"/>
          <p:nvPr/>
        </p:nvSpPr>
        <p:spPr>
          <a:xfrm>
            <a:off x="8275320" y="1143000"/>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06</a:t>
            </a:r>
            <a:endParaRPr lang="en-US" sz="2600" dirty="0"/>
          </a:p>
        </p:txBody>
      </p:sp>
      <p:sp>
        <p:nvSpPr>
          <p:cNvPr id="18" name="Text 15"/>
          <p:cNvSpPr txBox="1"/>
          <p:nvPr/>
        </p:nvSpPr>
        <p:spPr>
          <a:xfrm>
            <a:off x="9006840" y="1143000"/>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Image preprocessing</a:t>
            </a:r>
            <a:endParaRPr lang="en-US" sz="1600" dirty="0"/>
          </a:p>
        </p:txBody>
      </p:sp>
      <p:sp>
        <p:nvSpPr>
          <p:cNvPr id="19" name="Text 16"/>
          <p:cNvSpPr txBox="1"/>
          <p:nvPr/>
        </p:nvSpPr>
        <p:spPr>
          <a:xfrm>
            <a:off x="8275320" y="2167128"/>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07</a:t>
            </a:r>
            <a:endParaRPr lang="en-US" sz="2600" dirty="0"/>
          </a:p>
        </p:txBody>
      </p:sp>
      <p:sp>
        <p:nvSpPr>
          <p:cNvPr id="20" name="Text 17"/>
          <p:cNvSpPr txBox="1"/>
          <p:nvPr/>
        </p:nvSpPr>
        <p:spPr>
          <a:xfrm>
            <a:off x="9006840" y="2167128"/>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Water detection and deep learning</a:t>
            </a:r>
            <a:endParaRPr lang="en-US" sz="1600" dirty="0"/>
          </a:p>
        </p:txBody>
      </p:sp>
      <p:sp>
        <p:nvSpPr>
          <p:cNvPr id="21" name="Text 18"/>
          <p:cNvSpPr txBox="1"/>
          <p:nvPr/>
        </p:nvSpPr>
        <p:spPr>
          <a:xfrm>
            <a:off x="8275320" y="3191256"/>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08</a:t>
            </a:r>
            <a:endParaRPr lang="en-US" sz="2600" dirty="0"/>
          </a:p>
        </p:txBody>
      </p:sp>
      <p:sp>
        <p:nvSpPr>
          <p:cNvPr id="22" name="Text 19"/>
          <p:cNvSpPr txBox="1"/>
          <p:nvPr/>
        </p:nvSpPr>
        <p:spPr>
          <a:xfrm>
            <a:off x="9006840" y="3191256"/>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Flood mask and GIS area analysis</a:t>
            </a:r>
            <a:endParaRPr lang="en-US" sz="1600" dirty="0"/>
          </a:p>
        </p:txBody>
      </p:sp>
      <p:sp>
        <p:nvSpPr>
          <p:cNvPr id="23" name="Text 20"/>
          <p:cNvSpPr txBox="1"/>
          <p:nvPr/>
        </p:nvSpPr>
        <p:spPr>
          <a:xfrm>
            <a:off x="8275320" y="4215384"/>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09</a:t>
            </a:r>
            <a:endParaRPr lang="en-US" sz="2600" dirty="0"/>
          </a:p>
        </p:txBody>
      </p:sp>
      <p:sp>
        <p:nvSpPr>
          <p:cNvPr id="24" name="Text 21"/>
          <p:cNvSpPr txBox="1"/>
          <p:nvPr/>
        </p:nvSpPr>
        <p:spPr>
          <a:xfrm>
            <a:off x="9006840" y="4215384"/>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Impact assessment and applications</a:t>
            </a:r>
            <a:endParaRPr lang="en-US" sz="1600" dirty="0"/>
          </a:p>
        </p:txBody>
      </p:sp>
      <p:sp>
        <p:nvSpPr>
          <p:cNvPr id="25" name="Text 22"/>
          <p:cNvSpPr txBox="1"/>
          <p:nvPr/>
        </p:nvSpPr>
        <p:spPr>
          <a:xfrm>
            <a:off x="8275320" y="5239512"/>
            <a:ext cx="685800" cy="548640"/>
          </a:xfrm>
          <a:prstGeom prst="rect">
            <a:avLst/>
          </a:prstGeom>
          <a:noFill/>
          <a:ln/>
        </p:spPr>
        <p:txBody>
          <a:bodyPr wrap="square" lIns="0" tIns="0" rIns="0" bIns="0" rtlCol="0" anchor="ctr"/>
          <a:lstStyle/>
          <a:p>
            <a:pPr marL="0" indent="0">
              <a:buNone/>
            </a:pPr>
            <a:r>
              <a:rPr lang="en-US" sz="2600" b="1" dirty="0">
                <a:solidFill>
                  <a:srgbClr val="1B9AAA"/>
                </a:solidFill>
                <a:latin typeface="Cambria" pitchFamily="34" charset="0"/>
                <a:ea typeface="Cambria" pitchFamily="34" charset="-122"/>
                <a:cs typeface="Cambria" pitchFamily="34" charset="-120"/>
              </a:rPr>
              <a:t>10</a:t>
            </a:r>
            <a:endParaRPr lang="en-US" sz="2600" dirty="0"/>
          </a:p>
        </p:txBody>
      </p:sp>
      <p:sp>
        <p:nvSpPr>
          <p:cNvPr id="26" name="Text 23"/>
          <p:cNvSpPr txBox="1"/>
          <p:nvPr/>
        </p:nvSpPr>
        <p:spPr>
          <a:xfrm>
            <a:off x="9006840" y="5239512"/>
            <a:ext cx="2834640" cy="548640"/>
          </a:xfrm>
          <a:prstGeom prst="rect">
            <a:avLst/>
          </a:prstGeom>
          <a:noFill/>
          <a:ln/>
        </p:spPr>
        <p:txBody>
          <a:bodyPr wrap="square" lIns="0" tIns="0" rIns="0" bIns="0" rtlCol="0" anchor="ctr"/>
          <a:lstStyle/>
          <a:p>
            <a:pPr marL="0" indent="0">
              <a:buNone/>
            </a:pPr>
            <a:r>
              <a:rPr lang="en-US" sz="1600" dirty="0">
                <a:solidFill>
                  <a:srgbClr val="1F2D3D"/>
                </a:solidFill>
                <a:latin typeface="Calibri" pitchFamily="34" charset="0"/>
                <a:ea typeface="Calibri" pitchFamily="34" charset="-122"/>
                <a:cs typeface="Calibri" pitchFamily="34" charset="-120"/>
              </a:rPr>
              <a:t>Challenges, future scope and conclusion</a:t>
            </a:r>
            <a:endParaRPr lang="en-US" sz="1600" dirty="0"/>
          </a:p>
        </p:txBody>
      </p:sp>
      <p:sp>
        <p:nvSpPr>
          <p:cNvPr id="27" name="Text 24"/>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01 · MOTIVATION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Floods are the most frequent disaster, and time is critical</a:t>
            </a:r>
            <a:endParaRPr lang="en-US" sz="3000" dirty="0"/>
          </a:p>
        </p:txBody>
      </p:sp>
      <p:sp>
        <p:nvSpPr>
          <p:cNvPr id="4" name="Shape 2"/>
          <p:cNvSpPr/>
          <p:nvPr/>
        </p:nvSpPr>
        <p:spPr>
          <a:xfrm>
            <a:off x="548640" y="1554480"/>
            <a:ext cx="2587752" cy="2651760"/>
          </a:xfrm>
          <a:prstGeom prst="roundRect">
            <a:avLst>
              <a:gd name="adj" fmla="val 4240"/>
            </a:avLst>
          </a:prstGeom>
          <a:solidFill>
            <a:srgbClr val="EEF4F7"/>
          </a:solidFill>
          <a:ln w="12700">
            <a:solidFill>
              <a:srgbClr val="EEF4F7"/>
            </a:solidFill>
            <a:prstDash val="solid"/>
          </a:ln>
        </p:spPr>
      </p:sp>
      <p:sp>
        <p:nvSpPr>
          <p:cNvPr id="5" name="Shape 3"/>
          <p:cNvSpPr/>
          <p:nvPr/>
        </p:nvSpPr>
        <p:spPr>
          <a:xfrm>
            <a:off x="822960" y="1783080"/>
            <a:ext cx="548640" cy="548640"/>
          </a:xfrm>
          <a:prstGeom prst="ellipse">
            <a:avLst/>
          </a:prstGeom>
          <a:solidFill>
            <a:srgbClr val="1B9AAA"/>
          </a:solidFill>
          <a:ln w="12700">
            <a:solidFill>
              <a:srgbClr val="1B9AAA"/>
            </a:solidFill>
            <a:prstDash val="solid"/>
          </a:ln>
        </p:spPr>
      </p:sp>
      <p:pic>
        <p:nvPicPr>
          <p:cNvPr id="6" name="Image 0" descr="preencoded.png"/>
          <p:cNvPicPr>
            <a:picLocks noChangeAspect="1"/>
          </p:cNvPicPr>
          <p:nvPr/>
        </p:nvPicPr>
        <p:blipFill>
          <a:blip r:embed="rId3"/>
          <a:stretch>
            <a:fillRect/>
          </a:stretch>
        </p:blipFill>
        <p:spPr>
          <a:xfrm>
            <a:off x="965606" y="1925726"/>
            <a:ext cx="263347" cy="263347"/>
          </a:xfrm>
          <a:prstGeom prst="rect">
            <a:avLst/>
          </a:prstGeom>
        </p:spPr>
      </p:pic>
      <p:sp>
        <p:nvSpPr>
          <p:cNvPr id="7" name="Text 4"/>
          <p:cNvSpPr txBox="1"/>
          <p:nvPr/>
        </p:nvSpPr>
        <p:spPr>
          <a:xfrm>
            <a:off x="822960" y="2468880"/>
            <a:ext cx="2103120" cy="822960"/>
          </a:xfrm>
          <a:prstGeom prst="rect">
            <a:avLst/>
          </a:prstGeom>
          <a:noFill/>
          <a:ln/>
        </p:spPr>
        <p:txBody>
          <a:bodyPr wrap="square" lIns="0" tIns="0" rIns="0" bIns="0" rtlCol="0" anchor="ctr"/>
          <a:lstStyle/>
          <a:p>
            <a:pPr marL="0" indent="0">
              <a:buNone/>
            </a:pPr>
            <a:r>
              <a:rPr lang="en-US" sz="4400" b="1" dirty="0">
                <a:solidFill>
                  <a:srgbClr val="0B2545"/>
                </a:solidFill>
                <a:latin typeface="Cambria" pitchFamily="34" charset="0"/>
                <a:ea typeface="Cambria" pitchFamily="34" charset="-122"/>
                <a:cs typeface="Cambria" pitchFamily="34" charset="-120"/>
              </a:rPr>
              <a:t>3,254</a:t>
            </a:r>
            <a:endParaRPr lang="en-US" sz="4400" dirty="0"/>
          </a:p>
        </p:txBody>
      </p:sp>
      <p:sp>
        <p:nvSpPr>
          <p:cNvPr id="8" name="Text 5"/>
          <p:cNvSpPr txBox="1"/>
          <p:nvPr/>
        </p:nvSpPr>
        <p:spPr>
          <a:xfrm>
            <a:off x="822960" y="3291840"/>
            <a:ext cx="2103120" cy="777240"/>
          </a:xfrm>
          <a:prstGeom prst="rect">
            <a:avLst/>
          </a:prstGeom>
          <a:noFill/>
          <a:ln/>
        </p:spPr>
        <p:txBody>
          <a:bodyPr wrap="square" lIns="0" tIns="0" rIns="0" bIns="0" rtlCol="0" anchor="t"/>
          <a:lstStyle/>
          <a:p>
            <a:pPr marL="0" indent="0">
              <a:buNone/>
            </a:pPr>
            <a:r>
              <a:rPr lang="en-US" sz="1350" dirty="0">
                <a:solidFill>
                  <a:srgbClr val="1F2D3D"/>
                </a:solidFill>
                <a:latin typeface="Calibri" pitchFamily="34" charset="0"/>
                <a:ea typeface="Calibri" pitchFamily="34" charset="-122"/>
                <a:cs typeface="Calibri" pitchFamily="34" charset="-120"/>
              </a:rPr>
              <a:t>major floods recorded worldwide between 2000 and 2019</a:t>
            </a:r>
            <a:endParaRPr lang="en-US" sz="1350" dirty="0"/>
          </a:p>
        </p:txBody>
      </p:sp>
      <p:sp>
        <p:nvSpPr>
          <p:cNvPr id="9" name="Shape 6"/>
          <p:cNvSpPr/>
          <p:nvPr/>
        </p:nvSpPr>
        <p:spPr>
          <a:xfrm>
            <a:off x="3364992" y="1554480"/>
            <a:ext cx="2587752" cy="2651760"/>
          </a:xfrm>
          <a:prstGeom prst="roundRect">
            <a:avLst>
              <a:gd name="adj" fmla="val 4240"/>
            </a:avLst>
          </a:prstGeom>
          <a:solidFill>
            <a:srgbClr val="EEF4F7"/>
          </a:solidFill>
          <a:ln w="12700">
            <a:solidFill>
              <a:srgbClr val="EEF4F7"/>
            </a:solidFill>
            <a:prstDash val="solid"/>
          </a:ln>
        </p:spPr>
      </p:sp>
      <p:sp>
        <p:nvSpPr>
          <p:cNvPr id="10" name="Shape 7"/>
          <p:cNvSpPr/>
          <p:nvPr/>
        </p:nvSpPr>
        <p:spPr>
          <a:xfrm>
            <a:off x="3639312" y="1783080"/>
            <a:ext cx="548640" cy="548640"/>
          </a:xfrm>
          <a:prstGeom prst="ellipse">
            <a:avLst/>
          </a:prstGeom>
          <a:solidFill>
            <a:srgbClr val="1B9AAA"/>
          </a:solidFill>
          <a:ln w="12700">
            <a:solidFill>
              <a:srgbClr val="1B9AAA"/>
            </a:solidFill>
            <a:prstDash val="solid"/>
          </a:ln>
        </p:spPr>
      </p:sp>
      <p:pic>
        <p:nvPicPr>
          <p:cNvPr id="11" name="Image 1" descr="preencoded.png"/>
          <p:cNvPicPr>
            <a:picLocks noChangeAspect="1"/>
          </p:cNvPicPr>
          <p:nvPr/>
        </p:nvPicPr>
        <p:blipFill>
          <a:blip r:embed="rId4"/>
          <a:stretch>
            <a:fillRect/>
          </a:stretch>
        </p:blipFill>
        <p:spPr>
          <a:xfrm>
            <a:off x="3781958" y="1925726"/>
            <a:ext cx="263347" cy="263347"/>
          </a:xfrm>
          <a:prstGeom prst="rect">
            <a:avLst/>
          </a:prstGeom>
        </p:spPr>
      </p:pic>
      <p:sp>
        <p:nvSpPr>
          <p:cNvPr id="12" name="Text 8"/>
          <p:cNvSpPr txBox="1"/>
          <p:nvPr/>
        </p:nvSpPr>
        <p:spPr>
          <a:xfrm>
            <a:off x="3639312" y="2468880"/>
            <a:ext cx="2103120" cy="822960"/>
          </a:xfrm>
          <a:prstGeom prst="rect">
            <a:avLst/>
          </a:prstGeom>
          <a:noFill/>
          <a:ln/>
        </p:spPr>
        <p:txBody>
          <a:bodyPr wrap="square" lIns="0" tIns="0" rIns="0" bIns="0" rtlCol="0" anchor="ctr"/>
          <a:lstStyle/>
          <a:p>
            <a:pPr marL="0" indent="0">
              <a:buNone/>
            </a:pPr>
            <a:r>
              <a:rPr lang="en-US" sz="4400" b="1" dirty="0">
                <a:solidFill>
                  <a:srgbClr val="0B2545"/>
                </a:solidFill>
                <a:latin typeface="Cambria" pitchFamily="34" charset="0"/>
                <a:ea typeface="Cambria" pitchFamily="34" charset="-122"/>
                <a:cs typeface="Cambria" pitchFamily="34" charset="-120"/>
              </a:rPr>
              <a:t>44%</a:t>
            </a:r>
            <a:endParaRPr lang="en-US" sz="4400" dirty="0"/>
          </a:p>
        </p:txBody>
      </p:sp>
      <p:sp>
        <p:nvSpPr>
          <p:cNvPr id="13" name="Text 9"/>
          <p:cNvSpPr txBox="1"/>
          <p:nvPr/>
        </p:nvSpPr>
        <p:spPr>
          <a:xfrm>
            <a:off x="3639312" y="3291840"/>
            <a:ext cx="2103120" cy="777240"/>
          </a:xfrm>
          <a:prstGeom prst="rect">
            <a:avLst/>
          </a:prstGeom>
          <a:noFill/>
          <a:ln/>
        </p:spPr>
        <p:txBody>
          <a:bodyPr wrap="square" lIns="0" tIns="0" rIns="0" bIns="0" rtlCol="0" anchor="t"/>
          <a:lstStyle/>
          <a:p>
            <a:pPr marL="0" indent="0">
              <a:buNone/>
            </a:pPr>
            <a:r>
              <a:rPr lang="en-US" sz="1350" dirty="0">
                <a:solidFill>
                  <a:srgbClr val="1F2D3D"/>
                </a:solidFill>
                <a:latin typeface="Calibri" pitchFamily="34" charset="0"/>
                <a:ea typeface="Calibri" pitchFamily="34" charset="-122"/>
                <a:cs typeface="Calibri" pitchFamily="34" charset="-120"/>
              </a:rPr>
              <a:t>of all recorded disaster events in 2000–2019 were floods</a:t>
            </a:r>
            <a:endParaRPr lang="en-US" sz="1350" dirty="0"/>
          </a:p>
        </p:txBody>
      </p:sp>
      <p:sp>
        <p:nvSpPr>
          <p:cNvPr id="14" name="Shape 10"/>
          <p:cNvSpPr/>
          <p:nvPr/>
        </p:nvSpPr>
        <p:spPr>
          <a:xfrm>
            <a:off x="6181344" y="1554480"/>
            <a:ext cx="2587752" cy="2651760"/>
          </a:xfrm>
          <a:prstGeom prst="roundRect">
            <a:avLst>
              <a:gd name="adj" fmla="val 4240"/>
            </a:avLst>
          </a:prstGeom>
          <a:solidFill>
            <a:srgbClr val="EEF4F7"/>
          </a:solidFill>
          <a:ln w="12700">
            <a:solidFill>
              <a:srgbClr val="EEF4F7"/>
            </a:solidFill>
            <a:prstDash val="solid"/>
          </a:ln>
        </p:spPr>
      </p:sp>
      <p:sp>
        <p:nvSpPr>
          <p:cNvPr id="15" name="Shape 11"/>
          <p:cNvSpPr/>
          <p:nvPr/>
        </p:nvSpPr>
        <p:spPr>
          <a:xfrm>
            <a:off x="6455664" y="1783080"/>
            <a:ext cx="548640" cy="548640"/>
          </a:xfrm>
          <a:prstGeom prst="ellipse">
            <a:avLst/>
          </a:prstGeom>
          <a:solidFill>
            <a:srgbClr val="1B9AAA"/>
          </a:solidFill>
          <a:ln w="12700">
            <a:solidFill>
              <a:srgbClr val="1B9AAA"/>
            </a:solidFill>
            <a:prstDash val="solid"/>
          </a:ln>
        </p:spPr>
      </p:sp>
      <p:pic>
        <p:nvPicPr>
          <p:cNvPr id="16" name="Image 2" descr="preencoded.png"/>
          <p:cNvPicPr>
            <a:picLocks noChangeAspect="1"/>
          </p:cNvPicPr>
          <p:nvPr/>
        </p:nvPicPr>
        <p:blipFill>
          <a:blip r:embed="rId5"/>
          <a:stretch>
            <a:fillRect/>
          </a:stretch>
        </p:blipFill>
        <p:spPr>
          <a:xfrm>
            <a:off x="6598310" y="1925726"/>
            <a:ext cx="263347" cy="263347"/>
          </a:xfrm>
          <a:prstGeom prst="rect">
            <a:avLst/>
          </a:prstGeom>
        </p:spPr>
      </p:pic>
      <p:sp>
        <p:nvSpPr>
          <p:cNvPr id="17" name="Text 12"/>
          <p:cNvSpPr txBox="1"/>
          <p:nvPr/>
        </p:nvSpPr>
        <p:spPr>
          <a:xfrm>
            <a:off x="6455664" y="2468880"/>
            <a:ext cx="2103120" cy="822960"/>
          </a:xfrm>
          <a:prstGeom prst="rect">
            <a:avLst/>
          </a:prstGeom>
          <a:noFill/>
          <a:ln/>
        </p:spPr>
        <p:txBody>
          <a:bodyPr wrap="square" lIns="0" tIns="0" rIns="0" bIns="0" rtlCol="0" anchor="ctr"/>
          <a:lstStyle/>
          <a:p>
            <a:pPr marL="0" indent="0">
              <a:buNone/>
            </a:pPr>
            <a:r>
              <a:rPr lang="en-US" sz="4400" b="1" dirty="0">
                <a:solidFill>
                  <a:srgbClr val="0B2545"/>
                </a:solidFill>
                <a:latin typeface="Cambria" pitchFamily="34" charset="0"/>
                <a:ea typeface="Cambria" pitchFamily="34" charset="-122"/>
                <a:cs typeface="Cambria" pitchFamily="34" charset="-120"/>
              </a:rPr>
              <a:t>1.6 bn+</a:t>
            </a:r>
            <a:endParaRPr lang="en-US" sz="4400" dirty="0"/>
          </a:p>
        </p:txBody>
      </p:sp>
      <p:sp>
        <p:nvSpPr>
          <p:cNvPr id="18" name="Text 13"/>
          <p:cNvSpPr txBox="1"/>
          <p:nvPr/>
        </p:nvSpPr>
        <p:spPr>
          <a:xfrm>
            <a:off x="6455664" y="3291840"/>
            <a:ext cx="2103120" cy="777240"/>
          </a:xfrm>
          <a:prstGeom prst="rect">
            <a:avLst/>
          </a:prstGeom>
          <a:noFill/>
          <a:ln/>
        </p:spPr>
        <p:txBody>
          <a:bodyPr wrap="square" lIns="0" tIns="0" rIns="0" bIns="0" rtlCol="0" anchor="t"/>
          <a:lstStyle/>
          <a:p>
            <a:pPr marL="0" indent="0">
              <a:buNone/>
            </a:pPr>
            <a:r>
              <a:rPr lang="en-US" sz="1350" dirty="0">
                <a:solidFill>
                  <a:srgbClr val="1F2D3D"/>
                </a:solidFill>
                <a:latin typeface="Calibri" pitchFamily="34" charset="0"/>
                <a:ea typeface="Calibri" pitchFamily="34" charset="-122"/>
                <a:cs typeface="Calibri" pitchFamily="34" charset="-120"/>
              </a:rPr>
              <a:t>people affected by floods over the same twenty years</a:t>
            </a:r>
            <a:endParaRPr lang="en-US" sz="1350" dirty="0"/>
          </a:p>
        </p:txBody>
      </p:sp>
      <p:sp>
        <p:nvSpPr>
          <p:cNvPr id="19" name="Shape 14"/>
          <p:cNvSpPr/>
          <p:nvPr/>
        </p:nvSpPr>
        <p:spPr>
          <a:xfrm>
            <a:off x="8997696" y="1554480"/>
            <a:ext cx="2587752" cy="2651760"/>
          </a:xfrm>
          <a:prstGeom prst="roundRect">
            <a:avLst>
              <a:gd name="adj" fmla="val 4240"/>
            </a:avLst>
          </a:prstGeom>
          <a:solidFill>
            <a:srgbClr val="EEF4F7"/>
          </a:solidFill>
          <a:ln w="12700">
            <a:solidFill>
              <a:srgbClr val="EEF4F7"/>
            </a:solidFill>
            <a:prstDash val="solid"/>
          </a:ln>
        </p:spPr>
      </p:sp>
      <p:sp>
        <p:nvSpPr>
          <p:cNvPr id="20" name="Shape 15"/>
          <p:cNvSpPr/>
          <p:nvPr/>
        </p:nvSpPr>
        <p:spPr>
          <a:xfrm>
            <a:off x="9272016" y="1783080"/>
            <a:ext cx="548640" cy="548640"/>
          </a:xfrm>
          <a:prstGeom prst="ellipse">
            <a:avLst/>
          </a:prstGeom>
          <a:solidFill>
            <a:srgbClr val="E09F3E"/>
          </a:solidFill>
          <a:ln w="12700">
            <a:solidFill>
              <a:srgbClr val="E09F3E"/>
            </a:solidFill>
            <a:prstDash val="solid"/>
          </a:ln>
        </p:spPr>
      </p:sp>
      <p:pic>
        <p:nvPicPr>
          <p:cNvPr id="21" name="Image 3" descr="preencoded.png"/>
          <p:cNvPicPr>
            <a:picLocks noChangeAspect="1"/>
          </p:cNvPicPr>
          <p:nvPr/>
        </p:nvPicPr>
        <p:blipFill>
          <a:blip r:embed="rId6"/>
          <a:stretch>
            <a:fillRect/>
          </a:stretch>
        </p:blipFill>
        <p:spPr>
          <a:xfrm>
            <a:off x="9414662" y="1925726"/>
            <a:ext cx="263347" cy="263347"/>
          </a:xfrm>
          <a:prstGeom prst="rect">
            <a:avLst/>
          </a:prstGeom>
        </p:spPr>
      </p:pic>
      <p:sp>
        <p:nvSpPr>
          <p:cNvPr id="22" name="Text 16"/>
          <p:cNvSpPr txBox="1"/>
          <p:nvPr/>
        </p:nvSpPr>
        <p:spPr>
          <a:xfrm>
            <a:off x="9272016" y="2468880"/>
            <a:ext cx="2103120" cy="822960"/>
          </a:xfrm>
          <a:prstGeom prst="rect">
            <a:avLst/>
          </a:prstGeom>
          <a:noFill/>
          <a:ln/>
        </p:spPr>
        <p:txBody>
          <a:bodyPr wrap="square" lIns="0" tIns="0" rIns="0" bIns="0" rtlCol="0" anchor="ctr"/>
          <a:lstStyle/>
          <a:p>
            <a:pPr marL="0" indent="0">
              <a:buNone/>
            </a:pPr>
            <a:r>
              <a:rPr lang="en-US" sz="4400" b="1" dirty="0">
                <a:solidFill>
                  <a:srgbClr val="0B2545"/>
                </a:solidFill>
                <a:latin typeface="Cambria" pitchFamily="34" charset="0"/>
                <a:ea typeface="Cambria" pitchFamily="34" charset="-122"/>
                <a:cs typeface="Cambria" pitchFamily="34" charset="-120"/>
              </a:rPr>
              <a:t>73%</a:t>
            </a:r>
            <a:endParaRPr lang="en-US" sz="4400" dirty="0"/>
          </a:p>
        </p:txBody>
      </p:sp>
      <p:sp>
        <p:nvSpPr>
          <p:cNvPr id="23" name="Text 17"/>
          <p:cNvSpPr txBox="1"/>
          <p:nvPr/>
        </p:nvSpPr>
        <p:spPr>
          <a:xfrm>
            <a:off x="9272016" y="3291840"/>
            <a:ext cx="2103120" cy="777240"/>
          </a:xfrm>
          <a:prstGeom prst="rect">
            <a:avLst/>
          </a:prstGeom>
          <a:noFill/>
          <a:ln/>
        </p:spPr>
        <p:txBody>
          <a:bodyPr wrap="square" lIns="0" tIns="0" rIns="0" bIns="0" rtlCol="0" anchor="t"/>
          <a:lstStyle/>
          <a:p>
            <a:pPr marL="0" indent="0">
              <a:buNone/>
            </a:pPr>
            <a:r>
              <a:rPr lang="en-US" sz="1350" dirty="0">
                <a:solidFill>
                  <a:srgbClr val="1F2D3D"/>
                </a:solidFill>
                <a:latin typeface="Calibri" pitchFamily="34" charset="0"/>
                <a:ea typeface="Calibri" pitchFamily="34" charset="-122"/>
                <a:cs typeface="Calibri" pitchFamily="34" charset="-120"/>
              </a:rPr>
              <a:t>of Bihar’s geographical area (68,800 of 94,160 km²) is flood-affected</a:t>
            </a:r>
            <a:endParaRPr lang="en-US" sz="1350" dirty="0"/>
          </a:p>
        </p:txBody>
      </p:sp>
      <p:sp>
        <p:nvSpPr>
          <p:cNvPr id="24" name="Shape 18"/>
          <p:cNvSpPr/>
          <p:nvPr/>
        </p:nvSpPr>
        <p:spPr>
          <a:xfrm>
            <a:off x="548640" y="4526280"/>
            <a:ext cx="11091672" cy="1463040"/>
          </a:xfrm>
          <a:prstGeom prst="roundRect">
            <a:avLst>
              <a:gd name="adj" fmla="val 7500"/>
            </a:avLst>
          </a:prstGeom>
          <a:solidFill>
            <a:srgbClr val="0B2545"/>
          </a:solidFill>
          <a:ln w="12700">
            <a:solidFill>
              <a:srgbClr val="0B2545"/>
            </a:solidFill>
            <a:prstDash val="solid"/>
          </a:ln>
        </p:spPr>
      </p:sp>
      <p:sp>
        <p:nvSpPr>
          <p:cNvPr id="25" name="Shape 19"/>
          <p:cNvSpPr/>
          <p:nvPr/>
        </p:nvSpPr>
        <p:spPr>
          <a:xfrm>
            <a:off x="868680" y="4892040"/>
            <a:ext cx="731520" cy="731520"/>
          </a:xfrm>
          <a:prstGeom prst="ellipse">
            <a:avLst/>
          </a:prstGeom>
          <a:solidFill>
            <a:srgbClr val="E09F3E"/>
          </a:solidFill>
          <a:ln w="12700">
            <a:solidFill>
              <a:srgbClr val="E09F3E"/>
            </a:solidFill>
            <a:prstDash val="solid"/>
          </a:ln>
        </p:spPr>
      </p:sp>
      <p:pic>
        <p:nvPicPr>
          <p:cNvPr id="26" name="Image 4" descr="preencoded.png"/>
          <p:cNvPicPr>
            <a:picLocks noChangeAspect="1"/>
          </p:cNvPicPr>
          <p:nvPr/>
        </p:nvPicPr>
        <p:blipFill>
          <a:blip r:embed="rId7"/>
          <a:stretch>
            <a:fillRect/>
          </a:stretch>
        </p:blipFill>
        <p:spPr>
          <a:xfrm>
            <a:off x="1058875" y="5082235"/>
            <a:ext cx="351130" cy="351130"/>
          </a:xfrm>
          <a:prstGeom prst="rect">
            <a:avLst/>
          </a:prstGeom>
        </p:spPr>
      </p:pic>
      <p:sp>
        <p:nvSpPr>
          <p:cNvPr id="27" name="Text 20"/>
          <p:cNvSpPr txBox="1"/>
          <p:nvPr/>
        </p:nvSpPr>
        <p:spPr>
          <a:xfrm>
            <a:off x="1828800" y="4663440"/>
            <a:ext cx="9509760" cy="1188720"/>
          </a:xfrm>
          <a:prstGeom prst="rect">
            <a:avLst/>
          </a:prstGeom>
          <a:noFill/>
          <a:ln/>
        </p:spPr>
        <p:txBody>
          <a:bodyPr wrap="square" lIns="0" tIns="0" rIns="0" bIns="0" rtlCol="0" anchor="ctr"/>
          <a:lstStyle/>
          <a:p>
            <a:pPr marL="0" indent="0">
              <a:buNone/>
            </a:pPr>
            <a:r>
              <a:rPr lang="en-US" sz="1600" b="1" dirty="0">
                <a:solidFill>
                  <a:srgbClr val="E09F3E"/>
                </a:solidFill>
                <a:latin typeface="Calibri" pitchFamily="34" charset="0"/>
                <a:ea typeface="Calibri" pitchFamily="34" charset="-122"/>
                <a:cs typeface="Calibri" pitchFamily="34" charset="-120"/>
              </a:rPr>
              <a:t>Why rapid mapping?  </a:t>
            </a:r>
            <a:r>
              <a:rPr lang="en-US" sz="1600" dirty="0">
                <a:solidFill>
                  <a:srgbClr val="FFFFFF"/>
                </a:solidFill>
                <a:latin typeface="Calibri" pitchFamily="34" charset="0"/>
                <a:ea typeface="Calibri" pitchFamily="34" charset="-122"/>
                <a:cs typeface="Calibri" pitchFamily="34" charset="-120"/>
              </a:rPr>
              <a:t>In the first hours after a flood, rescue teams must know where the water is, which roads are cut off and which settlements are stranded. Conventional surveys take days; decision-makers need a reliable flood map within hours.</a:t>
            </a:r>
            <a:endParaRPr lang="en-US" sz="1600" dirty="0"/>
          </a:p>
        </p:txBody>
      </p:sp>
      <p:sp>
        <p:nvSpPr>
          <p:cNvPr id="28" name="Text 21"/>
          <p:cNvSpPr txBox="1"/>
          <p:nvPr/>
        </p:nvSpPr>
        <p:spPr>
          <a:xfrm>
            <a:off x="548640" y="6172200"/>
            <a:ext cx="10058400" cy="274320"/>
          </a:xfrm>
          <a:prstGeom prst="rect">
            <a:avLst/>
          </a:prstGeom>
          <a:noFill/>
          <a:ln/>
        </p:spPr>
        <p:txBody>
          <a:bodyPr wrap="square" lIns="0" tIns="0" rIns="0" bIns="0" rtlCol="0" anchor="ctr"/>
          <a:lstStyle/>
          <a:p>
            <a:pPr marL="0" indent="0">
              <a:buNone/>
            </a:pPr>
            <a:r>
              <a:rPr lang="en-US" sz="1000" i="1" dirty="0">
                <a:solidFill>
                  <a:srgbClr val="5B6B7B"/>
                </a:solidFill>
                <a:latin typeface="Calibri" pitchFamily="34" charset="0"/>
                <a:ea typeface="Calibri" pitchFamily="34" charset="-122"/>
                <a:cs typeface="Calibri" pitchFamily="34" charset="-120"/>
              </a:rPr>
              <a:t>Sources: UNDRR &amp; CRED, The Human Cost of Disasters 2000–2019 (2020); FMISC, Water Resources Dept., Govt. of Bihar.</a:t>
            </a:r>
            <a:endParaRPr lang="en-US" sz="1000" dirty="0"/>
          </a:p>
        </p:txBody>
      </p:sp>
      <p:sp>
        <p:nvSpPr>
          <p:cNvPr id="29" name="Text 22"/>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02 · BACKGROUND</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Existing flood mapping methods and their gaps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986784"/>
        </p:xfrm>
        <a:graphic>
          <a:graphicData uri="http://schemas.openxmlformats.org/drawingml/2006/table">
            <a:tbl>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65836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Ground survey</a:t>
                      </a:r>
                      <a:endParaRPr lang="en-US" sz="140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Optical satellite</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(e.g., Sentinel-2)</a:t>
                      </a:r>
                      <a:endParaRPr lang="en-US" sz="140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SAR satellite</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(e.g., Sentinel-1)</a:t>
                      </a:r>
                      <a:endParaRPr lang="en-US" sz="140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Drone (UAV)</a:t>
                      </a:r>
                      <a:endParaRPr lang="en-US" sz="140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9AAA"/>
                    </a:solidFill>
                  </a:tcPr>
                </a:tc>
                <a:extLst>
                  <a:ext uri="{0D108BD9-81ED-4DB2-BD59-A6C34878D82A}">
                    <a16:rowId xmlns:a16="http://schemas.microsoft.com/office/drawing/2014/main" val="10000"/>
                  </a:ext>
                </a:extLst>
              </a:tr>
              <a:tr h="530352">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Spatial resolution</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Point observations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10 m</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~10 m pixel spacing</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1–5 cm GSD</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1"/>
                  </a:ext>
                </a:extLst>
              </a:tr>
              <a:tr h="530352">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Response / revisit</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Days to weeks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~5 days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6–12 days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On demand, within hours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2"/>
                  </a:ext>
                </a:extLst>
              </a:tr>
              <a:tr h="658368">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Clouds &amp; weather</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Unaffected, but unsafe in floodwater</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Blocked by monsoon cloud cover</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Penetrates clouds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Flies below clouds; grounded by heavy rain or wind</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Coverage</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Very small</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Very large (290 km swath)</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Very large (250 km swath)</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Local (a few km² per flight)</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Detail of roads &amp; houses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High, but slow</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Low; speckle and urban errors</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Very high</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5"/>
                  </a:ext>
                </a:extLst>
              </a:tr>
              <a:tr h="475488">
                <a:tc>
                  <a:txBody>
                    <a:bodyPr/>
                    <a:lstStyle/>
                    <a:p>
                      <a:pPr marL="0" indent="0">
                        <a:buNone/>
                      </a:pPr>
                      <a:r>
                        <a:rPr lang="en-US" sz="1250" b="1" dirty="0">
                          <a:solidFill>
                            <a:srgbClr val="1F2D3D"/>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Labour-intensive</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Free data</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Free data</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Low operating cost</a:t>
                      </a:r>
                      <a:endParaRPr lang="en-US" sz="1250" dirty="0">
                        <a:latin typeface="Calibri" charset="0"/>
                        <a:ea typeface="Calibri" charset="0"/>
                        <a:cs typeface="Calibri" charset="0"/>
                      </a:endParaRPr>
                    </a:p>
                  </a:txBody>
                  <a:tcPr marL="73152" marR="73152" marT="73152" marB="7315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DDF0F2"/>
                    </a:solidFill>
                  </a:tcPr>
                </a:tc>
                <a:extLst>
                  <a:ext uri="{0D108BD9-81ED-4DB2-BD59-A6C34878D82A}">
                    <a16:rowId xmlns:a16="http://schemas.microsoft.com/office/drawing/2014/main" val="10006"/>
                  </a:ext>
                </a:extLst>
              </a:tr>
            </a:tbl>
          </a:graphicData>
        </a:graphic>
      </p:graphicFrame>
      <p:sp>
        <p:nvSpPr>
          <p:cNvPr id="4" name="Shape 2"/>
          <p:cNvSpPr/>
          <p:nvPr/>
        </p:nvSpPr>
        <p:spPr>
          <a:xfrm>
            <a:off x="548640" y="5715000"/>
            <a:ext cx="502920" cy="502920"/>
          </a:xfrm>
          <a:prstGeom prst="ellipse">
            <a:avLst/>
          </a:prstGeom>
          <a:solidFill>
            <a:srgbClr val="E09F3E"/>
          </a:solidFill>
          <a:ln w="12700">
            <a:solidFill>
              <a:srgbClr val="E09F3E"/>
            </a:solidFill>
            <a:prstDash val="solid"/>
          </a:ln>
        </p:spPr>
      </p:sp>
      <p:pic>
        <p:nvPicPr>
          <p:cNvPr id="6" name="Image 0" descr="preencoded.png"/>
          <p:cNvPicPr>
            <a:picLocks noChangeAspect="1"/>
          </p:cNvPicPr>
          <p:nvPr/>
        </p:nvPicPr>
        <p:blipFill>
          <a:blip r:embed="rId3"/>
          <a:stretch>
            <a:fillRect/>
          </a:stretch>
        </p:blipFill>
        <p:spPr>
          <a:xfrm>
            <a:off x="679399" y="5845759"/>
            <a:ext cx="241402" cy="241402"/>
          </a:xfrm>
          <a:prstGeom prst="rect">
            <a:avLst/>
          </a:prstGeom>
        </p:spPr>
      </p:pic>
      <p:sp>
        <p:nvSpPr>
          <p:cNvPr id="7" name="Text 3"/>
          <p:cNvSpPr txBox="1"/>
          <p:nvPr/>
        </p:nvSpPr>
        <p:spPr>
          <a:xfrm>
            <a:off x="1188720" y="5715000"/>
            <a:ext cx="10241280" cy="50292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Takeaway: </a:t>
            </a:r>
            <a:r>
              <a:rPr lang="en-US" sz="1600" dirty="0">
                <a:solidFill>
                  <a:srgbClr val="1F2D3D"/>
                </a:solidFill>
                <a:latin typeface="Calibri" pitchFamily="34" charset="0"/>
                <a:ea typeface="Calibri" pitchFamily="34" charset="-122"/>
                <a:cs typeface="Calibri" pitchFamily="34" charset="-120"/>
              </a:rPr>
              <a:t>drones fill the gap between wide-area but coarse satellite monitoring and detailed but slow ground surveys.</a:t>
            </a:r>
            <a:endParaRPr lang="en-US" sz="1600" dirty="0"/>
          </a:p>
        </p:txBody>
      </p:sp>
      <p:sp>
        <p:nvSpPr>
          <p:cNvPr id="8" name="Text 4"/>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03 · PROBLEM &amp; OBJECTIVES</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What this work sets out to achieve</a:t>
            </a:r>
            <a:endParaRPr lang="en-US" sz="3000" dirty="0"/>
          </a:p>
        </p:txBody>
      </p:sp>
      <p:sp>
        <p:nvSpPr>
          <p:cNvPr id="4" name="Shape 2"/>
          <p:cNvSpPr/>
          <p:nvPr/>
        </p:nvSpPr>
        <p:spPr>
          <a:xfrm>
            <a:off x="548640" y="1508760"/>
            <a:ext cx="4206240" cy="4663440"/>
          </a:xfrm>
          <a:prstGeom prst="roundRect">
            <a:avLst>
              <a:gd name="adj" fmla="val 2609"/>
            </a:avLst>
          </a:prstGeom>
          <a:solidFill>
            <a:srgbClr val="0B2545"/>
          </a:solidFill>
          <a:ln w="12700">
            <a:solidFill>
              <a:srgbClr val="0B2545"/>
            </a:solidFill>
            <a:prstDash val="solid"/>
          </a:ln>
        </p:spPr>
      </p:sp>
      <p:sp>
        <p:nvSpPr>
          <p:cNvPr id="5" name="Shape 3"/>
          <p:cNvSpPr/>
          <p:nvPr/>
        </p:nvSpPr>
        <p:spPr>
          <a:xfrm>
            <a:off x="868680" y="1828800"/>
            <a:ext cx="731520" cy="731520"/>
          </a:xfrm>
          <a:prstGeom prst="ellipse">
            <a:avLst/>
          </a:prstGeom>
          <a:solidFill>
            <a:srgbClr val="E09F3E"/>
          </a:solidFill>
          <a:ln w="12700">
            <a:solidFill>
              <a:srgbClr val="E09F3E"/>
            </a:solidFill>
            <a:prstDash val="solid"/>
          </a:ln>
        </p:spPr>
      </p:sp>
      <p:pic>
        <p:nvPicPr>
          <p:cNvPr id="6" name="Image 0" descr="preencoded.png"/>
          <p:cNvPicPr>
            <a:picLocks noChangeAspect="1"/>
          </p:cNvPicPr>
          <p:nvPr/>
        </p:nvPicPr>
        <p:blipFill>
          <a:blip r:embed="rId3"/>
          <a:stretch>
            <a:fillRect/>
          </a:stretch>
        </p:blipFill>
        <p:spPr>
          <a:xfrm>
            <a:off x="1058875" y="2018995"/>
            <a:ext cx="351130" cy="351130"/>
          </a:xfrm>
          <a:prstGeom prst="rect">
            <a:avLst/>
          </a:prstGeom>
        </p:spPr>
      </p:pic>
      <p:sp>
        <p:nvSpPr>
          <p:cNvPr id="7" name="Text 4"/>
          <p:cNvSpPr txBox="1"/>
          <p:nvPr/>
        </p:nvSpPr>
        <p:spPr>
          <a:xfrm>
            <a:off x="868680" y="2743200"/>
            <a:ext cx="35661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Problem statement</a:t>
            </a:r>
            <a:endParaRPr lang="en-US" sz="2200" dirty="0"/>
          </a:p>
        </p:txBody>
      </p:sp>
      <p:sp>
        <p:nvSpPr>
          <p:cNvPr id="8" name="Text 5"/>
          <p:cNvSpPr txBox="1"/>
          <p:nvPr/>
        </p:nvSpPr>
        <p:spPr>
          <a:xfrm>
            <a:off x="868680" y="3246120"/>
            <a:ext cx="3611880" cy="2651760"/>
          </a:xfrm>
          <a:prstGeom prst="rect">
            <a:avLst/>
          </a:prstGeom>
          <a:noFill/>
          <a:ln/>
        </p:spPr>
        <p:txBody>
          <a:bodyPr wrap="square" lIns="0" tIns="0" rIns="0" bIns="0" rtlCol="0" anchor="t"/>
          <a:lstStyle/>
          <a:p>
            <a:pPr marL="0" indent="0">
              <a:spcAft>
                <a:spcPts val="600"/>
              </a:spcAft>
              <a:buNone/>
            </a:pPr>
            <a:r>
              <a:rPr lang="en-US" sz="1600" dirty="0">
                <a:solidFill>
                  <a:srgbClr val="DCE7F5"/>
                </a:solidFill>
                <a:latin typeface="Calibri" pitchFamily="34" charset="0"/>
                <a:ea typeface="Calibri" pitchFamily="34" charset="-122"/>
                <a:cs typeface="Calibri" pitchFamily="34" charset="-120"/>
              </a:rPr>
              <a:t>Develop an automated, end-to-end system that converts post-flood drone imagery into a georeferenced flood-extent map and quantitative impact statistics, fast enough to guide emergency response.</a:t>
            </a:r>
            <a:endParaRPr lang="en-US" sz="1600" dirty="0"/>
          </a:p>
        </p:txBody>
      </p:sp>
      <p:sp>
        <p:nvSpPr>
          <p:cNvPr id="9" name="Shape 6"/>
          <p:cNvSpPr/>
          <p:nvPr/>
        </p:nvSpPr>
        <p:spPr>
          <a:xfrm>
            <a:off x="5120640" y="1627632"/>
            <a:ext cx="640080" cy="640080"/>
          </a:xfrm>
          <a:prstGeom prst="ellipse">
            <a:avLst/>
          </a:prstGeom>
          <a:solidFill>
            <a:srgbClr val="1B9AAA"/>
          </a:solidFill>
          <a:ln w="12700">
            <a:solidFill>
              <a:srgbClr val="1B9AAA"/>
            </a:solidFill>
            <a:prstDash val="solid"/>
          </a:ln>
        </p:spPr>
      </p:sp>
      <p:pic>
        <p:nvPicPr>
          <p:cNvPr id="10" name="Image 1" descr="preencoded.png"/>
          <p:cNvPicPr>
            <a:picLocks noChangeAspect="1"/>
          </p:cNvPicPr>
          <p:nvPr/>
        </p:nvPicPr>
        <p:blipFill>
          <a:blip r:embed="rId4"/>
          <a:stretch>
            <a:fillRect/>
          </a:stretch>
        </p:blipFill>
        <p:spPr>
          <a:xfrm>
            <a:off x="5287061" y="1794053"/>
            <a:ext cx="307238" cy="307238"/>
          </a:xfrm>
          <a:prstGeom prst="rect">
            <a:avLst/>
          </a:prstGeom>
        </p:spPr>
      </p:pic>
      <p:sp>
        <p:nvSpPr>
          <p:cNvPr id="11" name="Text 7"/>
          <p:cNvSpPr txBox="1"/>
          <p:nvPr/>
        </p:nvSpPr>
        <p:spPr>
          <a:xfrm>
            <a:off x="5943600" y="1554480"/>
            <a:ext cx="5669280" cy="347472"/>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Acquire</a:t>
            </a:r>
            <a:endParaRPr lang="en-US" sz="1700" dirty="0"/>
          </a:p>
        </p:txBody>
      </p:sp>
      <p:sp>
        <p:nvSpPr>
          <p:cNvPr id="12" name="Text 8"/>
          <p:cNvSpPr txBox="1"/>
          <p:nvPr/>
        </p:nvSpPr>
        <p:spPr>
          <a:xfrm>
            <a:off x="5943600" y="1901952"/>
            <a:ext cx="5669280" cy="45720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Capture high-resolution, georeferenced aerial imagery of flood-affected areas with UAVs.</a:t>
            </a:r>
            <a:endParaRPr lang="en-US" sz="1400" dirty="0"/>
          </a:p>
        </p:txBody>
      </p:sp>
      <p:sp>
        <p:nvSpPr>
          <p:cNvPr id="13" name="Shape 9"/>
          <p:cNvSpPr/>
          <p:nvPr/>
        </p:nvSpPr>
        <p:spPr>
          <a:xfrm>
            <a:off x="5120640" y="2560320"/>
            <a:ext cx="640080" cy="640080"/>
          </a:xfrm>
          <a:prstGeom prst="ellipse">
            <a:avLst/>
          </a:prstGeom>
          <a:solidFill>
            <a:srgbClr val="1B9AAA"/>
          </a:solidFill>
          <a:ln w="12700">
            <a:solidFill>
              <a:srgbClr val="1B9AAA"/>
            </a:solidFill>
            <a:prstDash val="solid"/>
          </a:ln>
        </p:spPr>
      </p:sp>
      <p:pic>
        <p:nvPicPr>
          <p:cNvPr id="14" name="Image 2" descr="preencoded.png"/>
          <p:cNvPicPr>
            <a:picLocks noChangeAspect="1"/>
          </p:cNvPicPr>
          <p:nvPr/>
        </p:nvPicPr>
        <p:blipFill>
          <a:blip r:embed="rId5"/>
          <a:stretch>
            <a:fillRect/>
          </a:stretch>
        </p:blipFill>
        <p:spPr>
          <a:xfrm>
            <a:off x="5287061" y="2726741"/>
            <a:ext cx="307238" cy="307238"/>
          </a:xfrm>
          <a:prstGeom prst="rect">
            <a:avLst/>
          </a:prstGeom>
        </p:spPr>
      </p:pic>
      <p:sp>
        <p:nvSpPr>
          <p:cNvPr id="15" name="Text 10"/>
          <p:cNvSpPr txBox="1"/>
          <p:nvPr/>
        </p:nvSpPr>
        <p:spPr>
          <a:xfrm>
            <a:off x="5943600" y="2487168"/>
            <a:ext cx="5669280" cy="347472"/>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Detect</a:t>
            </a:r>
            <a:endParaRPr lang="en-US" sz="1700" dirty="0"/>
          </a:p>
        </p:txBody>
      </p:sp>
      <p:sp>
        <p:nvSpPr>
          <p:cNvPr id="16" name="Text 11"/>
          <p:cNvSpPr txBox="1"/>
          <p:nvPr/>
        </p:nvSpPr>
        <p:spPr>
          <a:xfrm>
            <a:off x="5943600" y="2834640"/>
            <a:ext cx="5669280" cy="45720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Segment water-covered pixels using image processing and deep-learning models.</a:t>
            </a:r>
            <a:endParaRPr lang="en-US" sz="1400" dirty="0"/>
          </a:p>
        </p:txBody>
      </p:sp>
      <p:sp>
        <p:nvSpPr>
          <p:cNvPr id="17" name="Shape 12"/>
          <p:cNvSpPr/>
          <p:nvPr/>
        </p:nvSpPr>
        <p:spPr>
          <a:xfrm>
            <a:off x="5120640" y="3493008"/>
            <a:ext cx="640080" cy="640080"/>
          </a:xfrm>
          <a:prstGeom prst="ellipse">
            <a:avLst/>
          </a:prstGeom>
          <a:solidFill>
            <a:srgbClr val="1B9AAA"/>
          </a:solidFill>
          <a:ln w="12700">
            <a:solidFill>
              <a:srgbClr val="1B9AAA"/>
            </a:solidFill>
            <a:prstDash val="solid"/>
          </a:ln>
        </p:spPr>
      </p:sp>
      <p:pic>
        <p:nvPicPr>
          <p:cNvPr id="18" name="Image 3" descr="preencoded.png"/>
          <p:cNvPicPr>
            <a:picLocks noChangeAspect="1"/>
          </p:cNvPicPr>
          <p:nvPr/>
        </p:nvPicPr>
        <p:blipFill>
          <a:blip r:embed="rId6"/>
          <a:stretch>
            <a:fillRect/>
          </a:stretch>
        </p:blipFill>
        <p:spPr>
          <a:xfrm>
            <a:off x="5287061" y="3659429"/>
            <a:ext cx="307238" cy="307238"/>
          </a:xfrm>
          <a:prstGeom prst="rect">
            <a:avLst/>
          </a:prstGeom>
        </p:spPr>
      </p:pic>
      <p:sp>
        <p:nvSpPr>
          <p:cNvPr id="19" name="Text 13"/>
          <p:cNvSpPr txBox="1"/>
          <p:nvPr/>
        </p:nvSpPr>
        <p:spPr>
          <a:xfrm>
            <a:off x="5943600" y="3419856"/>
            <a:ext cx="5669280" cy="347472"/>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Map</a:t>
            </a:r>
            <a:endParaRPr lang="en-US" sz="1700" dirty="0"/>
          </a:p>
        </p:txBody>
      </p:sp>
      <p:sp>
        <p:nvSpPr>
          <p:cNvPr id="20" name="Text 14"/>
          <p:cNvSpPr txBox="1"/>
          <p:nvPr/>
        </p:nvSpPr>
        <p:spPr>
          <a:xfrm>
            <a:off x="5943600" y="3767328"/>
            <a:ext cx="5669280" cy="45720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Generate clean flood masks and vector flood boundaries.</a:t>
            </a:r>
            <a:endParaRPr lang="en-US" sz="1400" dirty="0"/>
          </a:p>
        </p:txBody>
      </p:sp>
      <p:sp>
        <p:nvSpPr>
          <p:cNvPr id="21" name="Shape 15"/>
          <p:cNvSpPr/>
          <p:nvPr/>
        </p:nvSpPr>
        <p:spPr>
          <a:xfrm>
            <a:off x="5120640" y="4425696"/>
            <a:ext cx="640080" cy="640080"/>
          </a:xfrm>
          <a:prstGeom prst="ellipse">
            <a:avLst/>
          </a:prstGeom>
          <a:solidFill>
            <a:srgbClr val="1B9AAA"/>
          </a:solidFill>
          <a:ln w="12700">
            <a:solidFill>
              <a:srgbClr val="1B9AAA"/>
            </a:solidFill>
            <a:prstDash val="solid"/>
          </a:ln>
        </p:spPr>
      </p:sp>
      <p:pic>
        <p:nvPicPr>
          <p:cNvPr id="22" name="Image 4" descr="preencoded.png"/>
          <p:cNvPicPr>
            <a:picLocks noChangeAspect="1"/>
          </p:cNvPicPr>
          <p:nvPr/>
        </p:nvPicPr>
        <p:blipFill>
          <a:blip r:embed="rId7"/>
          <a:stretch>
            <a:fillRect/>
          </a:stretch>
        </p:blipFill>
        <p:spPr>
          <a:xfrm>
            <a:off x="5287061" y="4592117"/>
            <a:ext cx="307238" cy="307238"/>
          </a:xfrm>
          <a:prstGeom prst="rect">
            <a:avLst/>
          </a:prstGeom>
        </p:spPr>
      </p:pic>
      <p:sp>
        <p:nvSpPr>
          <p:cNvPr id="23" name="Text 16"/>
          <p:cNvSpPr txBox="1"/>
          <p:nvPr/>
        </p:nvSpPr>
        <p:spPr>
          <a:xfrm>
            <a:off x="5943600" y="4352544"/>
            <a:ext cx="5669280" cy="347472"/>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Quantify</a:t>
            </a:r>
            <a:endParaRPr lang="en-US" sz="1700" dirty="0"/>
          </a:p>
        </p:txBody>
      </p:sp>
      <p:sp>
        <p:nvSpPr>
          <p:cNvPr id="24" name="Text 17"/>
          <p:cNvSpPr txBox="1"/>
          <p:nvPr/>
        </p:nvSpPr>
        <p:spPr>
          <a:xfrm>
            <a:off x="5943600" y="4700016"/>
            <a:ext cx="5669280" cy="45720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Compute the inundated area with GIS tools in a projected coordinate system.</a:t>
            </a:r>
            <a:endParaRPr lang="en-US" sz="1400" dirty="0"/>
          </a:p>
        </p:txBody>
      </p:sp>
      <p:sp>
        <p:nvSpPr>
          <p:cNvPr id="25" name="Shape 18"/>
          <p:cNvSpPr/>
          <p:nvPr/>
        </p:nvSpPr>
        <p:spPr>
          <a:xfrm>
            <a:off x="5120640" y="5358384"/>
            <a:ext cx="640080" cy="640080"/>
          </a:xfrm>
          <a:prstGeom prst="ellipse">
            <a:avLst/>
          </a:prstGeom>
          <a:solidFill>
            <a:srgbClr val="1B9AAA"/>
          </a:solidFill>
          <a:ln w="12700">
            <a:solidFill>
              <a:srgbClr val="1B9AAA"/>
            </a:solidFill>
            <a:prstDash val="solid"/>
          </a:ln>
        </p:spPr>
      </p:sp>
      <p:pic>
        <p:nvPicPr>
          <p:cNvPr id="26" name="Image 5" descr="preencoded.png"/>
          <p:cNvPicPr>
            <a:picLocks noChangeAspect="1"/>
          </p:cNvPicPr>
          <p:nvPr/>
        </p:nvPicPr>
        <p:blipFill>
          <a:blip r:embed="rId8"/>
          <a:stretch>
            <a:fillRect/>
          </a:stretch>
        </p:blipFill>
        <p:spPr>
          <a:xfrm>
            <a:off x="5287061" y="5524805"/>
            <a:ext cx="307238" cy="307238"/>
          </a:xfrm>
          <a:prstGeom prst="rect">
            <a:avLst/>
          </a:prstGeom>
        </p:spPr>
      </p:pic>
      <p:sp>
        <p:nvSpPr>
          <p:cNvPr id="27" name="Text 19"/>
          <p:cNvSpPr txBox="1"/>
          <p:nvPr/>
        </p:nvSpPr>
        <p:spPr>
          <a:xfrm>
            <a:off x="5943600" y="5285232"/>
            <a:ext cx="5669280" cy="347472"/>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Assess</a:t>
            </a:r>
            <a:endParaRPr lang="en-US" sz="1700" dirty="0"/>
          </a:p>
        </p:txBody>
      </p:sp>
      <p:sp>
        <p:nvSpPr>
          <p:cNvPr id="28" name="Text 20"/>
          <p:cNvSpPr txBox="1"/>
          <p:nvPr/>
        </p:nvSpPr>
        <p:spPr>
          <a:xfrm>
            <a:off x="5943600" y="5632704"/>
            <a:ext cx="5669280" cy="45720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Identify affected roads, buildings and agricultural land for decision-makers.</a:t>
            </a:r>
            <a:endParaRPr lang="en-US" sz="1400" dirty="0"/>
          </a:p>
        </p:txBody>
      </p:sp>
      <p:sp>
        <p:nvSpPr>
          <p:cNvPr id="29" name="Text 21"/>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04 · METHODOLOGY</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End-to-end system architecture</a:t>
            </a:r>
            <a:endParaRPr lang="en-US" sz="3000" dirty="0"/>
          </a:p>
        </p:txBody>
      </p:sp>
      <p:sp>
        <p:nvSpPr>
          <p:cNvPr id="4" name="Shape 2"/>
          <p:cNvSpPr/>
          <p:nvPr/>
        </p:nvSpPr>
        <p:spPr>
          <a:xfrm>
            <a:off x="548640" y="1463040"/>
            <a:ext cx="3291840" cy="658368"/>
          </a:xfrm>
          <a:prstGeom prst="roundRect">
            <a:avLst>
              <a:gd name="adj" fmla="val 13889"/>
            </a:avLst>
          </a:prstGeom>
          <a:solidFill>
            <a:srgbClr val="EEF4F7"/>
          </a:solidFill>
          <a:ln w="12700">
            <a:solidFill>
              <a:srgbClr val="EEF4F7"/>
            </a:solidFill>
            <a:prstDash val="solid"/>
          </a:ln>
        </p:spPr>
      </p:sp>
      <p:pic>
        <p:nvPicPr>
          <p:cNvPr id="5" name="Image 0" descr="preencoded.png"/>
          <p:cNvPicPr>
            <a:picLocks noChangeAspect="1"/>
          </p:cNvPicPr>
          <p:nvPr/>
        </p:nvPicPr>
        <p:blipFill>
          <a:blip r:embed="rId3"/>
          <a:stretch>
            <a:fillRect/>
          </a:stretch>
        </p:blipFill>
        <p:spPr>
          <a:xfrm>
            <a:off x="685800" y="1581912"/>
            <a:ext cx="420624" cy="420624"/>
          </a:xfrm>
          <a:prstGeom prst="rect">
            <a:avLst/>
          </a:prstGeom>
        </p:spPr>
      </p:pic>
      <p:sp>
        <p:nvSpPr>
          <p:cNvPr id="6" name="Text 3"/>
          <p:cNvSpPr txBox="1"/>
          <p:nvPr/>
        </p:nvSpPr>
        <p:spPr>
          <a:xfrm>
            <a:off x="1188720" y="1463040"/>
            <a:ext cx="2560320" cy="65836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Input: </a:t>
            </a:r>
            <a:r>
              <a:rPr lang="en-US" sz="1400" dirty="0">
                <a:solidFill>
                  <a:srgbClr val="1F2D3D"/>
                </a:solidFill>
                <a:latin typeface="Calibri" pitchFamily="34" charset="0"/>
                <a:ea typeface="Calibri" pitchFamily="34" charset="-122"/>
                <a:cs typeface="Calibri" pitchFamily="34" charset="-120"/>
              </a:rPr>
              <a:t>post-flood UAV imagery</a:t>
            </a:r>
            <a:endParaRPr lang="en-US" sz="1400" dirty="0"/>
          </a:p>
        </p:txBody>
      </p:sp>
      <p:sp>
        <p:nvSpPr>
          <p:cNvPr id="7" name="Shape 4"/>
          <p:cNvSpPr/>
          <p:nvPr/>
        </p:nvSpPr>
        <p:spPr>
          <a:xfrm>
            <a:off x="6355080" y="1463040"/>
            <a:ext cx="5285232" cy="658368"/>
          </a:xfrm>
          <a:prstGeom prst="roundRect">
            <a:avLst>
              <a:gd name="adj" fmla="val 13889"/>
            </a:avLst>
          </a:prstGeom>
          <a:solidFill>
            <a:srgbClr val="FBEBD5"/>
          </a:solidFill>
          <a:ln w="12700">
            <a:solidFill>
              <a:srgbClr val="FBEBD5"/>
            </a:solidFill>
            <a:prstDash val="solid"/>
          </a:ln>
        </p:spPr>
      </p:sp>
      <p:pic>
        <p:nvPicPr>
          <p:cNvPr id="8" name="Image 1" descr="preencoded.png"/>
          <p:cNvPicPr>
            <a:picLocks noChangeAspect="1"/>
          </p:cNvPicPr>
          <p:nvPr/>
        </p:nvPicPr>
        <p:blipFill>
          <a:blip r:embed="rId4"/>
          <a:stretch>
            <a:fillRect/>
          </a:stretch>
        </p:blipFill>
        <p:spPr>
          <a:xfrm>
            <a:off x="6492240" y="1581912"/>
            <a:ext cx="420624" cy="420624"/>
          </a:xfrm>
          <a:prstGeom prst="rect">
            <a:avLst/>
          </a:prstGeom>
        </p:spPr>
      </p:pic>
      <p:sp>
        <p:nvSpPr>
          <p:cNvPr id="9" name="Text 5"/>
          <p:cNvSpPr txBox="1"/>
          <p:nvPr/>
        </p:nvSpPr>
        <p:spPr>
          <a:xfrm>
            <a:off x="6995160" y="1463040"/>
            <a:ext cx="4572000" cy="658368"/>
          </a:xfrm>
          <a:prstGeom prst="rect">
            <a:avLst/>
          </a:prstGeom>
          <a:noFill/>
          <a:ln/>
        </p:spPr>
        <p:txBody>
          <a:bodyPr wrap="square" lIns="0" tIns="0" rIns="0" bIns="0" rtlCol="0" anchor="ctr"/>
          <a:lstStyle/>
          <a:p>
            <a:pPr marL="0" indent="0">
              <a:buNone/>
            </a:pPr>
            <a:r>
              <a:rPr lang="en-US" sz="1300" b="1" dirty="0">
                <a:solidFill>
                  <a:srgbClr val="8A5200"/>
                </a:solidFill>
                <a:latin typeface="Calibri" pitchFamily="34" charset="0"/>
                <a:ea typeface="Calibri" pitchFamily="34" charset="-122"/>
                <a:cs typeface="Calibri" pitchFamily="34" charset="-120"/>
              </a:rPr>
              <a:t>Auxiliary GIS layers: </a:t>
            </a:r>
            <a:r>
              <a:rPr lang="en-US" sz="1300" dirty="0">
                <a:solidFill>
                  <a:srgbClr val="1F2D3D"/>
                </a:solidFill>
                <a:latin typeface="Calibri" pitchFamily="34" charset="0"/>
                <a:ea typeface="Calibri" pitchFamily="34" charset="-122"/>
                <a:cs typeface="Calibri" pitchFamily="34" charset="-120"/>
              </a:rPr>
              <a:t>OSM roads, building footprints, land use, pre-flood water</a:t>
            </a:r>
            <a:endParaRPr lang="en-US" sz="1300" dirty="0"/>
          </a:p>
        </p:txBody>
      </p:sp>
      <p:sp>
        <p:nvSpPr>
          <p:cNvPr id="10" name="Shape 6"/>
          <p:cNvSpPr/>
          <p:nvPr/>
        </p:nvSpPr>
        <p:spPr>
          <a:xfrm>
            <a:off x="8955634" y="2121408"/>
            <a:ext cx="0" cy="301752"/>
          </a:xfrm>
          <a:prstGeom prst="line">
            <a:avLst/>
          </a:prstGeom>
          <a:noFill/>
          <a:ln w="25400">
            <a:solidFill>
              <a:srgbClr val="E09F3E"/>
            </a:solidFill>
            <a:prstDash val="solid"/>
            <a:tailEnd type="triangle"/>
          </a:ln>
        </p:spPr>
      </p:sp>
      <p:sp>
        <p:nvSpPr>
          <p:cNvPr id="11" name="Shape 7"/>
          <p:cNvSpPr/>
          <p:nvPr/>
        </p:nvSpPr>
        <p:spPr>
          <a:xfrm>
            <a:off x="1325880" y="2121408"/>
            <a:ext cx="0" cy="301752"/>
          </a:xfrm>
          <a:prstGeom prst="line">
            <a:avLst/>
          </a:prstGeom>
          <a:noFill/>
          <a:ln w="25400">
            <a:solidFill>
              <a:srgbClr val="1B9AAA"/>
            </a:solidFill>
            <a:prstDash val="solid"/>
            <a:tailEnd type="triangle"/>
          </a:ln>
        </p:spPr>
      </p:sp>
      <p:sp>
        <p:nvSpPr>
          <p:cNvPr id="12" name="Shape 8"/>
          <p:cNvSpPr/>
          <p:nvPr/>
        </p:nvSpPr>
        <p:spPr>
          <a:xfrm>
            <a:off x="548640" y="2423160"/>
            <a:ext cx="1554480" cy="2514600"/>
          </a:xfrm>
          <a:prstGeom prst="roundRect">
            <a:avLst>
              <a:gd name="adj" fmla="val 5882"/>
            </a:avLst>
          </a:prstGeom>
          <a:solidFill>
            <a:srgbClr val="FFFFFF"/>
          </a:solidFill>
          <a:ln w="12700">
            <a:solidFill>
              <a:srgbClr val="C9D6DF"/>
            </a:solidFill>
            <a:prstDash val="solid"/>
          </a:ln>
          <a:effectLst>
            <a:outerShdw blurRad="101600" dist="25400" dir="5400000" algn="bl" rotWithShape="0">
              <a:srgbClr val="000000">
                <a:alpha val="14000"/>
              </a:srgbClr>
            </a:outerShdw>
          </a:effectLst>
        </p:spPr>
      </p:sp>
      <p:sp>
        <p:nvSpPr>
          <p:cNvPr id="13" name="Shape 9"/>
          <p:cNvSpPr/>
          <p:nvPr/>
        </p:nvSpPr>
        <p:spPr>
          <a:xfrm>
            <a:off x="1005840" y="2606040"/>
            <a:ext cx="640080" cy="640080"/>
          </a:xfrm>
          <a:prstGeom prst="ellipse">
            <a:avLst/>
          </a:prstGeom>
          <a:solidFill>
            <a:srgbClr val="1B9AAA"/>
          </a:solidFill>
          <a:ln w="12700">
            <a:solidFill>
              <a:srgbClr val="1B9AAA"/>
            </a:solidFill>
            <a:prstDash val="solid"/>
          </a:ln>
        </p:spPr>
      </p:sp>
      <p:pic>
        <p:nvPicPr>
          <p:cNvPr id="14" name="Image 2" descr="preencoded.png"/>
          <p:cNvPicPr>
            <a:picLocks noChangeAspect="1"/>
          </p:cNvPicPr>
          <p:nvPr/>
        </p:nvPicPr>
        <p:blipFill>
          <a:blip r:embed="rId5"/>
          <a:stretch>
            <a:fillRect/>
          </a:stretch>
        </p:blipFill>
        <p:spPr>
          <a:xfrm>
            <a:off x="1172261" y="2772461"/>
            <a:ext cx="307238" cy="307238"/>
          </a:xfrm>
          <a:prstGeom prst="rect">
            <a:avLst/>
          </a:prstGeom>
        </p:spPr>
      </p:pic>
      <p:sp>
        <p:nvSpPr>
          <p:cNvPr id="15" name="Text 10"/>
          <p:cNvSpPr txBox="1"/>
          <p:nvPr/>
        </p:nvSpPr>
        <p:spPr>
          <a:xfrm>
            <a:off x="640080"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1. Data acquisition</a:t>
            </a:r>
            <a:endParaRPr lang="en-US" sz="1400" dirty="0"/>
          </a:p>
        </p:txBody>
      </p:sp>
      <p:sp>
        <p:nvSpPr>
          <p:cNvPr id="16" name="Text 11"/>
          <p:cNvSpPr txBox="1"/>
          <p:nvPr/>
        </p:nvSpPr>
        <p:spPr>
          <a:xfrm>
            <a:off x="658368"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UAV flights over the flooded area; RGB or multispectral images with GNSS tags</a:t>
            </a:r>
            <a:endParaRPr lang="en-US" sz="1150" dirty="0"/>
          </a:p>
        </p:txBody>
      </p:sp>
      <p:sp>
        <p:nvSpPr>
          <p:cNvPr id="17" name="Shape 12"/>
          <p:cNvSpPr/>
          <p:nvPr/>
        </p:nvSpPr>
        <p:spPr>
          <a:xfrm>
            <a:off x="2148840" y="3680460"/>
            <a:ext cx="261518" cy="0"/>
          </a:xfrm>
          <a:prstGeom prst="line">
            <a:avLst/>
          </a:prstGeom>
          <a:noFill/>
          <a:ln w="25400">
            <a:solidFill>
              <a:srgbClr val="0B2545"/>
            </a:solidFill>
            <a:prstDash val="solid"/>
            <a:tailEnd type="triangle"/>
          </a:ln>
        </p:spPr>
      </p:sp>
      <p:sp>
        <p:nvSpPr>
          <p:cNvPr id="18" name="Shape 13"/>
          <p:cNvSpPr/>
          <p:nvPr/>
        </p:nvSpPr>
        <p:spPr>
          <a:xfrm>
            <a:off x="2456078" y="2423160"/>
            <a:ext cx="1554480" cy="2514600"/>
          </a:xfrm>
          <a:prstGeom prst="roundRect">
            <a:avLst>
              <a:gd name="adj" fmla="val 5882"/>
            </a:avLst>
          </a:prstGeom>
          <a:solidFill>
            <a:srgbClr val="FFFFFF"/>
          </a:solidFill>
          <a:ln w="12700">
            <a:solidFill>
              <a:srgbClr val="C9D6DF"/>
            </a:solidFill>
            <a:prstDash val="solid"/>
          </a:ln>
          <a:effectLst>
            <a:outerShdw blurRad="101600" dist="25400" dir="5400000" algn="bl" rotWithShape="0">
              <a:srgbClr val="000000">
                <a:alpha val="14000"/>
              </a:srgbClr>
            </a:outerShdw>
          </a:effectLst>
        </p:spPr>
      </p:sp>
      <p:sp>
        <p:nvSpPr>
          <p:cNvPr id="19" name="Shape 14"/>
          <p:cNvSpPr/>
          <p:nvPr/>
        </p:nvSpPr>
        <p:spPr>
          <a:xfrm>
            <a:off x="2913278" y="2606040"/>
            <a:ext cx="640080" cy="640080"/>
          </a:xfrm>
          <a:prstGeom prst="ellipse">
            <a:avLst/>
          </a:prstGeom>
          <a:solidFill>
            <a:srgbClr val="1B9AAA"/>
          </a:solidFill>
          <a:ln w="12700">
            <a:solidFill>
              <a:srgbClr val="1B9AAA"/>
            </a:solidFill>
            <a:prstDash val="solid"/>
          </a:ln>
        </p:spPr>
      </p:sp>
      <p:pic>
        <p:nvPicPr>
          <p:cNvPr id="20" name="Image 3" descr="preencoded.png"/>
          <p:cNvPicPr>
            <a:picLocks noChangeAspect="1"/>
          </p:cNvPicPr>
          <p:nvPr/>
        </p:nvPicPr>
        <p:blipFill>
          <a:blip r:embed="rId6"/>
          <a:stretch>
            <a:fillRect/>
          </a:stretch>
        </p:blipFill>
        <p:spPr>
          <a:xfrm>
            <a:off x="3079699" y="2772461"/>
            <a:ext cx="307238" cy="307238"/>
          </a:xfrm>
          <a:prstGeom prst="rect">
            <a:avLst/>
          </a:prstGeom>
        </p:spPr>
      </p:pic>
      <p:sp>
        <p:nvSpPr>
          <p:cNvPr id="21" name="Text 15"/>
          <p:cNvSpPr txBox="1"/>
          <p:nvPr/>
        </p:nvSpPr>
        <p:spPr>
          <a:xfrm>
            <a:off x="2547518"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2. Preprocessing</a:t>
            </a:r>
            <a:endParaRPr lang="en-US" sz="1400" dirty="0"/>
          </a:p>
        </p:txBody>
      </p:sp>
      <p:sp>
        <p:nvSpPr>
          <p:cNvPr id="22" name="Text 16"/>
          <p:cNvSpPr txBox="1"/>
          <p:nvPr/>
        </p:nvSpPr>
        <p:spPr>
          <a:xfrm>
            <a:off x="2565806"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Photogrammetry to orthomosaic and DSM; georeferencing; tiling</a:t>
            </a:r>
            <a:endParaRPr lang="en-US" sz="1150" dirty="0"/>
          </a:p>
        </p:txBody>
      </p:sp>
      <p:sp>
        <p:nvSpPr>
          <p:cNvPr id="23" name="Shape 17"/>
          <p:cNvSpPr/>
          <p:nvPr/>
        </p:nvSpPr>
        <p:spPr>
          <a:xfrm>
            <a:off x="4056278" y="3680460"/>
            <a:ext cx="261518" cy="0"/>
          </a:xfrm>
          <a:prstGeom prst="line">
            <a:avLst/>
          </a:prstGeom>
          <a:noFill/>
          <a:ln w="25400">
            <a:solidFill>
              <a:srgbClr val="0B2545"/>
            </a:solidFill>
            <a:prstDash val="solid"/>
            <a:tailEnd type="triangle"/>
          </a:ln>
        </p:spPr>
      </p:sp>
      <p:sp>
        <p:nvSpPr>
          <p:cNvPr id="24" name="Shape 18"/>
          <p:cNvSpPr/>
          <p:nvPr/>
        </p:nvSpPr>
        <p:spPr>
          <a:xfrm>
            <a:off x="4363517" y="2423160"/>
            <a:ext cx="1554480" cy="2514600"/>
          </a:xfrm>
          <a:prstGeom prst="roundRect">
            <a:avLst>
              <a:gd name="adj" fmla="val 5882"/>
            </a:avLst>
          </a:prstGeom>
          <a:solidFill>
            <a:srgbClr val="DDF0F2"/>
          </a:solidFill>
          <a:ln w="12700">
            <a:solidFill>
              <a:srgbClr val="C9D6DF"/>
            </a:solidFill>
            <a:prstDash val="solid"/>
          </a:ln>
          <a:effectLst>
            <a:outerShdw blurRad="101600" dist="25400" dir="5400000" algn="bl" rotWithShape="0">
              <a:srgbClr val="000000">
                <a:alpha val="14000"/>
              </a:srgbClr>
            </a:outerShdw>
          </a:effectLst>
        </p:spPr>
      </p:sp>
      <p:sp>
        <p:nvSpPr>
          <p:cNvPr id="25" name="Shape 19"/>
          <p:cNvSpPr/>
          <p:nvPr/>
        </p:nvSpPr>
        <p:spPr>
          <a:xfrm>
            <a:off x="4820717" y="2606040"/>
            <a:ext cx="640080" cy="640080"/>
          </a:xfrm>
          <a:prstGeom prst="ellipse">
            <a:avLst/>
          </a:prstGeom>
          <a:solidFill>
            <a:srgbClr val="0B2545"/>
          </a:solidFill>
          <a:ln w="12700">
            <a:solidFill>
              <a:srgbClr val="0B2545"/>
            </a:solidFill>
            <a:prstDash val="solid"/>
          </a:ln>
        </p:spPr>
      </p:sp>
      <p:pic>
        <p:nvPicPr>
          <p:cNvPr id="26" name="Image 4" descr="preencoded.png"/>
          <p:cNvPicPr>
            <a:picLocks noChangeAspect="1"/>
          </p:cNvPicPr>
          <p:nvPr/>
        </p:nvPicPr>
        <p:blipFill>
          <a:blip r:embed="rId7"/>
          <a:stretch>
            <a:fillRect/>
          </a:stretch>
        </p:blipFill>
        <p:spPr>
          <a:xfrm>
            <a:off x="4987138" y="2772461"/>
            <a:ext cx="307238" cy="307238"/>
          </a:xfrm>
          <a:prstGeom prst="rect">
            <a:avLst/>
          </a:prstGeom>
        </p:spPr>
      </p:pic>
      <p:sp>
        <p:nvSpPr>
          <p:cNvPr id="27" name="Text 20"/>
          <p:cNvSpPr txBox="1"/>
          <p:nvPr/>
        </p:nvSpPr>
        <p:spPr>
          <a:xfrm>
            <a:off x="4454957"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3. Water segmentation</a:t>
            </a:r>
            <a:endParaRPr lang="en-US" sz="1400" dirty="0"/>
          </a:p>
        </p:txBody>
      </p:sp>
      <p:sp>
        <p:nvSpPr>
          <p:cNvPr id="28" name="Text 21"/>
          <p:cNvSpPr txBox="1"/>
          <p:nvPr/>
        </p:nvSpPr>
        <p:spPr>
          <a:xfrm>
            <a:off x="4473245"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Deep-learning model (U-Net / DeepLabv3+) predicts water per pixel</a:t>
            </a:r>
            <a:endParaRPr lang="en-US" sz="1150" dirty="0"/>
          </a:p>
        </p:txBody>
      </p:sp>
      <p:sp>
        <p:nvSpPr>
          <p:cNvPr id="29" name="Shape 22"/>
          <p:cNvSpPr/>
          <p:nvPr/>
        </p:nvSpPr>
        <p:spPr>
          <a:xfrm>
            <a:off x="5963717" y="3680460"/>
            <a:ext cx="261518" cy="0"/>
          </a:xfrm>
          <a:prstGeom prst="line">
            <a:avLst/>
          </a:prstGeom>
          <a:noFill/>
          <a:ln w="25400">
            <a:solidFill>
              <a:srgbClr val="0B2545"/>
            </a:solidFill>
            <a:prstDash val="solid"/>
            <a:tailEnd type="triangle"/>
          </a:ln>
        </p:spPr>
      </p:sp>
      <p:sp>
        <p:nvSpPr>
          <p:cNvPr id="30" name="Shape 23"/>
          <p:cNvSpPr/>
          <p:nvPr/>
        </p:nvSpPr>
        <p:spPr>
          <a:xfrm>
            <a:off x="6270955" y="2423160"/>
            <a:ext cx="1554480" cy="2514600"/>
          </a:xfrm>
          <a:prstGeom prst="roundRect">
            <a:avLst>
              <a:gd name="adj" fmla="val 5882"/>
            </a:avLst>
          </a:prstGeom>
          <a:solidFill>
            <a:srgbClr val="FFFFFF"/>
          </a:solidFill>
          <a:ln w="12700">
            <a:solidFill>
              <a:srgbClr val="C9D6DF"/>
            </a:solidFill>
            <a:prstDash val="solid"/>
          </a:ln>
          <a:effectLst>
            <a:outerShdw blurRad="101600" dist="25400" dir="5400000" algn="bl" rotWithShape="0">
              <a:srgbClr val="000000">
                <a:alpha val="14000"/>
              </a:srgbClr>
            </a:outerShdw>
          </a:effectLst>
        </p:spPr>
      </p:sp>
      <p:sp>
        <p:nvSpPr>
          <p:cNvPr id="31" name="Shape 24"/>
          <p:cNvSpPr/>
          <p:nvPr/>
        </p:nvSpPr>
        <p:spPr>
          <a:xfrm>
            <a:off x="6728155" y="2606040"/>
            <a:ext cx="640080" cy="640080"/>
          </a:xfrm>
          <a:prstGeom prst="ellipse">
            <a:avLst/>
          </a:prstGeom>
          <a:solidFill>
            <a:srgbClr val="1B9AAA"/>
          </a:solidFill>
          <a:ln w="12700">
            <a:solidFill>
              <a:srgbClr val="1B9AAA"/>
            </a:solidFill>
            <a:prstDash val="solid"/>
          </a:ln>
        </p:spPr>
      </p:sp>
      <p:pic>
        <p:nvPicPr>
          <p:cNvPr id="32" name="Image 5" descr="preencoded.png"/>
          <p:cNvPicPr>
            <a:picLocks noChangeAspect="1"/>
          </p:cNvPicPr>
          <p:nvPr/>
        </p:nvPicPr>
        <p:blipFill>
          <a:blip r:embed="rId8"/>
          <a:stretch>
            <a:fillRect/>
          </a:stretch>
        </p:blipFill>
        <p:spPr>
          <a:xfrm>
            <a:off x="6894576" y="2772461"/>
            <a:ext cx="307238" cy="307238"/>
          </a:xfrm>
          <a:prstGeom prst="rect">
            <a:avLst/>
          </a:prstGeom>
        </p:spPr>
      </p:pic>
      <p:sp>
        <p:nvSpPr>
          <p:cNvPr id="33" name="Text 25"/>
          <p:cNvSpPr txBox="1"/>
          <p:nvPr/>
        </p:nvSpPr>
        <p:spPr>
          <a:xfrm>
            <a:off x="6362395"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4. Post-processing</a:t>
            </a:r>
            <a:endParaRPr lang="en-US" sz="1400" dirty="0"/>
          </a:p>
        </p:txBody>
      </p:sp>
      <p:sp>
        <p:nvSpPr>
          <p:cNvPr id="34" name="Text 26"/>
          <p:cNvSpPr txBox="1"/>
          <p:nvPr/>
        </p:nvSpPr>
        <p:spPr>
          <a:xfrm>
            <a:off x="6380683"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Thresholding, morphology, noise removal, polygonization</a:t>
            </a:r>
            <a:endParaRPr lang="en-US" sz="1150" dirty="0"/>
          </a:p>
        </p:txBody>
      </p:sp>
      <p:sp>
        <p:nvSpPr>
          <p:cNvPr id="35" name="Shape 27"/>
          <p:cNvSpPr/>
          <p:nvPr/>
        </p:nvSpPr>
        <p:spPr>
          <a:xfrm>
            <a:off x="7871155" y="3680460"/>
            <a:ext cx="261518" cy="0"/>
          </a:xfrm>
          <a:prstGeom prst="line">
            <a:avLst/>
          </a:prstGeom>
          <a:noFill/>
          <a:ln w="25400">
            <a:solidFill>
              <a:srgbClr val="0B2545"/>
            </a:solidFill>
            <a:prstDash val="solid"/>
            <a:tailEnd type="triangle"/>
          </a:ln>
        </p:spPr>
      </p:sp>
      <p:sp>
        <p:nvSpPr>
          <p:cNvPr id="36" name="Shape 28"/>
          <p:cNvSpPr/>
          <p:nvPr/>
        </p:nvSpPr>
        <p:spPr>
          <a:xfrm>
            <a:off x="8178394" y="2423160"/>
            <a:ext cx="1554480" cy="2514600"/>
          </a:xfrm>
          <a:prstGeom prst="roundRect">
            <a:avLst>
              <a:gd name="adj" fmla="val 5882"/>
            </a:avLst>
          </a:prstGeom>
          <a:solidFill>
            <a:srgbClr val="FFFFFF"/>
          </a:solidFill>
          <a:ln w="12700">
            <a:solidFill>
              <a:srgbClr val="C9D6DF"/>
            </a:solidFill>
            <a:prstDash val="solid"/>
          </a:ln>
          <a:effectLst>
            <a:outerShdw blurRad="101600" dist="25400" dir="5400000" algn="bl" rotWithShape="0">
              <a:srgbClr val="000000">
                <a:alpha val="14000"/>
              </a:srgbClr>
            </a:outerShdw>
          </a:effectLst>
        </p:spPr>
      </p:sp>
      <p:sp>
        <p:nvSpPr>
          <p:cNvPr id="37" name="Shape 29"/>
          <p:cNvSpPr/>
          <p:nvPr/>
        </p:nvSpPr>
        <p:spPr>
          <a:xfrm>
            <a:off x="8635594" y="2606040"/>
            <a:ext cx="640080" cy="640080"/>
          </a:xfrm>
          <a:prstGeom prst="ellipse">
            <a:avLst/>
          </a:prstGeom>
          <a:solidFill>
            <a:srgbClr val="1B9AAA"/>
          </a:solidFill>
          <a:ln w="12700">
            <a:solidFill>
              <a:srgbClr val="1B9AAA"/>
            </a:solidFill>
            <a:prstDash val="solid"/>
          </a:ln>
        </p:spPr>
      </p:sp>
      <p:pic>
        <p:nvPicPr>
          <p:cNvPr id="38" name="Image 6" descr="preencoded.png"/>
          <p:cNvPicPr>
            <a:picLocks noChangeAspect="1"/>
          </p:cNvPicPr>
          <p:nvPr/>
        </p:nvPicPr>
        <p:blipFill>
          <a:blip r:embed="rId9"/>
          <a:stretch>
            <a:fillRect/>
          </a:stretch>
        </p:blipFill>
        <p:spPr>
          <a:xfrm>
            <a:off x="8802014" y="2772461"/>
            <a:ext cx="307238" cy="307238"/>
          </a:xfrm>
          <a:prstGeom prst="rect">
            <a:avLst/>
          </a:prstGeom>
        </p:spPr>
      </p:pic>
      <p:sp>
        <p:nvSpPr>
          <p:cNvPr id="39" name="Text 30"/>
          <p:cNvSpPr txBox="1"/>
          <p:nvPr/>
        </p:nvSpPr>
        <p:spPr>
          <a:xfrm>
            <a:off x="8269834"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5. GIS analysis</a:t>
            </a:r>
            <a:endParaRPr lang="en-US" sz="1400" dirty="0"/>
          </a:p>
        </p:txBody>
      </p:sp>
      <p:sp>
        <p:nvSpPr>
          <p:cNvPr id="40" name="Text 31"/>
          <p:cNvSpPr txBox="1"/>
          <p:nvPr/>
        </p:nvSpPr>
        <p:spPr>
          <a:xfrm>
            <a:off x="8288122"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Flood area, boundary, overlay with roads, buildings and cropland</a:t>
            </a:r>
            <a:endParaRPr lang="en-US" sz="1150" dirty="0"/>
          </a:p>
        </p:txBody>
      </p:sp>
      <p:sp>
        <p:nvSpPr>
          <p:cNvPr id="41" name="Shape 32"/>
          <p:cNvSpPr/>
          <p:nvPr/>
        </p:nvSpPr>
        <p:spPr>
          <a:xfrm>
            <a:off x="9778594" y="3680460"/>
            <a:ext cx="261518" cy="0"/>
          </a:xfrm>
          <a:prstGeom prst="line">
            <a:avLst/>
          </a:prstGeom>
          <a:noFill/>
          <a:ln w="25400">
            <a:solidFill>
              <a:srgbClr val="0B2545"/>
            </a:solidFill>
            <a:prstDash val="solid"/>
            <a:tailEnd type="triangle"/>
          </a:ln>
        </p:spPr>
      </p:sp>
      <p:sp>
        <p:nvSpPr>
          <p:cNvPr id="42" name="Shape 33"/>
          <p:cNvSpPr/>
          <p:nvPr/>
        </p:nvSpPr>
        <p:spPr>
          <a:xfrm>
            <a:off x="10085832" y="2423160"/>
            <a:ext cx="1554480" cy="2514600"/>
          </a:xfrm>
          <a:prstGeom prst="roundRect">
            <a:avLst>
              <a:gd name="adj" fmla="val 5882"/>
            </a:avLst>
          </a:prstGeom>
          <a:solidFill>
            <a:srgbClr val="FFFFFF"/>
          </a:solidFill>
          <a:ln w="12700">
            <a:solidFill>
              <a:srgbClr val="C9D6DF"/>
            </a:solidFill>
            <a:prstDash val="solid"/>
          </a:ln>
          <a:effectLst>
            <a:outerShdw blurRad="101600" dist="25400" dir="5400000" algn="bl" rotWithShape="0">
              <a:srgbClr val="000000">
                <a:alpha val="14000"/>
              </a:srgbClr>
            </a:outerShdw>
          </a:effectLst>
        </p:spPr>
      </p:sp>
      <p:sp>
        <p:nvSpPr>
          <p:cNvPr id="43" name="Shape 34"/>
          <p:cNvSpPr/>
          <p:nvPr/>
        </p:nvSpPr>
        <p:spPr>
          <a:xfrm>
            <a:off x="10543032" y="2606040"/>
            <a:ext cx="640080" cy="640080"/>
          </a:xfrm>
          <a:prstGeom prst="ellipse">
            <a:avLst/>
          </a:prstGeom>
          <a:solidFill>
            <a:srgbClr val="1B9AAA"/>
          </a:solidFill>
          <a:ln w="12700">
            <a:solidFill>
              <a:srgbClr val="1B9AAA"/>
            </a:solidFill>
            <a:prstDash val="solid"/>
          </a:ln>
        </p:spPr>
      </p:sp>
      <p:pic>
        <p:nvPicPr>
          <p:cNvPr id="44" name="Image 7" descr="preencoded.png"/>
          <p:cNvPicPr>
            <a:picLocks noChangeAspect="1"/>
          </p:cNvPicPr>
          <p:nvPr/>
        </p:nvPicPr>
        <p:blipFill>
          <a:blip r:embed="rId10"/>
          <a:stretch>
            <a:fillRect/>
          </a:stretch>
        </p:blipFill>
        <p:spPr>
          <a:xfrm>
            <a:off x="10709453" y="2772461"/>
            <a:ext cx="307238" cy="307238"/>
          </a:xfrm>
          <a:prstGeom prst="rect">
            <a:avLst/>
          </a:prstGeom>
        </p:spPr>
      </p:pic>
      <p:sp>
        <p:nvSpPr>
          <p:cNvPr id="45" name="Text 35"/>
          <p:cNvSpPr txBox="1"/>
          <p:nvPr/>
        </p:nvSpPr>
        <p:spPr>
          <a:xfrm>
            <a:off x="10177272" y="3337560"/>
            <a:ext cx="1371600" cy="54864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6. Decision support</a:t>
            </a:r>
            <a:endParaRPr lang="en-US" sz="1400" dirty="0"/>
          </a:p>
        </p:txBody>
      </p:sp>
      <p:sp>
        <p:nvSpPr>
          <p:cNvPr id="46" name="Text 36"/>
          <p:cNvSpPr txBox="1"/>
          <p:nvPr/>
        </p:nvSpPr>
        <p:spPr>
          <a:xfrm>
            <a:off x="10195560" y="3886200"/>
            <a:ext cx="1335024" cy="960120"/>
          </a:xfrm>
          <a:prstGeom prst="rect">
            <a:avLst/>
          </a:prstGeom>
          <a:noFill/>
          <a:ln/>
        </p:spPr>
        <p:txBody>
          <a:bodyPr wrap="square" lIns="0" tIns="0" rIns="0" bIns="0" rtlCol="0" anchor="t"/>
          <a:lstStyle/>
          <a:p>
            <a:pPr marL="0" indent="0" algn="ctr">
              <a:buNone/>
            </a:pPr>
            <a:r>
              <a:rPr lang="en-US" sz="1150" dirty="0">
                <a:solidFill>
                  <a:srgbClr val="1F2D3D"/>
                </a:solidFill>
                <a:latin typeface="Calibri" pitchFamily="34" charset="0"/>
                <a:ea typeface="Calibri" pitchFamily="34" charset="-122"/>
                <a:cs typeface="Calibri" pitchFamily="34" charset="-120"/>
              </a:rPr>
              <a:t>Flood maps, impact reports and dashboards for responders</a:t>
            </a:r>
            <a:endParaRPr lang="en-US" sz="1150" dirty="0"/>
          </a:p>
        </p:txBody>
      </p:sp>
      <p:sp>
        <p:nvSpPr>
          <p:cNvPr id="47" name="Text 37"/>
          <p:cNvSpPr txBox="1"/>
          <p:nvPr/>
        </p:nvSpPr>
        <p:spPr>
          <a:xfrm>
            <a:off x="548640" y="5257800"/>
            <a:ext cx="1371600" cy="640080"/>
          </a:xfrm>
          <a:prstGeom prst="rect">
            <a:avLst/>
          </a:prstGeom>
          <a:noFill/>
          <a:ln/>
        </p:spPr>
        <p:txBody>
          <a:bodyPr wrap="square" lIns="0" tIns="0" rIns="0" bIns="0" rtlCol="0" anchor="ctr"/>
          <a:lstStyle/>
          <a:p>
            <a:pPr marL="0" indent="0">
              <a:buNone/>
            </a:pPr>
            <a:r>
              <a:rPr lang="en-US" sz="1300" b="1" kern="0" spc="300" dirty="0">
                <a:solidFill>
                  <a:srgbClr val="E09F3E"/>
                </a:solidFill>
                <a:latin typeface="Calibri" pitchFamily="34" charset="0"/>
                <a:ea typeface="Calibri" pitchFamily="34" charset="-122"/>
                <a:cs typeface="Calibri" pitchFamily="34" charset="-120"/>
              </a:rPr>
              <a:t>OUTPUTS</a:t>
            </a:r>
            <a:endParaRPr lang="en-US" sz="1300" dirty="0"/>
          </a:p>
        </p:txBody>
      </p:sp>
      <p:sp>
        <p:nvSpPr>
          <p:cNvPr id="48" name="Shape 38"/>
          <p:cNvSpPr/>
          <p:nvPr/>
        </p:nvSpPr>
        <p:spPr>
          <a:xfrm>
            <a:off x="1828800" y="5257800"/>
            <a:ext cx="1828800" cy="640080"/>
          </a:xfrm>
          <a:prstGeom prst="roundRect">
            <a:avLst>
              <a:gd name="adj" fmla="val 50000"/>
            </a:avLst>
          </a:prstGeom>
          <a:solidFill>
            <a:srgbClr val="0B2545"/>
          </a:solidFill>
          <a:ln w="12700">
            <a:solidFill>
              <a:srgbClr val="0B2545"/>
            </a:solidFill>
            <a:prstDash val="solid"/>
          </a:ln>
        </p:spPr>
      </p:sp>
      <p:pic>
        <p:nvPicPr>
          <p:cNvPr id="49" name="Image 8" descr="preencoded.png"/>
          <p:cNvPicPr>
            <a:picLocks noChangeAspect="1"/>
          </p:cNvPicPr>
          <p:nvPr/>
        </p:nvPicPr>
        <p:blipFill>
          <a:blip r:embed="rId11"/>
          <a:stretch>
            <a:fillRect/>
          </a:stretch>
        </p:blipFill>
        <p:spPr>
          <a:xfrm>
            <a:off x="2011680" y="5394960"/>
            <a:ext cx="365760" cy="365760"/>
          </a:xfrm>
          <a:prstGeom prst="rect">
            <a:avLst/>
          </a:prstGeom>
        </p:spPr>
      </p:pic>
      <p:sp>
        <p:nvSpPr>
          <p:cNvPr id="50" name="Text 39"/>
          <p:cNvSpPr txBox="1"/>
          <p:nvPr/>
        </p:nvSpPr>
        <p:spPr>
          <a:xfrm>
            <a:off x="2423160" y="5257800"/>
            <a:ext cx="118872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Flood extent map</a:t>
            </a:r>
            <a:endParaRPr lang="en-US" sz="1200" dirty="0"/>
          </a:p>
        </p:txBody>
      </p:sp>
      <p:sp>
        <p:nvSpPr>
          <p:cNvPr id="51" name="Shape 40"/>
          <p:cNvSpPr/>
          <p:nvPr/>
        </p:nvSpPr>
        <p:spPr>
          <a:xfrm>
            <a:off x="3803904" y="5257800"/>
            <a:ext cx="1828800" cy="640080"/>
          </a:xfrm>
          <a:prstGeom prst="roundRect">
            <a:avLst>
              <a:gd name="adj" fmla="val 50000"/>
            </a:avLst>
          </a:prstGeom>
          <a:solidFill>
            <a:srgbClr val="0B2545"/>
          </a:solidFill>
          <a:ln w="12700">
            <a:solidFill>
              <a:srgbClr val="0B2545"/>
            </a:solidFill>
            <a:prstDash val="solid"/>
          </a:ln>
        </p:spPr>
      </p:sp>
      <p:pic>
        <p:nvPicPr>
          <p:cNvPr id="52" name="Image 9" descr="preencoded.png"/>
          <p:cNvPicPr>
            <a:picLocks noChangeAspect="1"/>
          </p:cNvPicPr>
          <p:nvPr/>
        </p:nvPicPr>
        <p:blipFill>
          <a:blip r:embed="rId12"/>
          <a:stretch>
            <a:fillRect/>
          </a:stretch>
        </p:blipFill>
        <p:spPr>
          <a:xfrm>
            <a:off x="3986784" y="5394960"/>
            <a:ext cx="365760" cy="365760"/>
          </a:xfrm>
          <a:prstGeom prst="rect">
            <a:avLst/>
          </a:prstGeom>
        </p:spPr>
      </p:pic>
      <p:sp>
        <p:nvSpPr>
          <p:cNvPr id="53" name="Text 41"/>
          <p:cNvSpPr txBox="1"/>
          <p:nvPr/>
        </p:nvSpPr>
        <p:spPr>
          <a:xfrm>
            <a:off x="4398264" y="5257800"/>
            <a:ext cx="118872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Flooded area (ha)</a:t>
            </a:r>
            <a:endParaRPr lang="en-US" sz="1200" dirty="0"/>
          </a:p>
        </p:txBody>
      </p:sp>
      <p:sp>
        <p:nvSpPr>
          <p:cNvPr id="54" name="Shape 42"/>
          <p:cNvSpPr/>
          <p:nvPr/>
        </p:nvSpPr>
        <p:spPr>
          <a:xfrm>
            <a:off x="5779008" y="5257800"/>
            <a:ext cx="1828800" cy="640080"/>
          </a:xfrm>
          <a:prstGeom prst="roundRect">
            <a:avLst>
              <a:gd name="adj" fmla="val 50000"/>
            </a:avLst>
          </a:prstGeom>
          <a:solidFill>
            <a:srgbClr val="0B2545"/>
          </a:solidFill>
          <a:ln w="12700">
            <a:solidFill>
              <a:srgbClr val="0B2545"/>
            </a:solidFill>
            <a:prstDash val="solid"/>
          </a:ln>
        </p:spPr>
      </p:sp>
      <p:pic>
        <p:nvPicPr>
          <p:cNvPr id="55" name="Image 10" descr="preencoded.png"/>
          <p:cNvPicPr>
            <a:picLocks noChangeAspect="1"/>
          </p:cNvPicPr>
          <p:nvPr/>
        </p:nvPicPr>
        <p:blipFill>
          <a:blip r:embed="rId13"/>
          <a:stretch>
            <a:fillRect/>
          </a:stretch>
        </p:blipFill>
        <p:spPr>
          <a:xfrm>
            <a:off x="5961888" y="5394960"/>
            <a:ext cx="365760" cy="365760"/>
          </a:xfrm>
          <a:prstGeom prst="rect">
            <a:avLst/>
          </a:prstGeom>
        </p:spPr>
      </p:pic>
      <p:sp>
        <p:nvSpPr>
          <p:cNvPr id="56" name="Text 43"/>
          <p:cNvSpPr txBox="1"/>
          <p:nvPr/>
        </p:nvSpPr>
        <p:spPr>
          <a:xfrm>
            <a:off x="6373368" y="5257800"/>
            <a:ext cx="118872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Affected roads (km)</a:t>
            </a:r>
            <a:endParaRPr lang="en-US" sz="1200" dirty="0"/>
          </a:p>
        </p:txBody>
      </p:sp>
      <p:sp>
        <p:nvSpPr>
          <p:cNvPr id="57" name="Shape 44"/>
          <p:cNvSpPr/>
          <p:nvPr/>
        </p:nvSpPr>
        <p:spPr>
          <a:xfrm>
            <a:off x="7754112" y="5257800"/>
            <a:ext cx="1828800" cy="640080"/>
          </a:xfrm>
          <a:prstGeom prst="roundRect">
            <a:avLst>
              <a:gd name="adj" fmla="val 50000"/>
            </a:avLst>
          </a:prstGeom>
          <a:solidFill>
            <a:srgbClr val="0B2545"/>
          </a:solidFill>
          <a:ln w="12700">
            <a:solidFill>
              <a:srgbClr val="0B2545"/>
            </a:solidFill>
            <a:prstDash val="solid"/>
          </a:ln>
        </p:spPr>
      </p:sp>
      <p:pic>
        <p:nvPicPr>
          <p:cNvPr id="58" name="Image 11" descr="preencoded.png"/>
          <p:cNvPicPr>
            <a:picLocks noChangeAspect="1"/>
          </p:cNvPicPr>
          <p:nvPr/>
        </p:nvPicPr>
        <p:blipFill>
          <a:blip r:embed="rId14"/>
          <a:stretch>
            <a:fillRect/>
          </a:stretch>
        </p:blipFill>
        <p:spPr>
          <a:xfrm>
            <a:off x="7936992" y="5394960"/>
            <a:ext cx="365760" cy="365760"/>
          </a:xfrm>
          <a:prstGeom prst="rect">
            <a:avLst/>
          </a:prstGeom>
        </p:spPr>
      </p:pic>
      <p:sp>
        <p:nvSpPr>
          <p:cNvPr id="59" name="Text 45"/>
          <p:cNvSpPr txBox="1"/>
          <p:nvPr/>
        </p:nvSpPr>
        <p:spPr>
          <a:xfrm>
            <a:off x="8348472" y="5257800"/>
            <a:ext cx="118872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Affected buildings</a:t>
            </a:r>
            <a:endParaRPr lang="en-US" sz="1200" dirty="0"/>
          </a:p>
        </p:txBody>
      </p:sp>
      <p:sp>
        <p:nvSpPr>
          <p:cNvPr id="60" name="Shape 46"/>
          <p:cNvSpPr/>
          <p:nvPr/>
        </p:nvSpPr>
        <p:spPr>
          <a:xfrm>
            <a:off x="9729216" y="5257800"/>
            <a:ext cx="1828800" cy="640080"/>
          </a:xfrm>
          <a:prstGeom prst="roundRect">
            <a:avLst>
              <a:gd name="adj" fmla="val 50000"/>
            </a:avLst>
          </a:prstGeom>
          <a:solidFill>
            <a:srgbClr val="0B2545"/>
          </a:solidFill>
          <a:ln w="12700">
            <a:solidFill>
              <a:srgbClr val="0B2545"/>
            </a:solidFill>
            <a:prstDash val="solid"/>
          </a:ln>
        </p:spPr>
      </p:sp>
      <p:pic>
        <p:nvPicPr>
          <p:cNvPr id="61" name="Image 12" descr="preencoded.png"/>
          <p:cNvPicPr>
            <a:picLocks noChangeAspect="1"/>
          </p:cNvPicPr>
          <p:nvPr/>
        </p:nvPicPr>
        <p:blipFill>
          <a:blip r:embed="rId15"/>
          <a:stretch>
            <a:fillRect/>
          </a:stretch>
        </p:blipFill>
        <p:spPr>
          <a:xfrm>
            <a:off x="9912096" y="5394960"/>
            <a:ext cx="365760" cy="365760"/>
          </a:xfrm>
          <a:prstGeom prst="rect">
            <a:avLst/>
          </a:prstGeom>
        </p:spPr>
      </p:pic>
      <p:sp>
        <p:nvSpPr>
          <p:cNvPr id="62" name="Text 47"/>
          <p:cNvSpPr txBox="1"/>
          <p:nvPr/>
        </p:nvSpPr>
        <p:spPr>
          <a:xfrm>
            <a:off x="10323576" y="5257800"/>
            <a:ext cx="118872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Crop loss (ha)</a:t>
            </a:r>
            <a:endParaRPr lang="en-US" sz="1200" dirty="0"/>
          </a:p>
        </p:txBody>
      </p:sp>
      <p:sp>
        <p:nvSpPr>
          <p:cNvPr id="63" name="Text 48"/>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05 · DATA ACQUISITION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Drone survey design and flight planning</a:t>
            </a:r>
            <a:endParaRPr lang="en-US" sz="3000" dirty="0"/>
          </a:p>
        </p:txBody>
      </p:sp>
      <p:pic>
        <p:nvPicPr>
          <p:cNvPr id="4" name="Image 0" descr="preencoded.png"/>
          <p:cNvPicPr>
            <a:picLocks noChangeAspect="1"/>
          </p:cNvPicPr>
          <p:nvPr/>
        </p:nvPicPr>
        <p:blipFill>
          <a:blip r:embed="rId3"/>
          <a:stretch>
            <a:fillRect/>
          </a:stretch>
        </p:blipFill>
        <p:spPr>
          <a:xfrm>
            <a:off x="548640" y="1463040"/>
            <a:ext cx="5760720" cy="3840480"/>
          </a:xfrm>
          <a:prstGeom prst="rect">
            <a:avLst/>
          </a:prstGeom>
          <a:effectLst>
            <a:outerShdw blurRad="101600" dist="25400" dir="5400000" algn="bl" rotWithShape="0">
              <a:srgbClr val="000000">
                <a:alpha val="14000"/>
              </a:srgbClr>
            </a:outerShdw>
          </a:effectLst>
        </p:spPr>
      </p:pic>
      <p:sp>
        <p:nvSpPr>
          <p:cNvPr id="5" name="Text 2"/>
          <p:cNvSpPr txBox="1"/>
          <p:nvPr/>
        </p:nvSpPr>
        <p:spPr>
          <a:xfrm>
            <a:off x="548640" y="5394960"/>
            <a:ext cx="5760720" cy="457200"/>
          </a:xfrm>
          <a:prstGeom prst="rect">
            <a:avLst/>
          </a:prstGeom>
          <a:noFill/>
          <a:ln/>
        </p:spPr>
        <p:txBody>
          <a:bodyPr wrap="square" lIns="0" tIns="0" rIns="0" bIns="0" rtlCol="0" anchor="t"/>
          <a:lstStyle/>
          <a:p>
            <a:pPr marL="0" indent="0">
              <a:buNone/>
            </a:pPr>
            <a:r>
              <a:rPr lang="en-US" sz="1150" i="1" dirty="0">
                <a:solidFill>
                  <a:srgbClr val="5B6B7B"/>
                </a:solidFill>
                <a:latin typeface="Calibri" pitchFamily="34" charset="0"/>
                <a:ea typeface="Calibri" pitchFamily="34" charset="-122"/>
                <a:cs typeface="Calibri" pitchFamily="34" charset="-120"/>
              </a:rPr>
              <a:t>Lawn-mower (grid) flight pattern with overlapping image footprints over the area of interest</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29400" y="1463040"/>
          <a:ext cx="5010912" cy="3121152"/>
        </p:xfrm>
        <a:graphic>
          <a:graphicData uri="http://schemas.openxmlformats.org/drawingml/2006/table">
            <a:tbl>
              <a:tblPr/>
              <a:tblGrid>
                <a:gridCol w="1600200">
                  <a:extLst>
                    <a:ext uri="{9D8B030D-6E8A-4147-A177-3AD203B41FA5}">
                      <a16:colId xmlns:a16="http://schemas.microsoft.com/office/drawing/2014/main" val="20000"/>
                    </a:ext>
                  </a:extLst>
                </a:gridCol>
                <a:gridCol w="3410712">
                  <a:extLst>
                    <a:ext uri="{9D8B030D-6E8A-4147-A177-3AD203B41FA5}">
                      <a16:colId xmlns:a16="http://schemas.microsoft.com/office/drawing/2014/main" val="20001"/>
                    </a:ext>
                  </a:extLst>
                </a:gridCol>
              </a:tblGrid>
              <a:tr h="42062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Parameter</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Typical setting</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Multirotor for small sites; fixed-wing VTOL for large areas</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Sensor</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RGB camera; optional multispectral with NIR band</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Flight altitude</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80–120 m AGL (≤ 120 m in India’s green zones)</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Front / side overlap</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75–80% / 65–70% for reliable mosaicking</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Georeferencing</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RTK/PPK GNSS or ground control points</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Timing</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50" dirty="0">
                          <a:solidFill>
                            <a:srgbClr val="1F2D3D"/>
                          </a:solidFill>
                          <a:latin typeface="Calibri" pitchFamily="34" charset="0"/>
                          <a:ea typeface="Calibri" pitchFamily="34" charset="-122"/>
                          <a:cs typeface="Calibri" pitchFamily="34" charset="-120"/>
                        </a:rPr>
                        <a:t>Close to flood peak; avoid solar noon to limit sun glint</a:t>
                      </a:r>
                      <a:endParaRPr lang="en-US" sz="125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3"/>
          <p:cNvSpPr/>
          <p:nvPr/>
        </p:nvSpPr>
        <p:spPr>
          <a:xfrm>
            <a:off x="6629400" y="4663440"/>
            <a:ext cx="5010912" cy="1508760"/>
          </a:xfrm>
          <a:prstGeom prst="roundRect">
            <a:avLst>
              <a:gd name="adj" fmla="val 6061"/>
            </a:avLst>
          </a:prstGeom>
          <a:solidFill>
            <a:srgbClr val="0B2545"/>
          </a:solidFill>
          <a:ln w="12700">
            <a:solidFill>
              <a:srgbClr val="0B2545"/>
            </a:solidFill>
            <a:prstDash val="solid"/>
          </a:ln>
        </p:spPr>
      </p:sp>
      <p:sp>
        <p:nvSpPr>
          <p:cNvPr id="6" name="Text 4"/>
          <p:cNvSpPr txBox="1"/>
          <p:nvPr/>
        </p:nvSpPr>
        <p:spPr>
          <a:xfrm>
            <a:off x="6858000" y="4754880"/>
            <a:ext cx="4663440" cy="1325880"/>
          </a:xfrm>
          <a:prstGeom prst="rect">
            <a:avLst/>
          </a:prstGeom>
          <a:noFill/>
          <a:ln/>
        </p:spPr>
        <p:txBody>
          <a:bodyPr wrap="square" lIns="0" tIns="0" rIns="0" bIns="0" rtlCol="0" anchor="ctr"/>
          <a:lstStyle/>
          <a:p>
            <a:pPr marL="0" indent="0">
              <a:spcAft>
                <a:spcPts val="400"/>
              </a:spcAft>
              <a:buNone/>
            </a:pPr>
            <a:r>
              <a:rPr lang="en-US" sz="1400" b="1" dirty="0">
                <a:solidFill>
                  <a:srgbClr val="E09F3E"/>
                </a:solidFill>
                <a:latin typeface="Calibri" pitchFamily="34" charset="0"/>
                <a:ea typeface="Calibri" pitchFamily="34" charset="-122"/>
                <a:cs typeface="Calibri" pitchFamily="34" charset="-120"/>
              </a:rPr>
              <a:t>Ground Sampling Distance (GSD)</a:t>
            </a:r>
            <a:endParaRPr lang="en-US" sz="1400" dirty="0"/>
          </a:p>
          <a:p>
            <a:pPr marL="0" indent="0">
              <a:spcAft>
                <a:spcPts val="400"/>
              </a:spcAft>
              <a:buNone/>
            </a:pPr>
            <a:r>
              <a:rPr lang="en-US" sz="1400" b="1" dirty="0">
                <a:solidFill>
                  <a:srgbClr val="FFFFFF"/>
                </a:solidFill>
                <a:latin typeface="Calibri" pitchFamily="34" charset="0"/>
                <a:ea typeface="Calibri" pitchFamily="34" charset="-122"/>
                <a:cs typeface="Calibri" pitchFamily="34" charset="-120"/>
              </a:rPr>
              <a:t>GSD = (Sensor width × Altitude) / (Focal length × Image width)</a:t>
            </a:r>
            <a:endParaRPr lang="en-US" sz="1400" dirty="0"/>
          </a:p>
          <a:p>
            <a:pPr marL="0" indent="0">
              <a:spcAft>
                <a:spcPts val="400"/>
              </a:spcAft>
              <a:buNone/>
            </a:pPr>
            <a:r>
              <a:rPr lang="en-US" sz="1300" dirty="0">
                <a:solidFill>
                  <a:srgbClr val="CADCFC"/>
                </a:solidFill>
                <a:latin typeface="Calibri" pitchFamily="34" charset="0"/>
                <a:ea typeface="Calibri" pitchFamily="34" charset="-122"/>
                <a:cs typeface="Calibri" pitchFamily="34" charset="-120"/>
              </a:rPr>
              <a:t>Example: 13.2 mm × 100 m / (8.8 mm × 5472 px) ≈ 2.7 cm per pixel</a:t>
            </a:r>
            <a:endParaRPr lang="en-US" sz="1400" dirty="0"/>
          </a:p>
        </p:txBody>
      </p:sp>
      <p:sp>
        <p:nvSpPr>
          <p:cNvPr id="9" name="Text 5"/>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06 · PREPROCESSING</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From raw photos to analysis-ready tiles</a:t>
            </a:r>
            <a:endParaRPr lang="en-US" sz="3000" dirty="0"/>
          </a:p>
        </p:txBody>
      </p:sp>
      <p:sp>
        <p:nvSpPr>
          <p:cNvPr id="4" name="Shape 2"/>
          <p:cNvSpPr/>
          <p:nvPr/>
        </p:nvSpPr>
        <p:spPr>
          <a:xfrm>
            <a:off x="548640" y="1463040"/>
            <a:ext cx="2057400" cy="1783080"/>
          </a:xfrm>
          <a:prstGeom prst="roundRect">
            <a:avLst>
              <a:gd name="adj" fmla="val 5128"/>
            </a:avLst>
          </a:prstGeom>
          <a:solidFill>
            <a:srgbClr val="EEF4F7"/>
          </a:solidFill>
          <a:ln w="12700">
            <a:solidFill>
              <a:srgbClr val="EEF4F7"/>
            </a:solidFill>
            <a:prstDash val="solid"/>
          </a:ln>
        </p:spPr>
      </p:sp>
      <p:sp>
        <p:nvSpPr>
          <p:cNvPr id="5" name="Shape 3"/>
          <p:cNvSpPr/>
          <p:nvPr/>
        </p:nvSpPr>
        <p:spPr>
          <a:xfrm>
            <a:off x="731520" y="1600200"/>
            <a:ext cx="502920" cy="502920"/>
          </a:xfrm>
          <a:prstGeom prst="ellipse">
            <a:avLst/>
          </a:prstGeom>
          <a:solidFill>
            <a:srgbClr val="1B9AAA"/>
          </a:solidFill>
          <a:ln w="12700">
            <a:solidFill>
              <a:srgbClr val="1B9AAA"/>
            </a:solidFill>
            <a:prstDash val="solid"/>
          </a:ln>
        </p:spPr>
      </p:sp>
      <p:sp>
        <p:nvSpPr>
          <p:cNvPr id="6" name="Text 4"/>
          <p:cNvSpPr txBox="1"/>
          <p:nvPr/>
        </p:nvSpPr>
        <p:spPr>
          <a:xfrm>
            <a:off x="73152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31520" y="2176272"/>
            <a:ext cx="173736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Image quality check</a:t>
            </a:r>
            <a:endParaRPr lang="en-US" sz="1400" dirty="0"/>
          </a:p>
        </p:txBody>
      </p:sp>
      <p:sp>
        <p:nvSpPr>
          <p:cNvPr id="8" name="Text 6"/>
          <p:cNvSpPr txBox="1"/>
          <p:nvPr/>
        </p:nvSpPr>
        <p:spPr>
          <a:xfrm>
            <a:off x="731520" y="2560320"/>
            <a:ext cx="1737360" cy="64008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Discard blurred, over-exposed and oblique frames</a:t>
            </a:r>
            <a:endParaRPr lang="en-US" sz="1200" dirty="0"/>
          </a:p>
        </p:txBody>
      </p:sp>
      <p:sp>
        <p:nvSpPr>
          <p:cNvPr id="9" name="Shape 7"/>
          <p:cNvSpPr/>
          <p:nvPr/>
        </p:nvSpPr>
        <p:spPr>
          <a:xfrm>
            <a:off x="2624328" y="2354580"/>
            <a:ext cx="164592" cy="0"/>
          </a:xfrm>
          <a:prstGeom prst="line">
            <a:avLst/>
          </a:prstGeom>
          <a:noFill/>
          <a:ln w="22225">
            <a:solidFill>
              <a:srgbClr val="0B2545"/>
            </a:solidFill>
            <a:prstDash val="solid"/>
            <a:tailEnd type="triangle"/>
          </a:ln>
        </p:spPr>
      </p:sp>
      <p:sp>
        <p:nvSpPr>
          <p:cNvPr id="10" name="Shape 8"/>
          <p:cNvSpPr/>
          <p:nvPr/>
        </p:nvSpPr>
        <p:spPr>
          <a:xfrm>
            <a:off x="2807208" y="1463040"/>
            <a:ext cx="2057400" cy="1783080"/>
          </a:xfrm>
          <a:prstGeom prst="roundRect">
            <a:avLst>
              <a:gd name="adj" fmla="val 5128"/>
            </a:avLst>
          </a:prstGeom>
          <a:solidFill>
            <a:srgbClr val="EEF4F7"/>
          </a:solidFill>
          <a:ln w="12700">
            <a:solidFill>
              <a:srgbClr val="EEF4F7"/>
            </a:solidFill>
            <a:prstDash val="solid"/>
          </a:ln>
        </p:spPr>
      </p:sp>
      <p:sp>
        <p:nvSpPr>
          <p:cNvPr id="11" name="Shape 9"/>
          <p:cNvSpPr/>
          <p:nvPr/>
        </p:nvSpPr>
        <p:spPr>
          <a:xfrm>
            <a:off x="2990088" y="1600200"/>
            <a:ext cx="502920" cy="502920"/>
          </a:xfrm>
          <a:prstGeom prst="ellipse">
            <a:avLst/>
          </a:prstGeom>
          <a:solidFill>
            <a:srgbClr val="1B9AAA"/>
          </a:solidFill>
          <a:ln w="12700">
            <a:solidFill>
              <a:srgbClr val="1B9AAA"/>
            </a:solidFill>
            <a:prstDash val="solid"/>
          </a:ln>
        </p:spPr>
      </p:sp>
      <p:sp>
        <p:nvSpPr>
          <p:cNvPr id="12" name="Text 10"/>
          <p:cNvSpPr txBox="1"/>
          <p:nvPr/>
        </p:nvSpPr>
        <p:spPr>
          <a:xfrm>
            <a:off x="2990088"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2990088" y="2176272"/>
            <a:ext cx="173736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Structure-from-Motion</a:t>
            </a:r>
            <a:endParaRPr lang="en-US" sz="1400" dirty="0"/>
          </a:p>
        </p:txBody>
      </p:sp>
      <p:sp>
        <p:nvSpPr>
          <p:cNvPr id="14" name="Text 12"/>
          <p:cNvSpPr txBox="1"/>
          <p:nvPr/>
        </p:nvSpPr>
        <p:spPr>
          <a:xfrm>
            <a:off x="2990088" y="2560320"/>
            <a:ext cx="1737360" cy="64008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Match tie points and run bundle adjustment to align images</a:t>
            </a:r>
            <a:endParaRPr lang="en-US" sz="1200" dirty="0"/>
          </a:p>
        </p:txBody>
      </p:sp>
      <p:sp>
        <p:nvSpPr>
          <p:cNvPr id="15" name="Shape 13"/>
          <p:cNvSpPr/>
          <p:nvPr/>
        </p:nvSpPr>
        <p:spPr>
          <a:xfrm>
            <a:off x="4882896" y="2354580"/>
            <a:ext cx="164592" cy="0"/>
          </a:xfrm>
          <a:prstGeom prst="line">
            <a:avLst/>
          </a:prstGeom>
          <a:noFill/>
          <a:ln w="22225">
            <a:solidFill>
              <a:srgbClr val="0B2545"/>
            </a:solidFill>
            <a:prstDash val="solid"/>
            <a:tailEnd type="triangle"/>
          </a:ln>
        </p:spPr>
      </p:sp>
      <p:sp>
        <p:nvSpPr>
          <p:cNvPr id="16" name="Shape 14"/>
          <p:cNvSpPr/>
          <p:nvPr/>
        </p:nvSpPr>
        <p:spPr>
          <a:xfrm>
            <a:off x="5065776" y="1463040"/>
            <a:ext cx="2057400" cy="1783080"/>
          </a:xfrm>
          <a:prstGeom prst="roundRect">
            <a:avLst>
              <a:gd name="adj" fmla="val 5128"/>
            </a:avLst>
          </a:prstGeom>
          <a:solidFill>
            <a:srgbClr val="EEF4F7"/>
          </a:solidFill>
          <a:ln w="12700">
            <a:solidFill>
              <a:srgbClr val="EEF4F7"/>
            </a:solidFill>
            <a:prstDash val="solid"/>
          </a:ln>
        </p:spPr>
      </p:sp>
      <p:sp>
        <p:nvSpPr>
          <p:cNvPr id="17" name="Shape 15"/>
          <p:cNvSpPr/>
          <p:nvPr/>
        </p:nvSpPr>
        <p:spPr>
          <a:xfrm>
            <a:off x="5248656" y="1600200"/>
            <a:ext cx="502920" cy="502920"/>
          </a:xfrm>
          <a:prstGeom prst="ellipse">
            <a:avLst/>
          </a:prstGeom>
          <a:solidFill>
            <a:srgbClr val="1B9AAA"/>
          </a:solidFill>
          <a:ln w="12700">
            <a:solidFill>
              <a:srgbClr val="1B9AAA"/>
            </a:solidFill>
            <a:prstDash val="solid"/>
          </a:ln>
        </p:spPr>
      </p:sp>
      <p:sp>
        <p:nvSpPr>
          <p:cNvPr id="18" name="Text 16"/>
          <p:cNvSpPr txBox="1"/>
          <p:nvPr/>
        </p:nvSpPr>
        <p:spPr>
          <a:xfrm>
            <a:off x="5248656"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5248656" y="2176272"/>
            <a:ext cx="173736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Orthomosaic &amp; DSM</a:t>
            </a:r>
            <a:endParaRPr lang="en-US" sz="1400" dirty="0"/>
          </a:p>
        </p:txBody>
      </p:sp>
      <p:sp>
        <p:nvSpPr>
          <p:cNvPr id="20" name="Text 18"/>
          <p:cNvSpPr txBox="1"/>
          <p:nvPr/>
        </p:nvSpPr>
        <p:spPr>
          <a:xfrm>
            <a:off x="5248656" y="2560320"/>
            <a:ext cx="1737360" cy="64008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Seamless, distortion-free map plus surface elevation model</a:t>
            </a:r>
            <a:endParaRPr lang="en-US" sz="1200" dirty="0"/>
          </a:p>
        </p:txBody>
      </p:sp>
      <p:sp>
        <p:nvSpPr>
          <p:cNvPr id="21" name="Shape 19"/>
          <p:cNvSpPr/>
          <p:nvPr/>
        </p:nvSpPr>
        <p:spPr>
          <a:xfrm>
            <a:off x="7141464" y="2354580"/>
            <a:ext cx="164592" cy="0"/>
          </a:xfrm>
          <a:prstGeom prst="line">
            <a:avLst/>
          </a:prstGeom>
          <a:noFill/>
          <a:ln w="22225">
            <a:solidFill>
              <a:srgbClr val="0B2545"/>
            </a:solidFill>
            <a:prstDash val="solid"/>
            <a:tailEnd type="triangle"/>
          </a:ln>
        </p:spPr>
      </p:sp>
      <p:sp>
        <p:nvSpPr>
          <p:cNvPr id="22" name="Shape 20"/>
          <p:cNvSpPr/>
          <p:nvPr/>
        </p:nvSpPr>
        <p:spPr>
          <a:xfrm>
            <a:off x="7324344" y="1463040"/>
            <a:ext cx="2057400" cy="1783080"/>
          </a:xfrm>
          <a:prstGeom prst="roundRect">
            <a:avLst>
              <a:gd name="adj" fmla="val 5128"/>
            </a:avLst>
          </a:prstGeom>
          <a:solidFill>
            <a:srgbClr val="EEF4F7"/>
          </a:solidFill>
          <a:ln w="12700">
            <a:solidFill>
              <a:srgbClr val="EEF4F7"/>
            </a:solidFill>
            <a:prstDash val="solid"/>
          </a:ln>
        </p:spPr>
      </p:sp>
      <p:sp>
        <p:nvSpPr>
          <p:cNvPr id="23" name="Shape 21"/>
          <p:cNvSpPr/>
          <p:nvPr/>
        </p:nvSpPr>
        <p:spPr>
          <a:xfrm>
            <a:off x="7507224" y="1600200"/>
            <a:ext cx="502920" cy="502920"/>
          </a:xfrm>
          <a:prstGeom prst="ellipse">
            <a:avLst/>
          </a:prstGeom>
          <a:solidFill>
            <a:srgbClr val="1B9AAA"/>
          </a:solidFill>
          <a:ln w="12700">
            <a:solidFill>
              <a:srgbClr val="1B9AAA"/>
            </a:solidFill>
            <a:prstDash val="solid"/>
          </a:ln>
        </p:spPr>
      </p:sp>
      <p:sp>
        <p:nvSpPr>
          <p:cNvPr id="24" name="Text 22"/>
          <p:cNvSpPr txBox="1"/>
          <p:nvPr/>
        </p:nvSpPr>
        <p:spPr>
          <a:xfrm>
            <a:off x="7507224"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7507224" y="2176272"/>
            <a:ext cx="173736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Georeferencing</a:t>
            </a:r>
            <a:endParaRPr lang="en-US" sz="1400" dirty="0"/>
          </a:p>
        </p:txBody>
      </p:sp>
      <p:sp>
        <p:nvSpPr>
          <p:cNvPr id="26" name="Text 24"/>
          <p:cNvSpPr txBox="1"/>
          <p:nvPr/>
        </p:nvSpPr>
        <p:spPr>
          <a:xfrm>
            <a:off x="7507224" y="2560320"/>
            <a:ext cx="1737360" cy="64008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Tie to GCPs / RTK; reproject to UTM (e.g., Zone 45N for most of Bihar)</a:t>
            </a:r>
            <a:endParaRPr lang="en-US" sz="1200" dirty="0"/>
          </a:p>
        </p:txBody>
      </p:sp>
      <p:sp>
        <p:nvSpPr>
          <p:cNvPr id="27" name="Shape 25"/>
          <p:cNvSpPr/>
          <p:nvPr/>
        </p:nvSpPr>
        <p:spPr>
          <a:xfrm>
            <a:off x="9400032" y="2354580"/>
            <a:ext cx="164592" cy="0"/>
          </a:xfrm>
          <a:prstGeom prst="line">
            <a:avLst/>
          </a:prstGeom>
          <a:noFill/>
          <a:ln w="22225">
            <a:solidFill>
              <a:srgbClr val="0B2545"/>
            </a:solidFill>
            <a:prstDash val="solid"/>
            <a:tailEnd type="triangle"/>
          </a:ln>
        </p:spPr>
      </p:sp>
      <p:sp>
        <p:nvSpPr>
          <p:cNvPr id="28" name="Shape 26"/>
          <p:cNvSpPr/>
          <p:nvPr/>
        </p:nvSpPr>
        <p:spPr>
          <a:xfrm>
            <a:off x="9582912" y="1463040"/>
            <a:ext cx="2057400" cy="1783080"/>
          </a:xfrm>
          <a:prstGeom prst="roundRect">
            <a:avLst>
              <a:gd name="adj" fmla="val 5128"/>
            </a:avLst>
          </a:prstGeom>
          <a:solidFill>
            <a:srgbClr val="EEF4F7"/>
          </a:solidFill>
          <a:ln w="12700">
            <a:solidFill>
              <a:srgbClr val="EEF4F7"/>
            </a:solidFill>
            <a:prstDash val="solid"/>
          </a:ln>
        </p:spPr>
      </p:sp>
      <p:sp>
        <p:nvSpPr>
          <p:cNvPr id="29" name="Shape 27"/>
          <p:cNvSpPr/>
          <p:nvPr/>
        </p:nvSpPr>
        <p:spPr>
          <a:xfrm>
            <a:off x="9765792" y="1600200"/>
            <a:ext cx="502920" cy="502920"/>
          </a:xfrm>
          <a:prstGeom prst="ellipse">
            <a:avLst/>
          </a:prstGeom>
          <a:solidFill>
            <a:srgbClr val="E09F3E"/>
          </a:solidFill>
          <a:ln w="12700">
            <a:solidFill>
              <a:srgbClr val="E09F3E"/>
            </a:solidFill>
            <a:prstDash val="solid"/>
          </a:ln>
        </p:spPr>
      </p:sp>
      <p:sp>
        <p:nvSpPr>
          <p:cNvPr id="30" name="Text 28"/>
          <p:cNvSpPr txBox="1"/>
          <p:nvPr/>
        </p:nvSpPr>
        <p:spPr>
          <a:xfrm>
            <a:off x="9765792"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txBox="1"/>
          <p:nvPr/>
        </p:nvSpPr>
        <p:spPr>
          <a:xfrm>
            <a:off x="9765792" y="2176272"/>
            <a:ext cx="173736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Tiling &amp; normalisation</a:t>
            </a:r>
            <a:endParaRPr lang="en-US" sz="1400" dirty="0"/>
          </a:p>
        </p:txBody>
      </p:sp>
      <p:sp>
        <p:nvSpPr>
          <p:cNvPr id="32" name="Text 30"/>
          <p:cNvSpPr txBox="1"/>
          <p:nvPr/>
        </p:nvSpPr>
        <p:spPr>
          <a:xfrm>
            <a:off x="9765792" y="2560320"/>
            <a:ext cx="1737360" cy="64008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512 × 512 px tiles with overlap; normalise and augment</a:t>
            </a:r>
            <a:endParaRPr lang="en-US" sz="1200" dirty="0"/>
          </a:p>
        </p:txBody>
      </p:sp>
      <p:pic>
        <p:nvPicPr>
          <p:cNvPr id="33" name="Image 0" descr="preencoded.png"/>
          <p:cNvPicPr>
            <a:picLocks noChangeAspect="1"/>
          </p:cNvPicPr>
          <p:nvPr/>
        </p:nvPicPr>
        <p:blipFill>
          <a:blip r:embed="rId3"/>
          <a:stretch>
            <a:fillRect/>
          </a:stretch>
        </p:blipFill>
        <p:spPr>
          <a:xfrm>
            <a:off x="548640" y="3520440"/>
            <a:ext cx="4251960" cy="2834640"/>
          </a:xfrm>
          <a:prstGeom prst="rect">
            <a:avLst/>
          </a:prstGeom>
          <a:effectLst>
            <a:outerShdw blurRad="101600" dist="25400" dir="5400000" algn="bl" rotWithShape="0">
              <a:srgbClr val="000000">
                <a:alpha val="14000"/>
              </a:srgbClr>
            </a:outerShdw>
          </a:effectLst>
        </p:spPr>
      </p:pic>
      <p:sp>
        <p:nvSpPr>
          <p:cNvPr id="34" name="Text 31"/>
          <p:cNvSpPr txBox="1"/>
          <p:nvPr/>
        </p:nvSpPr>
        <p:spPr>
          <a:xfrm>
            <a:off x="4983480" y="5989320"/>
            <a:ext cx="2743200" cy="36576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Orthomosaic split into tiles; highlighted tile = one model input</a:t>
            </a:r>
            <a:endParaRPr lang="en-US" sz="1100" dirty="0"/>
          </a:p>
        </p:txBody>
      </p:sp>
      <p:sp>
        <p:nvSpPr>
          <p:cNvPr id="35" name="Shape 32"/>
          <p:cNvSpPr/>
          <p:nvPr/>
        </p:nvSpPr>
        <p:spPr>
          <a:xfrm>
            <a:off x="5029200" y="3611880"/>
            <a:ext cx="548640" cy="548640"/>
          </a:xfrm>
          <a:prstGeom prst="ellipse">
            <a:avLst/>
          </a:prstGeom>
          <a:solidFill>
            <a:srgbClr val="0B2545"/>
          </a:solidFill>
          <a:ln w="12700">
            <a:solidFill>
              <a:srgbClr val="0B2545"/>
            </a:solidFill>
            <a:prstDash val="solid"/>
          </a:ln>
        </p:spPr>
      </p:sp>
      <p:pic>
        <p:nvPicPr>
          <p:cNvPr id="36" name="Image 1" descr="preencoded.png"/>
          <p:cNvPicPr>
            <a:picLocks noChangeAspect="1"/>
          </p:cNvPicPr>
          <p:nvPr/>
        </p:nvPicPr>
        <p:blipFill>
          <a:blip r:embed="rId4"/>
          <a:stretch>
            <a:fillRect/>
          </a:stretch>
        </p:blipFill>
        <p:spPr>
          <a:xfrm>
            <a:off x="5171846" y="3754526"/>
            <a:ext cx="263347" cy="263347"/>
          </a:xfrm>
          <a:prstGeom prst="rect">
            <a:avLst/>
          </a:prstGeom>
        </p:spPr>
      </p:pic>
      <p:sp>
        <p:nvSpPr>
          <p:cNvPr id="37" name="Text 33"/>
          <p:cNvSpPr txBox="1"/>
          <p:nvPr/>
        </p:nvSpPr>
        <p:spPr>
          <a:xfrm>
            <a:off x="5760720" y="3566160"/>
            <a:ext cx="5852160" cy="65836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Photogrammetry:  </a:t>
            </a:r>
            <a:r>
              <a:rPr lang="en-US" sz="1400" dirty="0">
                <a:solidFill>
                  <a:srgbClr val="1F2D3D"/>
                </a:solidFill>
                <a:latin typeface="Calibri" pitchFamily="34" charset="0"/>
                <a:ea typeface="Calibri" pitchFamily="34" charset="-122"/>
                <a:cs typeface="Calibri" pitchFamily="34" charset="-120"/>
              </a:rPr>
              <a:t>Agisoft Metashape, Pix4Dmapper, OpenDroneMap (WebODM)</a:t>
            </a:r>
            <a:endParaRPr lang="en-US" sz="1400" dirty="0"/>
          </a:p>
        </p:txBody>
      </p:sp>
      <p:sp>
        <p:nvSpPr>
          <p:cNvPr id="38" name="Shape 34"/>
          <p:cNvSpPr/>
          <p:nvPr/>
        </p:nvSpPr>
        <p:spPr>
          <a:xfrm>
            <a:off x="5029200" y="4407408"/>
            <a:ext cx="548640" cy="548640"/>
          </a:xfrm>
          <a:prstGeom prst="ellipse">
            <a:avLst/>
          </a:prstGeom>
          <a:solidFill>
            <a:srgbClr val="0B2545"/>
          </a:solidFill>
          <a:ln w="12700">
            <a:solidFill>
              <a:srgbClr val="0B2545"/>
            </a:solidFill>
            <a:prstDash val="solid"/>
          </a:ln>
        </p:spPr>
      </p:sp>
      <p:pic>
        <p:nvPicPr>
          <p:cNvPr id="39" name="Image 2" descr="preencoded.png"/>
          <p:cNvPicPr>
            <a:picLocks noChangeAspect="1"/>
          </p:cNvPicPr>
          <p:nvPr/>
        </p:nvPicPr>
        <p:blipFill>
          <a:blip r:embed="rId5"/>
          <a:stretch>
            <a:fillRect/>
          </a:stretch>
        </p:blipFill>
        <p:spPr>
          <a:xfrm>
            <a:off x="5171846" y="4550054"/>
            <a:ext cx="263347" cy="263347"/>
          </a:xfrm>
          <a:prstGeom prst="rect">
            <a:avLst/>
          </a:prstGeom>
        </p:spPr>
      </p:pic>
      <p:sp>
        <p:nvSpPr>
          <p:cNvPr id="40" name="Text 35"/>
          <p:cNvSpPr txBox="1"/>
          <p:nvPr/>
        </p:nvSpPr>
        <p:spPr>
          <a:xfrm>
            <a:off x="5760720" y="4361688"/>
            <a:ext cx="5852160" cy="65836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Geoprocessing:  </a:t>
            </a:r>
            <a:r>
              <a:rPr lang="en-US" sz="1400" dirty="0">
                <a:solidFill>
                  <a:srgbClr val="1F2D3D"/>
                </a:solidFill>
                <a:latin typeface="Calibri" pitchFamily="34" charset="0"/>
                <a:ea typeface="Calibri" pitchFamily="34" charset="-122"/>
                <a:cs typeface="Calibri" pitchFamily="34" charset="-120"/>
              </a:rPr>
              <a:t>GDAL, Rasterio, QGIS for reprojection, clipping and tiling</a:t>
            </a:r>
            <a:endParaRPr lang="en-US" sz="1400" dirty="0"/>
          </a:p>
        </p:txBody>
      </p:sp>
      <p:sp>
        <p:nvSpPr>
          <p:cNvPr id="41" name="Shape 36"/>
          <p:cNvSpPr/>
          <p:nvPr/>
        </p:nvSpPr>
        <p:spPr>
          <a:xfrm>
            <a:off x="5029200" y="5202936"/>
            <a:ext cx="548640" cy="548640"/>
          </a:xfrm>
          <a:prstGeom prst="ellipse">
            <a:avLst/>
          </a:prstGeom>
          <a:solidFill>
            <a:srgbClr val="0B2545"/>
          </a:solidFill>
          <a:ln w="12700">
            <a:solidFill>
              <a:srgbClr val="0B2545"/>
            </a:solidFill>
            <a:prstDash val="solid"/>
          </a:ln>
        </p:spPr>
      </p:sp>
      <p:pic>
        <p:nvPicPr>
          <p:cNvPr id="42" name="Image 3" descr="preencoded.png"/>
          <p:cNvPicPr>
            <a:picLocks noChangeAspect="1"/>
          </p:cNvPicPr>
          <p:nvPr/>
        </p:nvPicPr>
        <p:blipFill>
          <a:blip r:embed="rId6"/>
          <a:stretch>
            <a:fillRect/>
          </a:stretch>
        </p:blipFill>
        <p:spPr>
          <a:xfrm>
            <a:off x="5171846" y="5345582"/>
            <a:ext cx="263347" cy="263347"/>
          </a:xfrm>
          <a:prstGeom prst="rect">
            <a:avLst/>
          </a:prstGeom>
        </p:spPr>
      </p:pic>
      <p:sp>
        <p:nvSpPr>
          <p:cNvPr id="43" name="Text 37"/>
          <p:cNvSpPr txBox="1"/>
          <p:nvPr/>
        </p:nvSpPr>
        <p:spPr>
          <a:xfrm>
            <a:off x="5760720" y="5157216"/>
            <a:ext cx="5852160" cy="65836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Augmentation:  </a:t>
            </a:r>
            <a:r>
              <a:rPr lang="en-US" sz="1400" dirty="0">
                <a:solidFill>
                  <a:srgbClr val="1F2D3D"/>
                </a:solidFill>
                <a:latin typeface="Calibri" pitchFamily="34" charset="0"/>
                <a:ea typeface="Calibri" pitchFamily="34" charset="-122"/>
                <a:cs typeface="Calibri" pitchFamily="34" charset="-120"/>
              </a:rPr>
              <a:t>Flips, rotations, brightness/contrast and hue shifts to mimic turbid water and lighting changes</a:t>
            </a:r>
            <a:endParaRPr lang="en-US" sz="1400" dirty="0"/>
          </a:p>
        </p:txBody>
      </p:sp>
      <p:sp>
        <p:nvSpPr>
          <p:cNvPr id="44" name="Text 38"/>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07 · WATER DETECTION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Techniques for identifying water-covered regions</a:t>
            </a:r>
            <a:endParaRPr lang="en-US" sz="3000" dirty="0"/>
          </a:p>
        </p:txBody>
      </p:sp>
      <p:sp>
        <p:nvSpPr>
          <p:cNvPr id="4" name="Shape 2"/>
          <p:cNvSpPr/>
          <p:nvPr/>
        </p:nvSpPr>
        <p:spPr>
          <a:xfrm>
            <a:off x="548640" y="1508760"/>
            <a:ext cx="3557016" cy="4663440"/>
          </a:xfrm>
          <a:prstGeom prst="roundRect">
            <a:avLst>
              <a:gd name="adj" fmla="val 3085"/>
            </a:avLst>
          </a:prstGeom>
          <a:solidFill>
            <a:srgbClr val="EEF4F7"/>
          </a:solidFill>
          <a:ln w="12700">
            <a:solidFill>
              <a:srgbClr val="EEF4F7"/>
            </a:solidFill>
            <a:prstDash val="solid"/>
          </a:ln>
        </p:spPr>
      </p:sp>
      <p:sp>
        <p:nvSpPr>
          <p:cNvPr id="5" name="Shape 3"/>
          <p:cNvSpPr/>
          <p:nvPr/>
        </p:nvSpPr>
        <p:spPr>
          <a:xfrm>
            <a:off x="822960" y="1783080"/>
            <a:ext cx="640080" cy="640080"/>
          </a:xfrm>
          <a:prstGeom prst="ellipse">
            <a:avLst/>
          </a:prstGeom>
          <a:solidFill>
            <a:srgbClr val="1B9AAA"/>
          </a:solidFill>
          <a:ln w="12700">
            <a:solidFill>
              <a:srgbClr val="1B9AAA"/>
            </a:solidFill>
            <a:prstDash val="solid"/>
          </a:ln>
        </p:spPr>
      </p:sp>
      <p:pic>
        <p:nvPicPr>
          <p:cNvPr id="6" name="Image 0" descr="preencoded.png"/>
          <p:cNvPicPr>
            <a:picLocks noChangeAspect="1"/>
          </p:cNvPicPr>
          <p:nvPr/>
        </p:nvPicPr>
        <p:blipFill>
          <a:blip r:embed="rId3"/>
          <a:stretch>
            <a:fillRect/>
          </a:stretch>
        </p:blipFill>
        <p:spPr>
          <a:xfrm>
            <a:off x="989381" y="1949501"/>
            <a:ext cx="307238" cy="307238"/>
          </a:xfrm>
          <a:prstGeom prst="rect">
            <a:avLst/>
          </a:prstGeom>
        </p:spPr>
      </p:pic>
      <p:sp>
        <p:nvSpPr>
          <p:cNvPr id="7" name="Text 4"/>
          <p:cNvSpPr txBox="1"/>
          <p:nvPr/>
        </p:nvSpPr>
        <p:spPr>
          <a:xfrm>
            <a:off x="822960" y="2560320"/>
            <a:ext cx="3008376" cy="457200"/>
          </a:xfrm>
          <a:prstGeom prst="rect">
            <a:avLst/>
          </a:prstGeom>
          <a:noFill/>
          <a:ln/>
        </p:spPr>
        <p:txBody>
          <a:bodyPr wrap="square" lIns="0" tIns="0" rIns="0" bIns="0" rtlCol="0" anchor="ctr"/>
          <a:lstStyle/>
          <a:p>
            <a:pPr marL="0" indent="0">
              <a:buNone/>
            </a:pPr>
            <a:r>
              <a:rPr lang="en-US" sz="1900" b="1" dirty="0">
                <a:solidFill>
                  <a:srgbClr val="0B2545"/>
                </a:solidFill>
                <a:latin typeface="Cambria" pitchFamily="34" charset="0"/>
                <a:ea typeface="Cambria" pitchFamily="34" charset="-122"/>
                <a:cs typeface="Cambria" pitchFamily="34" charset="-120"/>
              </a:rPr>
              <a:t>Index &amp; threshold based</a:t>
            </a:r>
            <a:endParaRPr lang="en-US" sz="1900" dirty="0"/>
          </a:p>
        </p:txBody>
      </p:sp>
      <p:sp>
        <p:nvSpPr>
          <p:cNvPr id="8" name="Text 5"/>
          <p:cNvSpPr txBox="1"/>
          <p:nvPr/>
        </p:nvSpPr>
        <p:spPr>
          <a:xfrm>
            <a:off x="822960" y="3154680"/>
            <a:ext cx="3054096" cy="2926080"/>
          </a:xfrm>
          <a:prstGeom prst="rect">
            <a:avLst/>
          </a:prstGeom>
          <a:noFill/>
          <a:ln/>
        </p:spPr>
        <p:txBody>
          <a:bodyPr wrap="square" lIns="0" tIns="0" rIns="0" bIns="0" rtlCol="0" anchor="t"/>
          <a:lstStyle/>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HOW IT WORKS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NDWI = (Green − NIR) / (Green + NIR) for multispectral drones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Colour (HSV) rules and Otsu thresholding for RGB drones</a:t>
            </a:r>
            <a:endParaRPr lang="en-US" sz="1400" dirty="0"/>
          </a:p>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STRENGTHS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Fast; no training data needed</a:t>
            </a:r>
            <a:endParaRPr lang="en-US" sz="1400" dirty="0"/>
          </a:p>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LIMITATIONS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Fails on muddy water, shadows and sun glint; thresholds do not transfer between sites</a:t>
            </a:r>
            <a:endParaRPr lang="en-US" sz="1400" dirty="0"/>
          </a:p>
        </p:txBody>
      </p:sp>
      <p:sp>
        <p:nvSpPr>
          <p:cNvPr id="9" name="Shape 6"/>
          <p:cNvSpPr/>
          <p:nvPr/>
        </p:nvSpPr>
        <p:spPr>
          <a:xfrm>
            <a:off x="4315968" y="1508760"/>
            <a:ext cx="3557016" cy="4663440"/>
          </a:xfrm>
          <a:prstGeom prst="roundRect">
            <a:avLst>
              <a:gd name="adj" fmla="val 3085"/>
            </a:avLst>
          </a:prstGeom>
          <a:solidFill>
            <a:srgbClr val="EEF4F7"/>
          </a:solidFill>
          <a:ln w="12700">
            <a:solidFill>
              <a:srgbClr val="EEF4F7"/>
            </a:solidFill>
            <a:prstDash val="solid"/>
          </a:ln>
        </p:spPr>
      </p:sp>
      <p:sp>
        <p:nvSpPr>
          <p:cNvPr id="10" name="Shape 7"/>
          <p:cNvSpPr/>
          <p:nvPr/>
        </p:nvSpPr>
        <p:spPr>
          <a:xfrm>
            <a:off x="4590288" y="1783080"/>
            <a:ext cx="640080" cy="640080"/>
          </a:xfrm>
          <a:prstGeom prst="ellipse">
            <a:avLst/>
          </a:prstGeom>
          <a:solidFill>
            <a:srgbClr val="1B9AAA"/>
          </a:solidFill>
          <a:ln w="12700">
            <a:solidFill>
              <a:srgbClr val="1B9AAA"/>
            </a:solidFill>
            <a:prstDash val="solid"/>
          </a:ln>
        </p:spPr>
      </p:sp>
      <p:pic>
        <p:nvPicPr>
          <p:cNvPr id="11" name="Image 1" descr="preencoded.png"/>
          <p:cNvPicPr>
            <a:picLocks noChangeAspect="1"/>
          </p:cNvPicPr>
          <p:nvPr/>
        </p:nvPicPr>
        <p:blipFill>
          <a:blip r:embed="rId4"/>
          <a:stretch>
            <a:fillRect/>
          </a:stretch>
        </p:blipFill>
        <p:spPr>
          <a:xfrm>
            <a:off x="4756709" y="1949501"/>
            <a:ext cx="307238" cy="307238"/>
          </a:xfrm>
          <a:prstGeom prst="rect">
            <a:avLst/>
          </a:prstGeom>
        </p:spPr>
      </p:pic>
      <p:sp>
        <p:nvSpPr>
          <p:cNvPr id="12" name="Text 8"/>
          <p:cNvSpPr txBox="1"/>
          <p:nvPr/>
        </p:nvSpPr>
        <p:spPr>
          <a:xfrm>
            <a:off x="4590288" y="2560320"/>
            <a:ext cx="3008376" cy="457200"/>
          </a:xfrm>
          <a:prstGeom prst="rect">
            <a:avLst/>
          </a:prstGeom>
          <a:noFill/>
          <a:ln/>
        </p:spPr>
        <p:txBody>
          <a:bodyPr wrap="square" lIns="0" tIns="0" rIns="0" bIns="0" rtlCol="0" anchor="ctr"/>
          <a:lstStyle/>
          <a:p>
            <a:pPr marL="0" indent="0">
              <a:buNone/>
            </a:pPr>
            <a:r>
              <a:rPr lang="en-US" sz="1900" b="1" dirty="0">
                <a:solidFill>
                  <a:srgbClr val="0B2545"/>
                </a:solidFill>
                <a:latin typeface="Cambria" pitchFamily="34" charset="0"/>
                <a:ea typeface="Cambria" pitchFamily="34" charset="-122"/>
                <a:cs typeface="Cambria" pitchFamily="34" charset="-120"/>
              </a:rPr>
              <a:t>Classical machine learning</a:t>
            </a:r>
            <a:endParaRPr lang="en-US" sz="1900" dirty="0"/>
          </a:p>
        </p:txBody>
      </p:sp>
      <p:sp>
        <p:nvSpPr>
          <p:cNvPr id="13" name="Text 9"/>
          <p:cNvSpPr txBox="1"/>
          <p:nvPr/>
        </p:nvSpPr>
        <p:spPr>
          <a:xfrm>
            <a:off x="4590288" y="3154680"/>
            <a:ext cx="3054096" cy="2926080"/>
          </a:xfrm>
          <a:prstGeom prst="rect">
            <a:avLst/>
          </a:prstGeom>
          <a:noFill/>
          <a:ln/>
        </p:spPr>
        <p:txBody>
          <a:bodyPr wrap="square" lIns="0" tIns="0" rIns="0" bIns="0" rtlCol="0" anchor="t"/>
          <a:lstStyle/>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HOW IT WORKS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Random Forest or SVM on colour, texture (GLCM) and index features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Object-based image analysis (OBIA)</a:t>
            </a:r>
            <a:endParaRPr lang="en-US" sz="1400" dirty="0"/>
          </a:p>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STRENGTHS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Works with small labelled sets; interpretable</a:t>
            </a:r>
            <a:endParaRPr lang="en-US" sz="1400" dirty="0"/>
          </a:p>
          <a:p>
            <a:pPr marL="0" indent="0">
              <a:spcAft>
                <a:spcPts val="500"/>
              </a:spcAft>
              <a:buNone/>
            </a:pPr>
            <a:r>
              <a:rPr lang="en-US" sz="1100" b="1" kern="0" spc="200" dirty="0">
                <a:solidFill>
                  <a:srgbClr val="1B9AAA"/>
                </a:solidFill>
                <a:latin typeface="Calibri" pitchFamily="34" charset="0"/>
                <a:ea typeface="Calibri" pitchFamily="34" charset="-122"/>
                <a:cs typeface="Calibri" pitchFamily="34" charset="-120"/>
              </a:rPr>
              <a:t>LIMITATIONS</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Hand-crafted features; limited spatial context</a:t>
            </a:r>
            <a:endParaRPr lang="en-US" sz="1400" dirty="0"/>
          </a:p>
        </p:txBody>
      </p:sp>
      <p:sp>
        <p:nvSpPr>
          <p:cNvPr id="14" name="Shape 10"/>
          <p:cNvSpPr/>
          <p:nvPr/>
        </p:nvSpPr>
        <p:spPr>
          <a:xfrm>
            <a:off x="8083296" y="1508760"/>
            <a:ext cx="3557016" cy="4663440"/>
          </a:xfrm>
          <a:prstGeom prst="roundRect">
            <a:avLst>
              <a:gd name="adj" fmla="val 3085"/>
            </a:avLst>
          </a:prstGeom>
          <a:solidFill>
            <a:srgbClr val="0B2545"/>
          </a:solidFill>
          <a:ln w="12700">
            <a:solidFill>
              <a:srgbClr val="0B2545"/>
            </a:solidFill>
            <a:prstDash val="solid"/>
          </a:ln>
        </p:spPr>
      </p:sp>
      <p:sp>
        <p:nvSpPr>
          <p:cNvPr id="15" name="Shape 11"/>
          <p:cNvSpPr/>
          <p:nvPr/>
        </p:nvSpPr>
        <p:spPr>
          <a:xfrm>
            <a:off x="8357616" y="1783080"/>
            <a:ext cx="640080" cy="640080"/>
          </a:xfrm>
          <a:prstGeom prst="ellipse">
            <a:avLst/>
          </a:prstGeom>
          <a:solidFill>
            <a:srgbClr val="E09F3E"/>
          </a:solidFill>
          <a:ln w="12700">
            <a:solidFill>
              <a:srgbClr val="E09F3E"/>
            </a:solidFill>
            <a:prstDash val="solid"/>
          </a:ln>
        </p:spPr>
      </p:sp>
      <p:pic>
        <p:nvPicPr>
          <p:cNvPr id="16" name="Image 2" descr="preencoded.png"/>
          <p:cNvPicPr>
            <a:picLocks noChangeAspect="1"/>
          </p:cNvPicPr>
          <p:nvPr/>
        </p:nvPicPr>
        <p:blipFill>
          <a:blip r:embed="rId5"/>
          <a:stretch>
            <a:fillRect/>
          </a:stretch>
        </p:blipFill>
        <p:spPr>
          <a:xfrm>
            <a:off x="8524037" y="1949501"/>
            <a:ext cx="307238" cy="307238"/>
          </a:xfrm>
          <a:prstGeom prst="rect">
            <a:avLst/>
          </a:prstGeom>
        </p:spPr>
      </p:pic>
      <p:sp>
        <p:nvSpPr>
          <p:cNvPr id="17" name="Shape 12"/>
          <p:cNvSpPr/>
          <p:nvPr/>
        </p:nvSpPr>
        <p:spPr>
          <a:xfrm>
            <a:off x="10040112" y="1920240"/>
            <a:ext cx="1325880" cy="365760"/>
          </a:xfrm>
          <a:prstGeom prst="roundRect">
            <a:avLst>
              <a:gd name="adj" fmla="val 50000"/>
            </a:avLst>
          </a:prstGeom>
          <a:solidFill>
            <a:srgbClr val="E09F3E"/>
          </a:solidFill>
          <a:ln w="12700">
            <a:solidFill>
              <a:srgbClr val="E09F3E"/>
            </a:solidFill>
            <a:prstDash val="solid"/>
          </a:ln>
        </p:spPr>
      </p:sp>
      <p:sp>
        <p:nvSpPr>
          <p:cNvPr id="18" name="Text 13"/>
          <p:cNvSpPr txBox="1"/>
          <p:nvPr/>
        </p:nvSpPr>
        <p:spPr>
          <a:xfrm>
            <a:off x="10040112" y="1920240"/>
            <a:ext cx="1325880" cy="365760"/>
          </a:xfrm>
          <a:prstGeom prst="rect">
            <a:avLst/>
          </a:prstGeom>
          <a:noFill/>
          <a:ln/>
        </p:spPr>
        <p:txBody>
          <a:bodyPr wrap="square" lIns="0" tIns="0" rIns="0" bIns="0"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SELECTED</a:t>
            </a:r>
            <a:endParaRPr lang="en-US" sz="1100" dirty="0"/>
          </a:p>
        </p:txBody>
      </p:sp>
      <p:sp>
        <p:nvSpPr>
          <p:cNvPr id="19" name="Text 14"/>
          <p:cNvSpPr txBox="1"/>
          <p:nvPr/>
        </p:nvSpPr>
        <p:spPr>
          <a:xfrm>
            <a:off x="8357616" y="2560320"/>
            <a:ext cx="3008376"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Deep learning (CNNs)</a:t>
            </a:r>
            <a:endParaRPr lang="en-US" sz="1900" dirty="0"/>
          </a:p>
        </p:txBody>
      </p:sp>
      <p:sp>
        <p:nvSpPr>
          <p:cNvPr id="20" name="Text 15"/>
          <p:cNvSpPr txBox="1"/>
          <p:nvPr/>
        </p:nvSpPr>
        <p:spPr>
          <a:xfrm>
            <a:off x="8357616" y="3154680"/>
            <a:ext cx="3054096" cy="2926080"/>
          </a:xfrm>
          <a:prstGeom prst="rect">
            <a:avLst/>
          </a:prstGeom>
          <a:noFill/>
          <a:ln/>
        </p:spPr>
        <p:txBody>
          <a:bodyPr wrap="square" lIns="0" tIns="0" rIns="0" bIns="0" rtlCol="0" anchor="t"/>
          <a:lstStyle/>
          <a:p>
            <a:pPr marL="0" indent="0">
              <a:spcAft>
                <a:spcPts val="500"/>
              </a:spcAft>
              <a:buNone/>
            </a:pPr>
            <a:r>
              <a:rPr lang="en-US" sz="1100" b="1" kern="0" spc="200" dirty="0">
                <a:solidFill>
                  <a:srgbClr val="E09F3E"/>
                </a:solidFill>
                <a:latin typeface="Calibri" pitchFamily="34" charset="0"/>
                <a:ea typeface="Calibri" pitchFamily="34" charset="-122"/>
                <a:cs typeface="Calibri" pitchFamily="34" charset="-120"/>
              </a:rPr>
              <a:t>HOW IT WORKS</a:t>
            </a:r>
            <a:endParaRPr lang="en-US" sz="1400" dirty="0"/>
          </a:p>
          <a:p>
            <a:pPr marL="342900" indent="-342900">
              <a:spcAft>
                <a:spcPts val="500"/>
              </a:spcAft>
              <a:buSzPct val="100000"/>
              <a:buChar char="•"/>
            </a:pPr>
            <a:r>
              <a:rPr lang="en-US" sz="1400" dirty="0">
                <a:solidFill>
                  <a:srgbClr val="DCE7F5"/>
                </a:solidFill>
                <a:latin typeface="Calibri" pitchFamily="34" charset="0"/>
                <a:ea typeface="Calibri" pitchFamily="34" charset="-122"/>
                <a:cs typeface="Calibri" pitchFamily="34" charset="-120"/>
              </a:rPr>
              <a:t>U-Net, DeepLabv3+, SegFormer learn features end-to-end</a:t>
            </a:r>
            <a:endParaRPr lang="en-US" sz="1400" dirty="0"/>
          </a:p>
          <a:p>
            <a:pPr marL="342900" indent="-342900">
              <a:spcAft>
                <a:spcPts val="500"/>
              </a:spcAft>
              <a:buSzPct val="100000"/>
              <a:buChar char="•"/>
            </a:pPr>
            <a:r>
              <a:rPr lang="en-US" sz="1400" dirty="0">
                <a:solidFill>
                  <a:srgbClr val="DCE7F5"/>
                </a:solidFill>
                <a:latin typeface="Calibri" pitchFamily="34" charset="0"/>
                <a:ea typeface="Calibri" pitchFamily="34" charset="-122"/>
                <a:cs typeface="Calibri" pitchFamily="34" charset="-120"/>
              </a:rPr>
              <a:t>Pixel-wise water / non-water prediction</a:t>
            </a:r>
            <a:endParaRPr lang="en-US" sz="1400" dirty="0"/>
          </a:p>
          <a:p>
            <a:pPr marL="0" indent="0">
              <a:spcAft>
                <a:spcPts val="500"/>
              </a:spcAft>
              <a:buNone/>
            </a:pPr>
            <a:r>
              <a:rPr lang="en-US" sz="1100" b="1" kern="0" spc="200" dirty="0">
                <a:solidFill>
                  <a:srgbClr val="E09F3E"/>
                </a:solidFill>
                <a:latin typeface="Calibri" pitchFamily="34" charset="0"/>
                <a:ea typeface="Calibri" pitchFamily="34" charset="-122"/>
                <a:cs typeface="Calibri" pitchFamily="34" charset="-120"/>
              </a:rPr>
              <a:t>STRENGTHS</a:t>
            </a:r>
            <a:endParaRPr lang="en-US" sz="1400" dirty="0"/>
          </a:p>
          <a:p>
            <a:pPr marL="342900" indent="-342900">
              <a:spcAft>
                <a:spcPts val="500"/>
              </a:spcAft>
              <a:buSzPct val="100000"/>
              <a:buChar char="•"/>
            </a:pPr>
            <a:r>
              <a:rPr lang="en-US" sz="1400" dirty="0">
                <a:solidFill>
                  <a:srgbClr val="DCE7F5"/>
                </a:solidFill>
                <a:latin typeface="Calibri" pitchFamily="34" charset="0"/>
                <a:ea typeface="Calibri" pitchFamily="34" charset="-122"/>
                <a:cs typeface="Calibri" pitchFamily="34" charset="-120"/>
              </a:rPr>
              <a:t>Highest accuracy; handles turbid water and partial submergence</a:t>
            </a:r>
            <a:endParaRPr lang="en-US" sz="1400" dirty="0"/>
          </a:p>
          <a:p>
            <a:pPr marL="0" indent="0">
              <a:spcAft>
                <a:spcPts val="500"/>
              </a:spcAft>
              <a:buNone/>
            </a:pPr>
            <a:r>
              <a:rPr lang="en-US" sz="1100" b="1" kern="0" spc="200" dirty="0">
                <a:solidFill>
                  <a:srgbClr val="E09F3E"/>
                </a:solidFill>
                <a:latin typeface="Calibri" pitchFamily="34" charset="0"/>
                <a:ea typeface="Calibri" pitchFamily="34" charset="-122"/>
                <a:cs typeface="Calibri" pitchFamily="34" charset="-120"/>
              </a:rPr>
              <a:t>LIMITATIONS</a:t>
            </a:r>
            <a:endParaRPr lang="en-US" sz="1400" dirty="0"/>
          </a:p>
          <a:p>
            <a:pPr marL="342900" indent="-342900">
              <a:spcAft>
                <a:spcPts val="500"/>
              </a:spcAft>
              <a:buSzPct val="100000"/>
              <a:buChar char="•"/>
            </a:pPr>
            <a:r>
              <a:rPr lang="en-US" sz="1400" dirty="0">
                <a:solidFill>
                  <a:srgbClr val="DCE7F5"/>
                </a:solidFill>
                <a:latin typeface="Calibri" pitchFamily="34" charset="0"/>
                <a:ea typeface="Calibri" pitchFamily="34" charset="-122"/>
                <a:cs typeface="Calibri" pitchFamily="34" charset="-120"/>
              </a:rPr>
              <a:t>Needs labelled data and GPU training</a:t>
            </a:r>
            <a:endParaRPr lang="en-US" sz="1400" dirty="0"/>
          </a:p>
        </p:txBody>
      </p:sp>
      <p:sp>
        <p:nvSpPr>
          <p:cNvPr id="21" name="Text 16"/>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07 · DEEP LEARNING MODEL</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U-Net encoder–decoder for water segmentation</a:t>
            </a:r>
            <a:endParaRPr lang="en-US" sz="3000" dirty="0"/>
          </a:p>
        </p:txBody>
      </p:sp>
      <p:sp>
        <p:nvSpPr>
          <p:cNvPr id="4" name="Shape 2"/>
          <p:cNvSpPr/>
          <p:nvPr/>
        </p:nvSpPr>
        <p:spPr>
          <a:xfrm>
            <a:off x="548640" y="1463040"/>
            <a:ext cx="7772400" cy="4709160"/>
          </a:xfrm>
          <a:prstGeom prst="roundRect">
            <a:avLst>
              <a:gd name="adj" fmla="val 1942"/>
            </a:avLst>
          </a:prstGeom>
          <a:solidFill>
            <a:srgbClr val="EEF4F7"/>
          </a:solidFill>
          <a:ln w="12700">
            <a:solidFill>
              <a:srgbClr val="EEF4F7"/>
            </a:solidFill>
            <a:prstDash val="solid"/>
          </a:ln>
        </p:spPr>
      </p:sp>
      <p:pic>
        <p:nvPicPr>
          <p:cNvPr id="5" name="Image 0" descr="preencoded.png"/>
          <p:cNvPicPr>
            <a:picLocks noChangeAspect="1"/>
          </p:cNvPicPr>
          <p:nvPr/>
        </p:nvPicPr>
        <p:blipFill>
          <a:blip r:embed="rId3"/>
          <a:stretch>
            <a:fillRect/>
          </a:stretch>
        </p:blipFill>
        <p:spPr>
          <a:xfrm>
            <a:off x="777240" y="2286000"/>
            <a:ext cx="822960" cy="822960"/>
          </a:xfrm>
          <a:prstGeom prst="rect">
            <a:avLst/>
          </a:prstGeom>
        </p:spPr>
      </p:pic>
      <p:sp>
        <p:nvSpPr>
          <p:cNvPr id="6" name="Text 3"/>
          <p:cNvSpPr txBox="1"/>
          <p:nvPr/>
        </p:nvSpPr>
        <p:spPr>
          <a:xfrm>
            <a:off x="713232" y="3154680"/>
            <a:ext cx="960120" cy="274320"/>
          </a:xfrm>
          <a:prstGeom prst="rect">
            <a:avLst/>
          </a:prstGeom>
          <a:noFill/>
          <a:ln/>
        </p:spPr>
        <p:txBody>
          <a:bodyPr wrap="square" lIns="0" tIns="0" rIns="0" bIns="0" rtlCol="0" anchor="ctr"/>
          <a:lstStyle/>
          <a:p>
            <a:pPr marL="0" indent="0" algn="ctr">
              <a:buNone/>
            </a:pPr>
            <a:r>
              <a:rPr lang="en-US" sz="1000" dirty="0">
                <a:solidFill>
                  <a:srgbClr val="5B6B7B"/>
                </a:solidFill>
                <a:latin typeface="Calibri" pitchFamily="34" charset="0"/>
                <a:ea typeface="Calibri" pitchFamily="34" charset="-122"/>
                <a:cs typeface="Calibri" pitchFamily="34" charset="-120"/>
              </a:rPr>
              <a:t>Input tile</a:t>
            </a:r>
            <a:endParaRPr lang="en-US" sz="1000" dirty="0"/>
          </a:p>
        </p:txBody>
      </p:sp>
      <p:sp>
        <p:nvSpPr>
          <p:cNvPr id="7" name="Shape 4"/>
          <p:cNvSpPr/>
          <p:nvPr/>
        </p:nvSpPr>
        <p:spPr>
          <a:xfrm>
            <a:off x="1783080" y="1874520"/>
            <a:ext cx="201168" cy="1645920"/>
          </a:xfrm>
          <a:prstGeom prst="rect">
            <a:avLst/>
          </a:prstGeom>
          <a:solidFill>
            <a:srgbClr val="1B9AAA"/>
          </a:solidFill>
          <a:ln w="9525">
            <a:solidFill>
              <a:srgbClr val="FFFFFF"/>
            </a:solidFill>
            <a:prstDash val="solid"/>
          </a:ln>
        </p:spPr>
      </p:sp>
      <p:sp>
        <p:nvSpPr>
          <p:cNvPr id="8" name="Shape 5"/>
          <p:cNvSpPr/>
          <p:nvPr/>
        </p:nvSpPr>
        <p:spPr>
          <a:xfrm>
            <a:off x="7178040" y="1874520"/>
            <a:ext cx="201168" cy="1645920"/>
          </a:xfrm>
          <a:prstGeom prst="rect">
            <a:avLst/>
          </a:prstGeom>
          <a:solidFill>
            <a:srgbClr val="0B2545"/>
          </a:solidFill>
          <a:ln w="9525">
            <a:solidFill>
              <a:srgbClr val="FFFFFF"/>
            </a:solidFill>
            <a:prstDash val="solid"/>
          </a:ln>
        </p:spPr>
      </p:sp>
      <p:sp>
        <p:nvSpPr>
          <p:cNvPr id="9" name="Text 6"/>
          <p:cNvSpPr txBox="1"/>
          <p:nvPr/>
        </p:nvSpPr>
        <p:spPr>
          <a:xfrm>
            <a:off x="1463040" y="3538728"/>
            <a:ext cx="841248" cy="228600"/>
          </a:xfrm>
          <a:prstGeom prst="rect">
            <a:avLst/>
          </a:prstGeom>
          <a:no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512² · 64</a:t>
            </a:r>
            <a:endParaRPr lang="en-US" sz="900" dirty="0"/>
          </a:p>
        </p:txBody>
      </p:sp>
      <p:sp>
        <p:nvSpPr>
          <p:cNvPr id="10" name="Shape 7"/>
          <p:cNvSpPr/>
          <p:nvPr/>
        </p:nvSpPr>
        <p:spPr>
          <a:xfrm>
            <a:off x="2029968" y="2697480"/>
            <a:ext cx="5102352" cy="0"/>
          </a:xfrm>
          <a:prstGeom prst="line">
            <a:avLst/>
          </a:prstGeom>
          <a:noFill/>
          <a:ln w="19050">
            <a:solidFill>
              <a:srgbClr val="8795A1"/>
            </a:solidFill>
            <a:prstDash val="dash"/>
            <a:tailEnd type="triangle"/>
          </a:ln>
        </p:spPr>
      </p:sp>
      <p:sp>
        <p:nvSpPr>
          <p:cNvPr id="11" name="Shape 8"/>
          <p:cNvSpPr/>
          <p:nvPr/>
        </p:nvSpPr>
        <p:spPr>
          <a:xfrm>
            <a:off x="2514600" y="2743200"/>
            <a:ext cx="274320" cy="1280160"/>
          </a:xfrm>
          <a:prstGeom prst="rect">
            <a:avLst/>
          </a:prstGeom>
          <a:solidFill>
            <a:srgbClr val="1B9AAA"/>
          </a:solidFill>
          <a:ln w="9525">
            <a:solidFill>
              <a:srgbClr val="FFFFFF"/>
            </a:solidFill>
            <a:prstDash val="solid"/>
          </a:ln>
        </p:spPr>
      </p:sp>
      <p:sp>
        <p:nvSpPr>
          <p:cNvPr id="12" name="Shape 9"/>
          <p:cNvSpPr/>
          <p:nvPr/>
        </p:nvSpPr>
        <p:spPr>
          <a:xfrm>
            <a:off x="6675120" y="2743200"/>
            <a:ext cx="274320" cy="1280160"/>
          </a:xfrm>
          <a:prstGeom prst="rect">
            <a:avLst/>
          </a:prstGeom>
          <a:solidFill>
            <a:srgbClr val="0B2545"/>
          </a:solidFill>
          <a:ln w="9525">
            <a:solidFill>
              <a:srgbClr val="FFFFFF"/>
            </a:solidFill>
            <a:prstDash val="solid"/>
          </a:ln>
        </p:spPr>
      </p:sp>
      <p:sp>
        <p:nvSpPr>
          <p:cNvPr id="13" name="Text 10"/>
          <p:cNvSpPr txBox="1"/>
          <p:nvPr/>
        </p:nvSpPr>
        <p:spPr>
          <a:xfrm>
            <a:off x="2194560" y="4041648"/>
            <a:ext cx="914400" cy="228600"/>
          </a:xfrm>
          <a:prstGeom prst="rect">
            <a:avLst/>
          </a:prstGeom>
          <a:no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256² · 128</a:t>
            </a:r>
            <a:endParaRPr lang="en-US" sz="900" dirty="0"/>
          </a:p>
        </p:txBody>
      </p:sp>
      <p:sp>
        <p:nvSpPr>
          <p:cNvPr id="14" name="Shape 11"/>
          <p:cNvSpPr/>
          <p:nvPr/>
        </p:nvSpPr>
        <p:spPr>
          <a:xfrm>
            <a:off x="2834640" y="3383280"/>
            <a:ext cx="3794760" cy="0"/>
          </a:xfrm>
          <a:prstGeom prst="line">
            <a:avLst/>
          </a:prstGeom>
          <a:noFill/>
          <a:ln w="19050">
            <a:solidFill>
              <a:srgbClr val="8795A1"/>
            </a:solidFill>
            <a:prstDash val="dash"/>
            <a:tailEnd type="triangle"/>
          </a:ln>
        </p:spPr>
      </p:sp>
      <p:sp>
        <p:nvSpPr>
          <p:cNvPr id="15" name="Shape 12"/>
          <p:cNvSpPr/>
          <p:nvPr/>
        </p:nvSpPr>
        <p:spPr>
          <a:xfrm>
            <a:off x="3246120" y="3497580"/>
            <a:ext cx="347472" cy="960120"/>
          </a:xfrm>
          <a:prstGeom prst="rect">
            <a:avLst/>
          </a:prstGeom>
          <a:solidFill>
            <a:srgbClr val="1B9AAA"/>
          </a:solidFill>
          <a:ln w="9525">
            <a:solidFill>
              <a:srgbClr val="FFFFFF"/>
            </a:solidFill>
            <a:prstDash val="solid"/>
          </a:ln>
        </p:spPr>
      </p:sp>
      <p:sp>
        <p:nvSpPr>
          <p:cNvPr id="16" name="Shape 13"/>
          <p:cNvSpPr/>
          <p:nvPr/>
        </p:nvSpPr>
        <p:spPr>
          <a:xfrm>
            <a:off x="6080760" y="3497580"/>
            <a:ext cx="347472" cy="960120"/>
          </a:xfrm>
          <a:prstGeom prst="rect">
            <a:avLst/>
          </a:prstGeom>
          <a:solidFill>
            <a:srgbClr val="0B2545"/>
          </a:solidFill>
          <a:ln w="9525">
            <a:solidFill>
              <a:srgbClr val="FFFFFF"/>
            </a:solidFill>
            <a:prstDash val="solid"/>
          </a:ln>
        </p:spPr>
      </p:sp>
      <p:sp>
        <p:nvSpPr>
          <p:cNvPr id="17" name="Text 14"/>
          <p:cNvSpPr txBox="1"/>
          <p:nvPr/>
        </p:nvSpPr>
        <p:spPr>
          <a:xfrm>
            <a:off x="2926080" y="4475988"/>
            <a:ext cx="987552" cy="228600"/>
          </a:xfrm>
          <a:prstGeom prst="rect">
            <a:avLst/>
          </a:prstGeom>
          <a:no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128² · 256</a:t>
            </a:r>
            <a:endParaRPr lang="en-US" sz="900" dirty="0"/>
          </a:p>
        </p:txBody>
      </p:sp>
      <p:sp>
        <p:nvSpPr>
          <p:cNvPr id="18" name="Shape 15"/>
          <p:cNvSpPr/>
          <p:nvPr/>
        </p:nvSpPr>
        <p:spPr>
          <a:xfrm>
            <a:off x="3639312" y="3977640"/>
            <a:ext cx="2395728" cy="0"/>
          </a:xfrm>
          <a:prstGeom prst="line">
            <a:avLst/>
          </a:prstGeom>
          <a:noFill/>
          <a:ln w="19050">
            <a:solidFill>
              <a:srgbClr val="8795A1"/>
            </a:solidFill>
            <a:prstDash val="dash"/>
            <a:tailEnd type="triangle"/>
          </a:ln>
        </p:spPr>
      </p:sp>
      <p:sp>
        <p:nvSpPr>
          <p:cNvPr id="19" name="Shape 16"/>
          <p:cNvSpPr/>
          <p:nvPr/>
        </p:nvSpPr>
        <p:spPr>
          <a:xfrm>
            <a:off x="3977640" y="4137660"/>
            <a:ext cx="420624" cy="685800"/>
          </a:xfrm>
          <a:prstGeom prst="rect">
            <a:avLst/>
          </a:prstGeom>
          <a:solidFill>
            <a:srgbClr val="1B9AAA"/>
          </a:solidFill>
          <a:ln w="9525">
            <a:solidFill>
              <a:srgbClr val="FFFFFF"/>
            </a:solidFill>
            <a:prstDash val="solid"/>
          </a:ln>
        </p:spPr>
      </p:sp>
      <p:sp>
        <p:nvSpPr>
          <p:cNvPr id="20" name="Shape 17"/>
          <p:cNvSpPr/>
          <p:nvPr/>
        </p:nvSpPr>
        <p:spPr>
          <a:xfrm>
            <a:off x="5440680" y="4137660"/>
            <a:ext cx="420624" cy="685800"/>
          </a:xfrm>
          <a:prstGeom prst="rect">
            <a:avLst/>
          </a:prstGeom>
          <a:solidFill>
            <a:srgbClr val="0B2545"/>
          </a:solidFill>
          <a:ln w="9525">
            <a:solidFill>
              <a:srgbClr val="FFFFFF"/>
            </a:solidFill>
            <a:prstDash val="solid"/>
          </a:ln>
        </p:spPr>
      </p:sp>
      <p:sp>
        <p:nvSpPr>
          <p:cNvPr id="21" name="Text 18"/>
          <p:cNvSpPr txBox="1"/>
          <p:nvPr/>
        </p:nvSpPr>
        <p:spPr>
          <a:xfrm>
            <a:off x="3657600" y="4841748"/>
            <a:ext cx="1060704" cy="228600"/>
          </a:xfrm>
          <a:prstGeom prst="rect">
            <a:avLst/>
          </a:prstGeom>
          <a:no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64² · 512</a:t>
            </a:r>
            <a:endParaRPr lang="en-US" sz="900" dirty="0"/>
          </a:p>
        </p:txBody>
      </p:sp>
      <p:sp>
        <p:nvSpPr>
          <p:cNvPr id="22" name="Shape 19"/>
          <p:cNvSpPr/>
          <p:nvPr/>
        </p:nvSpPr>
        <p:spPr>
          <a:xfrm>
            <a:off x="4443984" y="4480560"/>
            <a:ext cx="950976" cy="0"/>
          </a:xfrm>
          <a:prstGeom prst="line">
            <a:avLst/>
          </a:prstGeom>
          <a:noFill/>
          <a:ln w="19050">
            <a:solidFill>
              <a:srgbClr val="8795A1"/>
            </a:solidFill>
            <a:prstDash val="dash"/>
            <a:tailEnd type="triangle"/>
          </a:ln>
        </p:spPr>
      </p:sp>
      <p:sp>
        <p:nvSpPr>
          <p:cNvPr id="23" name="Shape 20"/>
          <p:cNvSpPr/>
          <p:nvPr/>
        </p:nvSpPr>
        <p:spPr>
          <a:xfrm>
            <a:off x="4663440" y="4709160"/>
            <a:ext cx="502920" cy="457200"/>
          </a:xfrm>
          <a:prstGeom prst="rect">
            <a:avLst/>
          </a:prstGeom>
          <a:solidFill>
            <a:srgbClr val="E09F3E"/>
          </a:solidFill>
          <a:ln w="9525">
            <a:solidFill>
              <a:srgbClr val="FFFFFF"/>
            </a:solidFill>
            <a:prstDash val="solid"/>
          </a:ln>
        </p:spPr>
      </p:sp>
      <p:sp>
        <p:nvSpPr>
          <p:cNvPr id="24" name="Text 21"/>
          <p:cNvSpPr txBox="1"/>
          <p:nvPr/>
        </p:nvSpPr>
        <p:spPr>
          <a:xfrm>
            <a:off x="4343400" y="5184648"/>
            <a:ext cx="1143000" cy="228600"/>
          </a:xfrm>
          <a:prstGeom prst="rect">
            <a:avLst/>
          </a:prstGeom>
          <a:no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32² · 1024</a:t>
            </a:r>
            <a:endParaRPr lang="en-US" sz="900" dirty="0"/>
          </a:p>
        </p:txBody>
      </p:sp>
      <p:sp>
        <p:nvSpPr>
          <p:cNvPr id="25" name="Shape 22"/>
          <p:cNvSpPr/>
          <p:nvPr/>
        </p:nvSpPr>
        <p:spPr>
          <a:xfrm>
            <a:off x="2011680" y="3191256"/>
            <a:ext cx="475488" cy="576072"/>
          </a:xfrm>
          <a:prstGeom prst="line">
            <a:avLst/>
          </a:prstGeom>
          <a:noFill/>
          <a:ln w="25400">
            <a:solidFill>
              <a:srgbClr val="C0392B"/>
            </a:solidFill>
            <a:prstDash val="solid"/>
            <a:tailEnd type="triangle"/>
          </a:ln>
        </p:spPr>
      </p:sp>
      <p:sp>
        <p:nvSpPr>
          <p:cNvPr id="26" name="Shape 23"/>
          <p:cNvSpPr/>
          <p:nvPr/>
        </p:nvSpPr>
        <p:spPr>
          <a:xfrm>
            <a:off x="2816352" y="3767328"/>
            <a:ext cx="402336" cy="498348"/>
          </a:xfrm>
          <a:prstGeom prst="line">
            <a:avLst/>
          </a:prstGeom>
          <a:noFill/>
          <a:ln w="25400">
            <a:solidFill>
              <a:srgbClr val="C0392B"/>
            </a:solidFill>
            <a:prstDash val="solid"/>
            <a:tailEnd type="triangle"/>
          </a:ln>
        </p:spPr>
      </p:sp>
      <p:sp>
        <p:nvSpPr>
          <p:cNvPr id="27" name="Shape 24"/>
          <p:cNvSpPr/>
          <p:nvPr/>
        </p:nvSpPr>
        <p:spPr>
          <a:xfrm>
            <a:off x="3621024" y="4265676"/>
            <a:ext cx="329184" cy="420624"/>
          </a:xfrm>
          <a:prstGeom prst="line">
            <a:avLst/>
          </a:prstGeom>
          <a:noFill/>
          <a:ln w="25400">
            <a:solidFill>
              <a:srgbClr val="C0392B"/>
            </a:solidFill>
            <a:prstDash val="solid"/>
            <a:tailEnd type="triangle"/>
          </a:ln>
        </p:spPr>
      </p:sp>
      <p:sp>
        <p:nvSpPr>
          <p:cNvPr id="28" name="Shape 25"/>
          <p:cNvSpPr/>
          <p:nvPr/>
        </p:nvSpPr>
        <p:spPr>
          <a:xfrm>
            <a:off x="4425696" y="4686300"/>
            <a:ext cx="210312" cy="388620"/>
          </a:xfrm>
          <a:prstGeom prst="line">
            <a:avLst/>
          </a:prstGeom>
          <a:noFill/>
          <a:ln w="25400">
            <a:solidFill>
              <a:srgbClr val="C0392B"/>
            </a:solidFill>
            <a:prstDash val="solid"/>
            <a:tailEnd type="triangle"/>
          </a:ln>
        </p:spPr>
      </p:sp>
      <p:sp>
        <p:nvSpPr>
          <p:cNvPr id="29" name="Shape 26"/>
          <p:cNvSpPr/>
          <p:nvPr/>
        </p:nvSpPr>
        <p:spPr>
          <a:xfrm flipV="1">
            <a:off x="5193792" y="4686300"/>
            <a:ext cx="219456" cy="388620"/>
          </a:xfrm>
          <a:prstGeom prst="line">
            <a:avLst/>
          </a:prstGeom>
          <a:noFill/>
          <a:ln w="25400">
            <a:solidFill>
              <a:srgbClr val="27AE60"/>
            </a:solidFill>
            <a:prstDash val="solid"/>
            <a:tailEnd type="triangle"/>
          </a:ln>
        </p:spPr>
      </p:sp>
      <p:sp>
        <p:nvSpPr>
          <p:cNvPr id="30" name="Shape 27"/>
          <p:cNvSpPr/>
          <p:nvPr/>
        </p:nvSpPr>
        <p:spPr>
          <a:xfrm flipV="1">
            <a:off x="5888736" y="4265676"/>
            <a:ext cx="164592" cy="420624"/>
          </a:xfrm>
          <a:prstGeom prst="line">
            <a:avLst/>
          </a:prstGeom>
          <a:noFill/>
          <a:ln w="25400">
            <a:solidFill>
              <a:srgbClr val="27AE60"/>
            </a:solidFill>
            <a:prstDash val="solid"/>
            <a:tailEnd type="triangle"/>
          </a:ln>
        </p:spPr>
      </p:sp>
      <p:sp>
        <p:nvSpPr>
          <p:cNvPr id="31" name="Shape 28"/>
          <p:cNvSpPr/>
          <p:nvPr/>
        </p:nvSpPr>
        <p:spPr>
          <a:xfrm flipV="1">
            <a:off x="6455664" y="3767328"/>
            <a:ext cx="192024" cy="498348"/>
          </a:xfrm>
          <a:prstGeom prst="line">
            <a:avLst/>
          </a:prstGeom>
          <a:noFill/>
          <a:ln w="25400">
            <a:solidFill>
              <a:srgbClr val="27AE60"/>
            </a:solidFill>
            <a:prstDash val="solid"/>
            <a:tailEnd type="triangle"/>
          </a:ln>
        </p:spPr>
      </p:sp>
      <p:sp>
        <p:nvSpPr>
          <p:cNvPr id="32" name="Shape 29"/>
          <p:cNvSpPr/>
          <p:nvPr/>
        </p:nvSpPr>
        <p:spPr>
          <a:xfrm flipV="1">
            <a:off x="6976872" y="3191256"/>
            <a:ext cx="173736" cy="576072"/>
          </a:xfrm>
          <a:prstGeom prst="line">
            <a:avLst/>
          </a:prstGeom>
          <a:noFill/>
          <a:ln w="25400">
            <a:solidFill>
              <a:srgbClr val="27AE60"/>
            </a:solidFill>
            <a:prstDash val="solid"/>
            <a:tailEnd type="triangle"/>
          </a:ln>
        </p:spPr>
      </p:sp>
      <p:pic>
        <p:nvPicPr>
          <p:cNvPr id="33" name="Image 1" descr="preencoded.png"/>
          <p:cNvPicPr>
            <a:picLocks noChangeAspect="1"/>
          </p:cNvPicPr>
          <p:nvPr/>
        </p:nvPicPr>
        <p:blipFill>
          <a:blip r:embed="rId4"/>
          <a:stretch>
            <a:fillRect/>
          </a:stretch>
        </p:blipFill>
        <p:spPr>
          <a:xfrm>
            <a:off x="7543800" y="2286000"/>
            <a:ext cx="713232" cy="713232"/>
          </a:xfrm>
          <a:prstGeom prst="rect">
            <a:avLst/>
          </a:prstGeom>
        </p:spPr>
      </p:pic>
      <p:sp>
        <p:nvSpPr>
          <p:cNvPr id="34" name="Text 30"/>
          <p:cNvSpPr txBox="1"/>
          <p:nvPr/>
        </p:nvSpPr>
        <p:spPr>
          <a:xfrm>
            <a:off x="7406640" y="3044952"/>
            <a:ext cx="960120" cy="274320"/>
          </a:xfrm>
          <a:prstGeom prst="rect">
            <a:avLst/>
          </a:prstGeom>
          <a:noFill/>
          <a:ln/>
        </p:spPr>
        <p:txBody>
          <a:bodyPr wrap="square" lIns="0" tIns="0" rIns="0" bIns="0" rtlCol="0" anchor="ctr"/>
          <a:lstStyle/>
          <a:p>
            <a:pPr marL="0" indent="0" algn="ctr">
              <a:buNone/>
            </a:pPr>
            <a:r>
              <a:rPr lang="en-US" sz="1000" dirty="0">
                <a:solidFill>
                  <a:srgbClr val="5B6B7B"/>
                </a:solidFill>
                <a:latin typeface="Calibri" pitchFamily="34" charset="0"/>
                <a:ea typeface="Calibri" pitchFamily="34" charset="-122"/>
                <a:cs typeface="Calibri" pitchFamily="34" charset="-120"/>
              </a:rPr>
              <a:t>Water mask</a:t>
            </a:r>
            <a:endParaRPr lang="en-US" sz="1000" dirty="0"/>
          </a:p>
        </p:txBody>
      </p:sp>
      <p:sp>
        <p:nvSpPr>
          <p:cNvPr id="35" name="Text 31"/>
          <p:cNvSpPr txBox="1"/>
          <p:nvPr/>
        </p:nvSpPr>
        <p:spPr>
          <a:xfrm>
            <a:off x="1783080" y="1536192"/>
            <a:ext cx="2286000" cy="237744"/>
          </a:xfrm>
          <a:prstGeom prst="rect">
            <a:avLst/>
          </a:prstGeom>
          <a:noFill/>
          <a:ln/>
        </p:spPr>
        <p:txBody>
          <a:bodyPr wrap="square" lIns="0" tIns="0" rIns="0" bIns="0" rtlCol="0" anchor="ctr"/>
          <a:lstStyle/>
          <a:p>
            <a:pPr marL="0" indent="0">
              <a:buNone/>
            </a:pPr>
            <a:r>
              <a:rPr lang="en-US" sz="1100" b="1" kern="0" spc="300" dirty="0">
                <a:solidFill>
                  <a:srgbClr val="1B9AAA"/>
                </a:solidFill>
                <a:latin typeface="Calibri" pitchFamily="34" charset="0"/>
                <a:ea typeface="Calibri" pitchFamily="34" charset="-122"/>
                <a:cs typeface="Calibri" pitchFamily="34" charset="-120"/>
              </a:rPr>
              <a:t>ENCODER</a:t>
            </a:r>
            <a:endParaRPr lang="en-US" sz="1100" dirty="0"/>
          </a:p>
        </p:txBody>
      </p:sp>
      <p:sp>
        <p:nvSpPr>
          <p:cNvPr id="36" name="Text 32"/>
          <p:cNvSpPr txBox="1"/>
          <p:nvPr/>
        </p:nvSpPr>
        <p:spPr>
          <a:xfrm>
            <a:off x="5458968" y="1536192"/>
            <a:ext cx="1920240" cy="237744"/>
          </a:xfrm>
          <a:prstGeom prst="rect">
            <a:avLst/>
          </a:prstGeom>
          <a:noFill/>
          <a:ln/>
        </p:spPr>
        <p:txBody>
          <a:bodyPr wrap="square" lIns="0" tIns="0" rIns="0" bIns="0" rtlCol="0" anchor="ctr"/>
          <a:lstStyle/>
          <a:p>
            <a:pPr marL="0" indent="0" algn="r">
              <a:buNone/>
            </a:pPr>
            <a:r>
              <a:rPr lang="en-US" sz="1100" b="1" kern="0" spc="300" dirty="0">
                <a:solidFill>
                  <a:srgbClr val="0B2545"/>
                </a:solidFill>
                <a:latin typeface="Calibri" pitchFamily="34" charset="0"/>
                <a:ea typeface="Calibri" pitchFamily="34" charset="-122"/>
                <a:cs typeface="Calibri" pitchFamily="34" charset="-120"/>
              </a:rPr>
              <a:t>DECODER</a:t>
            </a:r>
            <a:endParaRPr lang="en-US" sz="1100" dirty="0"/>
          </a:p>
        </p:txBody>
      </p:sp>
      <p:sp>
        <p:nvSpPr>
          <p:cNvPr id="37" name="Shape 33"/>
          <p:cNvSpPr/>
          <p:nvPr/>
        </p:nvSpPr>
        <p:spPr>
          <a:xfrm>
            <a:off x="777240" y="5559552"/>
            <a:ext cx="256032" cy="164592"/>
          </a:xfrm>
          <a:prstGeom prst="rect">
            <a:avLst/>
          </a:prstGeom>
          <a:solidFill>
            <a:srgbClr val="1B9AAA"/>
          </a:solidFill>
          <a:ln w="12700">
            <a:solidFill>
              <a:srgbClr val="1B9AAA"/>
            </a:solidFill>
            <a:prstDash val="solid"/>
          </a:ln>
        </p:spPr>
      </p:sp>
      <p:sp>
        <p:nvSpPr>
          <p:cNvPr id="38" name="Text 34"/>
          <p:cNvSpPr txBox="1"/>
          <p:nvPr/>
        </p:nvSpPr>
        <p:spPr>
          <a:xfrm>
            <a:off x="1143000" y="5504688"/>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3×3 conv + ReLU (encoder)</a:t>
            </a:r>
            <a:endParaRPr lang="en-US" sz="1050" dirty="0"/>
          </a:p>
        </p:txBody>
      </p:sp>
      <p:sp>
        <p:nvSpPr>
          <p:cNvPr id="39" name="Shape 35"/>
          <p:cNvSpPr/>
          <p:nvPr/>
        </p:nvSpPr>
        <p:spPr>
          <a:xfrm>
            <a:off x="3337560" y="5559552"/>
            <a:ext cx="256032" cy="164592"/>
          </a:xfrm>
          <a:prstGeom prst="rect">
            <a:avLst/>
          </a:prstGeom>
          <a:solidFill>
            <a:srgbClr val="0B2545"/>
          </a:solidFill>
          <a:ln w="12700">
            <a:solidFill>
              <a:srgbClr val="0B2545"/>
            </a:solidFill>
            <a:prstDash val="solid"/>
          </a:ln>
        </p:spPr>
      </p:sp>
      <p:sp>
        <p:nvSpPr>
          <p:cNvPr id="40" name="Text 36"/>
          <p:cNvSpPr txBox="1"/>
          <p:nvPr/>
        </p:nvSpPr>
        <p:spPr>
          <a:xfrm>
            <a:off x="3703320" y="5504688"/>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3×3 conv + ReLU (decoder)</a:t>
            </a:r>
            <a:endParaRPr lang="en-US" sz="1050" dirty="0"/>
          </a:p>
        </p:txBody>
      </p:sp>
      <p:sp>
        <p:nvSpPr>
          <p:cNvPr id="41" name="Shape 37"/>
          <p:cNvSpPr/>
          <p:nvPr/>
        </p:nvSpPr>
        <p:spPr>
          <a:xfrm>
            <a:off x="5897880" y="5641848"/>
            <a:ext cx="274320" cy="0"/>
          </a:xfrm>
          <a:prstGeom prst="line">
            <a:avLst/>
          </a:prstGeom>
          <a:noFill/>
          <a:ln w="25400">
            <a:solidFill>
              <a:srgbClr val="C0392B"/>
            </a:solidFill>
            <a:prstDash val="solid"/>
          </a:ln>
        </p:spPr>
      </p:sp>
      <p:sp>
        <p:nvSpPr>
          <p:cNvPr id="42" name="Text 38"/>
          <p:cNvSpPr txBox="1"/>
          <p:nvPr/>
        </p:nvSpPr>
        <p:spPr>
          <a:xfrm>
            <a:off x="6263640" y="5504688"/>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2×2 max-pool (down)</a:t>
            </a:r>
            <a:endParaRPr lang="en-US" sz="1050" dirty="0"/>
          </a:p>
        </p:txBody>
      </p:sp>
      <p:sp>
        <p:nvSpPr>
          <p:cNvPr id="43" name="Shape 39"/>
          <p:cNvSpPr/>
          <p:nvPr/>
        </p:nvSpPr>
        <p:spPr>
          <a:xfrm>
            <a:off x="777240" y="5943600"/>
            <a:ext cx="274320" cy="0"/>
          </a:xfrm>
          <a:prstGeom prst="line">
            <a:avLst/>
          </a:prstGeom>
          <a:noFill/>
          <a:ln w="25400">
            <a:solidFill>
              <a:srgbClr val="27AE60"/>
            </a:solidFill>
            <a:prstDash val="solid"/>
          </a:ln>
        </p:spPr>
      </p:sp>
      <p:sp>
        <p:nvSpPr>
          <p:cNvPr id="44" name="Text 40"/>
          <p:cNvSpPr txBox="1"/>
          <p:nvPr/>
        </p:nvSpPr>
        <p:spPr>
          <a:xfrm>
            <a:off x="1143000" y="5806440"/>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2×2 up-conv (up)</a:t>
            </a:r>
            <a:endParaRPr lang="en-US" sz="1050" dirty="0"/>
          </a:p>
        </p:txBody>
      </p:sp>
      <p:sp>
        <p:nvSpPr>
          <p:cNvPr id="45" name="Shape 41"/>
          <p:cNvSpPr/>
          <p:nvPr/>
        </p:nvSpPr>
        <p:spPr>
          <a:xfrm>
            <a:off x="3337560" y="5943600"/>
            <a:ext cx="274320" cy="0"/>
          </a:xfrm>
          <a:prstGeom prst="line">
            <a:avLst/>
          </a:prstGeom>
          <a:noFill/>
          <a:ln w="25400">
            <a:solidFill>
              <a:srgbClr val="8795A1"/>
            </a:solidFill>
            <a:prstDash val="dash"/>
          </a:ln>
        </p:spPr>
      </p:sp>
      <p:sp>
        <p:nvSpPr>
          <p:cNvPr id="46" name="Text 42"/>
          <p:cNvSpPr txBox="1"/>
          <p:nvPr/>
        </p:nvSpPr>
        <p:spPr>
          <a:xfrm>
            <a:off x="3703320" y="5806440"/>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Skip connection (concatenate)</a:t>
            </a:r>
            <a:endParaRPr lang="en-US" sz="1050" dirty="0"/>
          </a:p>
        </p:txBody>
      </p:sp>
      <p:sp>
        <p:nvSpPr>
          <p:cNvPr id="47" name="Shape 43"/>
          <p:cNvSpPr/>
          <p:nvPr/>
        </p:nvSpPr>
        <p:spPr>
          <a:xfrm>
            <a:off x="5897880" y="5861304"/>
            <a:ext cx="256032" cy="164592"/>
          </a:xfrm>
          <a:prstGeom prst="rect">
            <a:avLst/>
          </a:prstGeom>
          <a:solidFill>
            <a:srgbClr val="E09F3E"/>
          </a:solidFill>
          <a:ln w="12700">
            <a:solidFill>
              <a:srgbClr val="E09F3E"/>
            </a:solidFill>
            <a:prstDash val="solid"/>
          </a:ln>
        </p:spPr>
      </p:sp>
      <p:sp>
        <p:nvSpPr>
          <p:cNvPr id="48" name="Text 44"/>
          <p:cNvSpPr txBox="1"/>
          <p:nvPr/>
        </p:nvSpPr>
        <p:spPr>
          <a:xfrm>
            <a:off x="6263640" y="5806440"/>
            <a:ext cx="2148840" cy="274320"/>
          </a:xfrm>
          <a:prstGeom prst="rect">
            <a:avLst/>
          </a:prstGeom>
          <a:noFill/>
          <a:ln/>
        </p:spPr>
        <p:txBody>
          <a:bodyPr wrap="square" lIns="0" tIns="0" rIns="0" bIns="0" rtlCol="0" anchor="ctr"/>
          <a:lstStyle/>
          <a:p>
            <a:pPr marL="0" indent="0">
              <a:buNone/>
            </a:pPr>
            <a:r>
              <a:rPr lang="en-US" sz="1050" dirty="0">
                <a:solidFill>
                  <a:srgbClr val="1F2D3D"/>
                </a:solidFill>
                <a:latin typeface="Calibri" pitchFamily="34" charset="0"/>
                <a:ea typeface="Calibri" pitchFamily="34" charset="-122"/>
                <a:cs typeface="Calibri" pitchFamily="34" charset="-120"/>
              </a:rPr>
              <a:t>Bottleneck</a:t>
            </a:r>
            <a:endParaRPr lang="en-US" sz="1050" dirty="0"/>
          </a:p>
        </p:txBody>
      </p:sp>
      <p:sp>
        <p:nvSpPr>
          <p:cNvPr id="49" name="Text 45"/>
          <p:cNvSpPr txBox="1"/>
          <p:nvPr/>
        </p:nvSpPr>
        <p:spPr>
          <a:xfrm>
            <a:off x="8595360" y="1463040"/>
            <a:ext cx="3044952" cy="411480"/>
          </a:xfrm>
          <a:prstGeom prst="rect">
            <a:avLst/>
          </a:prstGeom>
          <a:noFill/>
          <a:ln/>
        </p:spPr>
        <p:txBody>
          <a:bodyPr wrap="square" lIns="0" tIns="0" rIns="0" bIns="0" rtlCol="0" anchor="ctr"/>
          <a:lstStyle/>
          <a:p>
            <a:pPr marL="0" indent="0">
              <a:buNone/>
            </a:pPr>
            <a:r>
              <a:rPr lang="en-US" sz="1800" b="1" dirty="0">
                <a:solidFill>
                  <a:srgbClr val="0B2545"/>
                </a:solidFill>
                <a:latin typeface="Cambria" pitchFamily="34" charset="0"/>
                <a:ea typeface="Cambria" pitchFamily="34" charset="-122"/>
                <a:cs typeface="Cambria" pitchFamily="34" charset="-120"/>
              </a:rPr>
              <a:t>Training configuration</a:t>
            </a:r>
            <a:endParaRPr lang="en-US" sz="1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8595360" y="1920240"/>
          <a:ext cx="3044952" cy="3840480"/>
        </p:xfrm>
        <a:graphic>
          <a:graphicData uri="http://schemas.openxmlformats.org/drawingml/2006/table">
            <a:tbl>
              <a:tblPr/>
              <a:tblGrid>
                <a:gridCol w="1051560">
                  <a:extLst>
                    <a:ext uri="{9D8B030D-6E8A-4147-A177-3AD203B41FA5}">
                      <a16:colId xmlns:a16="http://schemas.microsoft.com/office/drawing/2014/main" val="20000"/>
                    </a:ext>
                  </a:extLst>
                </a:gridCol>
                <a:gridCol w="1993392">
                  <a:extLst>
                    <a:ext uri="{9D8B030D-6E8A-4147-A177-3AD203B41FA5}">
                      <a16:colId xmlns:a16="http://schemas.microsoft.com/office/drawing/2014/main" val="20001"/>
                    </a:ext>
                  </a:extLst>
                </a:gridCol>
              </a:tblGrid>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512 × 512 × 3 RGB tiles</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Backbone</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ResNet-34 encoder, ImageNet pre-trained</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Output</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1×1 conv + sigmoid: water probability</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Loss</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Binary cross-entropy + Dice</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Optimiser</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Adam, learning rate 1×10⁻⁴</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Schedule</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Batch 8; up to 100 epochs with early stopping</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150" b="1" dirty="0">
                          <a:solidFill>
                            <a:srgbClr val="0B2545"/>
                          </a:solidFill>
                          <a:latin typeface="Calibri" pitchFamily="34" charset="0"/>
                          <a:ea typeface="Calibri" pitchFamily="34" charset="-122"/>
                          <a:cs typeface="Calibri" pitchFamily="34" charset="-120"/>
                        </a:rPr>
                        <a:t>Alternatives</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150" dirty="0">
                          <a:solidFill>
                            <a:srgbClr val="1F2D3D"/>
                          </a:solidFill>
                          <a:latin typeface="Calibri" pitchFamily="34" charset="0"/>
                          <a:ea typeface="Calibri" pitchFamily="34" charset="-122"/>
                          <a:cs typeface="Calibri" pitchFamily="34" charset="-120"/>
                        </a:rPr>
                        <a:t>DeepLabv3+, SegFormer</a:t>
                      </a:r>
                      <a:endParaRPr lang="en-US" sz="1150" dirty="0">
                        <a:latin typeface="Calibri" charset="0"/>
                        <a:ea typeface="Calibri" charset="0"/>
                        <a:cs typeface="Calibri" charset="0"/>
                      </a:endParaRPr>
                    </a:p>
                  </a:txBody>
                  <a:tcPr marL="54864" marR="54864"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1" name="Text 46"/>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07 · DATA &amp; EVALUATION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Training datasets and evaluation metrics</a:t>
            </a:r>
            <a:endParaRPr lang="en-US" sz="3000" dirty="0"/>
          </a:p>
        </p:txBody>
      </p:sp>
      <p:sp>
        <p:nvSpPr>
          <p:cNvPr id="4" name="Text 2"/>
          <p:cNvSpPr txBox="1"/>
          <p:nvPr/>
        </p:nvSpPr>
        <p:spPr>
          <a:xfrm>
            <a:off x="548640" y="1463040"/>
            <a:ext cx="6217920" cy="411480"/>
          </a:xfrm>
          <a:prstGeom prst="rect">
            <a:avLst/>
          </a:prstGeom>
          <a:noFill/>
          <a:ln/>
        </p:spPr>
        <p:txBody>
          <a:bodyPr wrap="square" lIns="0" tIns="0" rIns="0" bIns="0" rtlCol="0" anchor="ctr"/>
          <a:lstStyle/>
          <a:p>
            <a:pPr marL="0" indent="0">
              <a:buNone/>
            </a:pPr>
            <a:r>
              <a:rPr lang="en-US" sz="1800" b="1" dirty="0">
                <a:solidFill>
                  <a:srgbClr val="0B2545"/>
                </a:solidFill>
                <a:latin typeface="Cambria" pitchFamily="34" charset="0"/>
                <a:ea typeface="Cambria" pitchFamily="34" charset="-122"/>
                <a:cs typeface="Cambria" pitchFamily="34" charset="-120"/>
              </a:rPr>
              <a:t>Benchmark UAV flood datasets</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309360" cy="3017520"/>
        </p:xfrm>
        <a:graphic>
          <a:graphicData uri="http://schemas.openxmlformats.org/drawingml/2006/table">
            <a:tbl>
              <a:tblPr/>
              <a:tblGrid>
                <a:gridCol w="1417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Images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Flood-relevant labels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86868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FloodNet (2021)</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Hurricane Harvey, Texas, 2017</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2,343 (3000 × 4000 px)</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Water; flooded / non-flooded buildings and roads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RescueNet (2023)</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Hurricane Michael, Florida, 2018</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4,494</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Water; road-clear / road-blocked; building damage levels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Regional dataset (proposed)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Monsoon floods, North Bihar</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Field UAV survey tiles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Binary water / non-water masks for local conditions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548640" y="5166360"/>
            <a:ext cx="6309360" cy="1005840"/>
          </a:xfrm>
          <a:prstGeom prst="roundRect">
            <a:avLst>
              <a:gd name="adj" fmla="val 9091"/>
            </a:avLst>
          </a:prstGeom>
          <a:solidFill>
            <a:srgbClr val="FBEBD5"/>
          </a:solidFill>
          <a:ln w="12700">
            <a:solidFill>
              <a:srgbClr val="FBEBD5"/>
            </a:solidFill>
            <a:prstDash val="solid"/>
          </a:ln>
        </p:spPr>
      </p:sp>
      <p:pic>
        <p:nvPicPr>
          <p:cNvPr id="7" name="Image 0" descr="preencoded.png"/>
          <p:cNvPicPr>
            <a:picLocks noChangeAspect="1"/>
          </p:cNvPicPr>
          <p:nvPr/>
        </p:nvPicPr>
        <p:blipFill>
          <a:blip r:embed="rId3"/>
          <a:stretch>
            <a:fillRect/>
          </a:stretch>
        </p:blipFill>
        <p:spPr>
          <a:xfrm>
            <a:off x="731520" y="5440680"/>
            <a:ext cx="457200" cy="457200"/>
          </a:xfrm>
          <a:prstGeom prst="rect">
            <a:avLst/>
          </a:prstGeom>
        </p:spPr>
      </p:pic>
      <p:sp>
        <p:nvSpPr>
          <p:cNvPr id="8" name="Text 4"/>
          <p:cNvSpPr txBox="1"/>
          <p:nvPr/>
        </p:nvSpPr>
        <p:spPr>
          <a:xfrm>
            <a:off x="1325880" y="5212080"/>
            <a:ext cx="5394960" cy="914400"/>
          </a:xfrm>
          <a:prstGeom prst="rect">
            <a:avLst/>
          </a:prstGeom>
          <a:noFill/>
          <a:ln/>
        </p:spPr>
        <p:txBody>
          <a:bodyPr wrap="square" lIns="0" tIns="0" rIns="0" bIns="0" rtlCol="0" anchor="ctr"/>
          <a:lstStyle/>
          <a:p>
            <a:pPr marL="0" indent="0">
              <a:buNone/>
            </a:pPr>
            <a:r>
              <a:rPr lang="en-US" sz="1300" dirty="0">
                <a:solidFill>
                  <a:srgbClr val="1F2D3D"/>
                </a:solidFill>
                <a:latin typeface="Calibri" pitchFamily="34" charset="0"/>
                <a:ea typeface="Calibri" pitchFamily="34" charset="-122"/>
                <a:cs typeface="Calibri" pitchFamily="34" charset="-120"/>
              </a:rPr>
              <a:t>Models pre-trained on public datasets are fine-tuned on local imagery, because silt-laden Gangetic floodwater looks very different from US hurricane floods.</a:t>
            </a:r>
            <a:endParaRPr lang="en-US" sz="1300" dirty="0"/>
          </a:p>
        </p:txBody>
      </p:sp>
      <p:sp>
        <p:nvSpPr>
          <p:cNvPr id="9" name="Text 5"/>
          <p:cNvSpPr txBox="1"/>
          <p:nvPr/>
        </p:nvSpPr>
        <p:spPr>
          <a:xfrm>
            <a:off x="7223760" y="1463040"/>
            <a:ext cx="4389120" cy="411480"/>
          </a:xfrm>
          <a:prstGeom prst="rect">
            <a:avLst/>
          </a:prstGeom>
          <a:noFill/>
          <a:ln/>
        </p:spPr>
        <p:txBody>
          <a:bodyPr wrap="square" lIns="0" tIns="0" rIns="0" bIns="0" rtlCol="0" anchor="ctr"/>
          <a:lstStyle/>
          <a:p>
            <a:pPr marL="0" indent="0">
              <a:buNone/>
            </a:pPr>
            <a:r>
              <a:rPr lang="en-US" sz="1800" b="1" dirty="0">
                <a:solidFill>
                  <a:srgbClr val="0B2545"/>
                </a:solidFill>
                <a:latin typeface="Cambria" pitchFamily="34" charset="0"/>
                <a:ea typeface="Cambria" pitchFamily="34" charset="-122"/>
                <a:cs typeface="Cambria" pitchFamily="34" charset="-120"/>
              </a:rPr>
              <a:t>Pixel-level confusion matrix</a:t>
            </a:r>
            <a:endParaRPr lang="en-US" sz="18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223760" y="1920240"/>
          <a:ext cx="4416552" cy="1554480"/>
        </p:xfrm>
        <a:graphic>
          <a:graphicData uri="http://schemas.openxmlformats.org/drawingml/2006/table">
            <a:tbl>
              <a:tblPr/>
              <a:tblGrid>
                <a:gridCol w="1325880">
                  <a:extLst>
                    <a:ext uri="{9D8B030D-6E8A-4147-A177-3AD203B41FA5}">
                      <a16:colId xmlns:a16="http://schemas.microsoft.com/office/drawing/2014/main" val="20000"/>
                    </a:ext>
                  </a:extLst>
                </a:gridCol>
                <a:gridCol w="1545336">
                  <a:extLst>
                    <a:ext uri="{9D8B030D-6E8A-4147-A177-3AD203B41FA5}">
                      <a16:colId xmlns:a16="http://schemas.microsoft.com/office/drawing/2014/main" val="20001"/>
                    </a:ext>
                  </a:extLst>
                </a:gridCol>
                <a:gridCol w="1545336">
                  <a:extLst>
                    <a:ext uri="{9D8B030D-6E8A-4147-A177-3AD203B41FA5}">
                      <a16:colId xmlns:a16="http://schemas.microsoft.com/office/drawing/2014/main" val="20002"/>
                    </a:ext>
                  </a:extLst>
                </a:gridCol>
              </a:tblGrid>
              <a:tr h="457200">
                <a:tc>
                  <a:txBody>
                    <a:bodyPr/>
                    <a:lstStyle/>
                    <a:p>
                      <a:pPr marL="0" indent="0">
                        <a:buNone/>
                      </a:pPr>
                      <a:endParaRPr lang="en-US" sz="12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2545"/>
                          </a:solidFill>
                          <a:latin typeface="Calibri" pitchFamily="34" charset="0"/>
                          <a:ea typeface="Calibri" pitchFamily="34" charset="-122"/>
                          <a:cs typeface="Calibri" pitchFamily="34" charset="-120"/>
                        </a:rPr>
                        <a:t>Predicted water</a:t>
                      </a:r>
                      <a:endParaRPr lang="en-US" sz="12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4F7"/>
                    </a:solidFill>
                  </a:tcPr>
                </a:tc>
                <a:tc>
                  <a:txBody>
                    <a:bodyPr/>
                    <a:lstStyle/>
                    <a:p>
                      <a:pPr marL="0" indent="0" algn="ctr">
                        <a:buNone/>
                      </a:pPr>
                      <a:r>
                        <a:rPr lang="en-US" sz="1200" b="1" dirty="0">
                          <a:solidFill>
                            <a:srgbClr val="0B2545"/>
                          </a:solidFill>
                          <a:latin typeface="Calibri" pitchFamily="34" charset="0"/>
                          <a:ea typeface="Calibri" pitchFamily="34" charset="-122"/>
                          <a:cs typeface="Calibri" pitchFamily="34" charset="-120"/>
                        </a:rPr>
                        <a:t>Predicted non-water</a:t>
                      </a:r>
                      <a:endParaRPr lang="en-US" sz="12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4F7"/>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Actual water</a:t>
                      </a:r>
                      <a:endParaRPr lang="en-US" sz="12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4F7"/>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TP</a:t>
                      </a:r>
                      <a:endParaRPr lang="en-US" sz="18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9AAA"/>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FN</a:t>
                      </a:r>
                      <a:endParaRPr lang="en-US" sz="18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392B"/>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Actual non-water</a:t>
                      </a:r>
                      <a:endParaRPr lang="en-US" sz="12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4F7"/>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FP</a:t>
                      </a:r>
                      <a:endParaRPr lang="en-US" sz="18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09F3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TN</a:t>
                      </a:r>
                      <a:endParaRPr lang="en-US" sz="1800" dirty="0">
                        <a:latin typeface="Calibri" charset="0"/>
                        <a:ea typeface="Calibri" charset="0"/>
                        <a:cs typeface="Calibri" charset="0"/>
                      </a:endParaRPr>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2"/>
                  </a:ext>
                </a:extLst>
              </a:tr>
            </a:tbl>
          </a:graphicData>
        </a:graphic>
      </p:graphicFrame>
      <p:sp>
        <p:nvSpPr>
          <p:cNvPr id="11" name="Shape 6"/>
          <p:cNvSpPr/>
          <p:nvPr/>
        </p:nvSpPr>
        <p:spPr>
          <a:xfrm>
            <a:off x="7223760" y="3703320"/>
            <a:ext cx="2157984" cy="1115568"/>
          </a:xfrm>
          <a:prstGeom prst="roundRect">
            <a:avLst>
              <a:gd name="adj" fmla="val 6557"/>
            </a:avLst>
          </a:prstGeom>
          <a:solidFill>
            <a:srgbClr val="EEF4F7"/>
          </a:solidFill>
          <a:ln w="12700">
            <a:solidFill>
              <a:srgbClr val="EEF4F7"/>
            </a:solidFill>
            <a:prstDash val="solid"/>
          </a:ln>
        </p:spPr>
      </p:sp>
      <p:sp>
        <p:nvSpPr>
          <p:cNvPr id="5" name="Text 7"/>
          <p:cNvSpPr txBox="1"/>
          <p:nvPr/>
        </p:nvSpPr>
        <p:spPr>
          <a:xfrm>
            <a:off x="7360920" y="3758184"/>
            <a:ext cx="1920240" cy="1005840"/>
          </a:xfrm>
          <a:prstGeom prst="rect">
            <a:avLst/>
          </a:prstGeom>
          <a:noFill/>
          <a:ln/>
        </p:spPr>
        <p:txBody>
          <a:bodyPr wrap="square" lIns="0" tIns="0" rIns="0" bIns="0" rtlCol="0" anchor="ctr"/>
          <a:lstStyle/>
          <a:p>
            <a:pPr marL="0" indent="0">
              <a:buNone/>
            </a:pPr>
            <a:r>
              <a:rPr lang="en-US" sz="1300" b="1" dirty="0">
                <a:solidFill>
                  <a:srgbClr val="1B9AAA"/>
                </a:solidFill>
                <a:latin typeface="Calibri" pitchFamily="34" charset="0"/>
                <a:ea typeface="Calibri" pitchFamily="34" charset="-122"/>
                <a:cs typeface="Calibri" pitchFamily="34" charset="-120"/>
              </a:rPr>
              <a:t>Precision</a:t>
            </a:r>
            <a:endParaRPr lang="en-US" sz="1300" dirty="0"/>
          </a:p>
          <a:p>
            <a:pPr marL="0" indent="0">
              <a:buNone/>
            </a:pPr>
            <a:r>
              <a:rPr lang="en-US" sz="1400" b="1" dirty="0">
                <a:solidFill>
                  <a:srgbClr val="0B2545"/>
                </a:solidFill>
                <a:latin typeface="Calibri" pitchFamily="34" charset="0"/>
                <a:ea typeface="Calibri" pitchFamily="34" charset="-122"/>
                <a:cs typeface="Calibri" pitchFamily="34" charset="-120"/>
              </a:rPr>
              <a:t>TP / (TP + FP)</a:t>
            </a:r>
            <a:endParaRPr lang="en-US" sz="1300" dirty="0"/>
          </a:p>
          <a:p>
            <a:pPr marL="0" indent="0">
              <a:buNone/>
            </a:pPr>
            <a:r>
              <a:rPr lang="en-US" sz="1100" dirty="0">
                <a:solidFill>
                  <a:srgbClr val="1F2D3D"/>
                </a:solidFill>
                <a:latin typeface="Calibri" pitchFamily="34" charset="0"/>
                <a:ea typeface="Calibri" pitchFamily="34" charset="-122"/>
                <a:cs typeface="Calibri" pitchFamily="34" charset="-120"/>
              </a:rPr>
              <a:t>How much predicted water is real</a:t>
            </a:r>
            <a:endParaRPr lang="en-US" sz="1300" dirty="0"/>
          </a:p>
        </p:txBody>
      </p:sp>
      <p:sp>
        <p:nvSpPr>
          <p:cNvPr id="13" name="Shape 8"/>
          <p:cNvSpPr/>
          <p:nvPr/>
        </p:nvSpPr>
        <p:spPr>
          <a:xfrm>
            <a:off x="9482328" y="3703320"/>
            <a:ext cx="2157984" cy="1115568"/>
          </a:xfrm>
          <a:prstGeom prst="roundRect">
            <a:avLst>
              <a:gd name="adj" fmla="val 6557"/>
            </a:avLst>
          </a:prstGeom>
          <a:solidFill>
            <a:srgbClr val="EEF4F7"/>
          </a:solidFill>
          <a:ln w="12700">
            <a:solidFill>
              <a:srgbClr val="EEF4F7"/>
            </a:solidFill>
            <a:prstDash val="solid"/>
          </a:ln>
        </p:spPr>
      </p:sp>
      <p:sp>
        <p:nvSpPr>
          <p:cNvPr id="14" name="Text 9"/>
          <p:cNvSpPr txBox="1"/>
          <p:nvPr/>
        </p:nvSpPr>
        <p:spPr>
          <a:xfrm>
            <a:off x="9619488" y="3758184"/>
            <a:ext cx="1920240" cy="1005840"/>
          </a:xfrm>
          <a:prstGeom prst="rect">
            <a:avLst/>
          </a:prstGeom>
          <a:noFill/>
          <a:ln/>
        </p:spPr>
        <p:txBody>
          <a:bodyPr wrap="square" lIns="0" tIns="0" rIns="0" bIns="0" rtlCol="0" anchor="ctr"/>
          <a:lstStyle/>
          <a:p>
            <a:pPr marL="0" indent="0">
              <a:buNone/>
            </a:pPr>
            <a:r>
              <a:rPr lang="en-US" sz="1300" b="1" dirty="0">
                <a:solidFill>
                  <a:srgbClr val="1B9AAA"/>
                </a:solidFill>
                <a:latin typeface="Calibri" pitchFamily="34" charset="0"/>
                <a:ea typeface="Calibri" pitchFamily="34" charset="-122"/>
                <a:cs typeface="Calibri" pitchFamily="34" charset="-120"/>
              </a:rPr>
              <a:t>Recall</a:t>
            </a:r>
            <a:endParaRPr lang="en-US" sz="1300" dirty="0"/>
          </a:p>
          <a:p>
            <a:pPr marL="0" indent="0">
              <a:buNone/>
            </a:pPr>
            <a:r>
              <a:rPr lang="en-US" sz="1400" b="1" dirty="0">
                <a:solidFill>
                  <a:srgbClr val="0B2545"/>
                </a:solidFill>
                <a:latin typeface="Calibri" pitchFamily="34" charset="0"/>
                <a:ea typeface="Calibri" pitchFamily="34" charset="-122"/>
                <a:cs typeface="Calibri" pitchFamily="34" charset="-120"/>
              </a:rPr>
              <a:t>TP / (TP + FN)</a:t>
            </a:r>
            <a:endParaRPr lang="en-US" sz="1300" dirty="0"/>
          </a:p>
          <a:p>
            <a:pPr marL="0" indent="0">
              <a:buNone/>
            </a:pPr>
            <a:r>
              <a:rPr lang="en-US" sz="1100" dirty="0">
                <a:solidFill>
                  <a:srgbClr val="1F2D3D"/>
                </a:solidFill>
                <a:latin typeface="Calibri" pitchFamily="34" charset="0"/>
                <a:ea typeface="Calibri" pitchFamily="34" charset="-122"/>
                <a:cs typeface="Calibri" pitchFamily="34" charset="-120"/>
              </a:rPr>
              <a:t>How much real water is found</a:t>
            </a:r>
            <a:endParaRPr lang="en-US" sz="1300" dirty="0"/>
          </a:p>
        </p:txBody>
      </p:sp>
      <p:sp>
        <p:nvSpPr>
          <p:cNvPr id="15" name="Shape 10"/>
          <p:cNvSpPr/>
          <p:nvPr/>
        </p:nvSpPr>
        <p:spPr>
          <a:xfrm>
            <a:off x="7223760" y="4956048"/>
            <a:ext cx="2157984" cy="1115568"/>
          </a:xfrm>
          <a:prstGeom prst="roundRect">
            <a:avLst>
              <a:gd name="adj" fmla="val 6557"/>
            </a:avLst>
          </a:prstGeom>
          <a:solidFill>
            <a:srgbClr val="EEF4F7"/>
          </a:solidFill>
          <a:ln w="12700">
            <a:solidFill>
              <a:srgbClr val="EEF4F7"/>
            </a:solidFill>
            <a:prstDash val="solid"/>
          </a:ln>
        </p:spPr>
      </p:sp>
      <p:sp>
        <p:nvSpPr>
          <p:cNvPr id="16" name="Text 11"/>
          <p:cNvSpPr txBox="1"/>
          <p:nvPr/>
        </p:nvSpPr>
        <p:spPr>
          <a:xfrm>
            <a:off x="7360920" y="5010912"/>
            <a:ext cx="1920240" cy="1005840"/>
          </a:xfrm>
          <a:prstGeom prst="rect">
            <a:avLst/>
          </a:prstGeom>
          <a:noFill/>
          <a:ln/>
        </p:spPr>
        <p:txBody>
          <a:bodyPr wrap="square" lIns="0" tIns="0" rIns="0" bIns="0" rtlCol="0" anchor="ctr"/>
          <a:lstStyle/>
          <a:p>
            <a:pPr marL="0" indent="0">
              <a:buNone/>
            </a:pPr>
            <a:r>
              <a:rPr lang="en-US" sz="1300" b="1" dirty="0">
                <a:solidFill>
                  <a:srgbClr val="1B9AAA"/>
                </a:solidFill>
                <a:latin typeface="Calibri" pitchFamily="34" charset="0"/>
                <a:ea typeface="Calibri" pitchFamily="34" charset="-122"/>
                <a:cs typeface="Calibri" pitchFamily="34" charset="-120"/>
              </a:rPr>
              <a:t>F1 / Dice</a:t>
            </a:r>
            <a:endParaRPr lang="en-US" sz="1300" dirty="0"/>
          </a:p>
          <a:p>
            <a:pPr marL="0" indent="0">
              <a:buNone/>
            </a:pPr>
            <a:r>
              <a:rPr lang="en-US" sz="1400" b="1" dirty="0">
                <a:solidFill>
                  <a:srgbClr val="0B2545"/>
                </a:solidFill>
                <a:latin typeface="Calibri" pitchFamily="34" charset="0"/>
                <a:ea typeface="Calibri" pitchFamily="34" charset="-122"/>
                <a:cs typeface="Calibri" pitchFamily="34" charset="-120"/>
              </a:rPr>
              <a:t>2 · P · R / (P + R)</a:t>
            </a:r>
            <a:endParaRPr lang="en-US" sz="1300" dirty="0"/>
          </a:p>
          <a:p>
            <a:pPr marL="0" indent="0">
              <a:buNone/>
            </a:pPr>
            <a:r>
              <a:rPr lang="en-US" sz="1100" dirty="0">
                <a:solidFill>
                  <a:srgbClr val="1F2D3D"/>
                </a:solidFill>
                <a:latin typeface="Calibri" pitchFamily="34" charset="0"/>
                <a:ea typeface="Calibri" pitchFamily="34" charset="-122"/>
                <a:cs typeface="Calibri" pitchFamily="34" charset="-120"/>
              </a:rPr>
              <a:t>Balance of precision and recall</a:t>
            </a:r>
            <a:endParaRPr lang="en-US" sz="1300" dirty="0"/>
          </a:p>
        </p:txBody>
      </p:sp>
      <p:sp>
        <p:nvSpPr>
          <p:cNvPr id="17" name="Shape 12"/>
          <p:cNvSpPr/>
          <p:nvPr/>
        </p:nvSpPr>
        <p:spPr>
          <a:xfrm>
            <a:off x="9482328" y="4956048"/>
            <a:ext cx="2157984" cy="1115568"/>
          </a:xfrm>
          <a:prstGeom prst="roundRect">
            <a:avLst>
              <a:gd name="adj" fmla="val 6557"/>
            </a:avLst>
          </a:prstGeom>
          <a:solidFill>
            <a:srgbClr val="EEF4F7"/>
          </a:solidFill>
          <a:ln w="12700">
            <a:solidFill>
              <a:srgbClr val="EEF4F7"/>
            </a:solidFill>
            <a:prstDash val="solid"/>
          </a:ln>
        </p:spPr>
      </p:sp>
      <p:sp>
        <p:nvSpPr>
          <p:cNvPr id="18" name="Text 13"/>
          <p:cNvSpPr txBox="1"/>
          <p:nvPr/>
        </p:nvSpPr>
        <p:spPr>
          <a:xfrm>
            <a:off x="9619488" y="5010912"/>
            <a:ext cx="1920240" cy="1005840"/>
          </a:xfrm>
          <a:prstGeom prst="rect">
            <a:avLst/>
          </a:prstGeom>
          <a:noFill/>
          <a:ln/>
        </p:spPr>
        <p:txBody>
          <a:bodyPr wrap="square" lIns="0" tIns="0" rIns="0" bIns="0" rtlCol="0" anchor="ctr"/>
          <a:lstStyle/>
          <a:p>
            <a:pPr marL="0" indent="0">
              <a:buNone/>
            </a:pPr>
            <a:r>
              <a:rPr lang="en-US" sz="1300" b="1" dirty="0">
                <a:solidFill>
                  <a:srgbClr val="1B9AAA"/>
                </a:solidFill>
                <a:latin typeface="Calibri" pitchFamily="34" charset="0"/>
                <a:ea typeface="Calibri" pitchFamily="34" charset="-122"/>
                <a:cs typeface="Calibri" pitchFamily="34" charset="-120"/>
              </a:rPr>
              <a:t>IoU</a:t>
            </a:r>
            <a:endParaRPr lang="en-US" sz="1300" dirty="0"/>
          </a:p>
          <a:p>
            <a:pPr marL="0" indent="0">
              <a:buNone/>
            </a:pPr>
            <a:r>
              <a:rPr lang="en-US" sz="1400" b="1" dirty="0">
                <a:solidFill>
                  <a:srgbClr val="0B2545"/>
                </a:solidFill>
                <a:latin typeface="Calibri" pitchFamily="34" charset="0"/>
                <a:ea typeface="Calibri" pitchFamily="34" charset="-122"/>
                <a:cs typeface="Calibri" pitchFamily="34" charset="-120"/>
              </a:rPr>
              <a:t>TP / (TP + FP + FN)</a:t>
            </a:r>
            <a:endParaRPr lang="en-US" sz="1300" dirty="0"/>
          </a:p>
          <a:p>
            <a:pPr marL="0" indent="0">
              <a:buNone/>
            </a:pPr>
            <a:r>
              <a:rPr lang="en-US" sz="1100" dirty="0">
                <a:solidFill>
                  <a:srgbClr val="1F2D3D"/>
                </a:solidFill>
                <a:latin typeface="Calibri" pitchFamily="34" charset="0"/>
                <a:ea typeface="Calibri" pitchFamily="34" charset="-122"/>
                <a:cs typeface="Calibri" pitchFamily="34" charset="-120"/>
              </a:rPr>
              <a:t>Overlap of prediction and ground truth</a:t>
            </a:r>
            <a:endParaRPr lang="en-US" sz="1300" dirty="0"/>
          </a:p>
        </p:txBody>
      </p:sp>
      <p:sp>
        <p:nvSpPr>
          <p:cNvPr id="19" name="Text 14"/>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08 · FLOOD MASK GENERATION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From model probabilities to a clean flood mask</a:t>
            </a:r>
            <a:endParaRPr lang="en-US" sz="3000" dirty="0"/>
          </a:p>
        </p:txBody>
      </p:sp>
      <p:pic>
        <p:nvPicPr>
          <p:cNvPr id="4" name="Image 0" descr="preencoded.png"/>
          <p:cNvPicPr>
            <a:picLocks noChangeAspect="1"/>
          </p:cNvPicPr>
          <p:nvPr/>
        </p:nvPicPr>
        <p:blipFill>
          <a:blip r:embed="rId3"/>
          <a:stretch>
            <a:fillRect/>
          </a:stretch>
        </p:blipFill>
        <p:spPr>
          <a:xfrm>
            <a:off x="548640" y="1463040"/>
            <a:ext cx="2331720" cy="2331720"/>
          </a:xfrm>
          <a:prstGeom prst="rect">
            <a:avLst/>
          </a:prstGeom>
          <a:effectLst>
            <a:outerShdw blurRad="101600" dist="25400" dir="5400000" algn="bl" rotWithShape="0">
              <a:srgbClr val="000000">
                <a:alpha val="14000"/>
              </a:srgbClr>
            </a:outerShdw>
          </a:effectLst>
        </p:spPr>
      </p:pic>
      <p:sp>
        <p:nvSpPr>
          <p:cNvPr id="5" name="Text 2"/>
          <p:cNvSpPr txBox="1"/>
          <p:nvPr/>
        </p:nvSpPr>
        <p:spPr>
          <a:xfrm>
            <a:off x="548640" y="3886200"/>
            <a:ext cx="233172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Drone tile</a:t>
            </a:r>
            <a:endParaRPr lang="en-US" sz="1400" dirty="0"/>
          </a:p>
        </p:txBody>
      </p:sp>
      <p:sp>
        <p:nvSpPr>
          <p:cNvPr id="6" name="Text 3"/>
          <p:cNvSpPr txBox="1"/>
          <p:nvPr/>
        </p:nvSpPr>
        <p:spPr>
          <a:xfrm>
            <a:off x="548640" y="4206240"/>
            <a:ext cx="2331720" cy="320040"/>
          </a:xfrm>
          <a:prstGeom prst="rect">
            <a:avLst/>
          </a:prstGeom>
          <a:noFill/>
          <a:ln/>
        </p:spPr>
        <p:txBody>
          <a:bodyPr wrap="square" lIns="0" tIns="0" rIns="0" bIns="0" rtlCol="0" anchor="ctr"/>
          <a:lstStyle/>
          <a:p>
            <a:pPr marL="0" indent="0">
              <a:buNone/>
            </a:pPr>
            <a:r>
              <a:rPr lang="en-US" sz="1150" dirty="0">
                <a:solidFill>
                  <a:srgbClr val="5B6B7B"/>
                </a:solidFill>
                <a:latin typeface="Calibri" pitchFamily="34" charset="0"/>
                <a:ea typeface="Calibri" pitchFamily="34" charset="-122"/>
                <a:cs typeface="Calibri" pitchFamily="34" charset="-120"/>
              </a:rPr>
              <a:t>RGB input from the orthomosaic</a:t>
            </a:r>
            <a:endParaRPr lang="en-US" sz="1150" dirty="0"/>
          </a:p>
        </p:txBody>
      </p:sp>
      <p:sp>
        <p:nvSpPr>
          <p:cNvPr id="7" name="Shape 4"/>
          <p:cNvSpPr/>
          <p:nvPr/>
        </p:nvSpPr>
        <p:spPr>
          <a:xfrm>
            <a:off x="2990088" y="2628900"/>
            <a:ext cx="365760" cy="0"/>
          </a:xfrm>
          <a:prstGeom prst="line">
            <a:avLst/>
          </a:prstGeom>
          <a:noFill/>
          <a:ln w="28575">
            <a:solidFill>
              <a:srgbClr val="0B2545"/>
            </a:solidFill>
            <a:prstDash val="solid"/>
            <a:tailEnd type="triangle"/>
          </a:ln>
        </p:spPr>
      </p:sp>
      <p:pic>
        <p:nvPicPr>
          <p:cNvPr id="8" name="Image 1" descr="preencoded.png"/>
          <p:cNvPicPr>
            <a:picLocks noChangeAspect="1"/>
          </p:cNvPicPr>
          <p:nvPr/>
        </p:nvPicPr>
        <p:blipFill>
          <a:blip r:embed="rId4"/>
          <a:stretch>
            <a:fillRect/>
          </a:stretch>
        </p:blipFill>
        <p:spPr>
          <a:xfrm>
            <a:off x="3465576" y="1463040"/>
            <a:ext cx="2331720" cy="2331720"/>
          </a:xfrm>
          <a:prstGeom prst="rect">
            <a:avLst/>
          </a:prstGeom>
          <a:effectLst>
            <a:outerShdw blurRad="101600" dist="25400" dir="5400000" algn="bl" rotWithShape="0">
              <a:srgbClr val="000000">
                <a:alpha val="14000"/>
              </a:srgbClr>
            </a:outerShdw>
          </a:effectLst>
        </p:spPr>
      </p:pic>
      <p:sp>
        <p:nvSpPr>
          <p:cNvPr id="9" name="Text 5"/>
          <p:cNvSpPr txBox="1"/>
          <p:nvPr/>
        </p:nvSpPr>
        <p:spPr>
          <a:xfrm>
            <a:off x="3465576" y="3886200"/>
            <a:ext cx="233172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Probability map</a:t>
            </a:r>
            <a:endParaRPr lang="en-US" sz="1400" dirty="0"/>
          </a:p>
        </p:txBody>
      </p:sp>
      <p:sp>
        <p:nvSpPr>
          <p:cNvPr id="10" name="Text 6"/>
          <p:cNvSpPr txBox="1"/>
          <p:nvPr/>
        </p:nvSpPr>
        <p:spPr>
          <a:xfrm>
            <a:off x="3465576" y="4206240"/>
            <a:ext cx="2331720" cy="320040"/>
          </a:xfrm>
          <a:prstGeom prst="rect">
            <a:avLst/>
          </a:prstGeom>
          <a:noFill/>
          <a:ln/>
        </p:spPr>
        <p:txBody>
          <a:bodyPr wrap="square" lIns="0" tIns="0" rIns="0" bIns="0" rtlCol="0" anchor="ctr"/>
          <a:lstStyle/>
          <a:p>
            <a:pPr marL="0" indent="0">
              <a:buNone/>
            </a:pPr>
            <a:r>
              <a:rPr lang="en-US" sz="1150" dirty="0">
                <a:solidFill>
                  <a:srgbClr val="5B6B7B"/>
                </a:solidFill>
                <a:latin typeface="Calibri" pitchFamily="34" charset="0"/>
                <a:ea typeface="Calibri" pitchFamily="34" charset="-122"/>
                <a:cs typeface="Calibri" pitchFamily="34" charset="-120"/>
              </a:rPr>
              <a:t>Model output: 0 (dry) to 1 (water)</a:t>
            </a:r>
            <a:endParaRPr lang="en-US" sz="1150" dirty="0"/>
          </a:p>
        </p:txBody>
      </p:sp>
      <p:sp>
        <p:nvSpPr>
          <p:cNvPr id="11" name="Shape 7"/>
          <p:cNvSpPr/>
          <p:nvPr/>
        </p:nvSpPr>
        <p:spPr>
          <a:xfrm>
            <a:off x="5907024" y="2628900"/>
            <a:ext cx="365760" cy="0"/>
          </a:xfrm>
          <a:prstGeom prst="line">
            <a:avLst/>
          </a:prstGeom>
          <a:noFill/>
          <a:ln w="28575">
            <a:solidFill>
              <a:srgbClr val="0B2545"/>
            </a:solidFill>
            <a:prstDash val="solid"/>
            <a:tailEnd type="triangle"/>
          </a:ln>
        </p:spPr>
      </p:sp>
      <p:pic>
        <p:nvPicPr>
          <p:cNvPr id="12" name="Image 2" descr="preencoded.png"/>
          <p:cNvPicPr>
            <a:picLocks noChangeAspect="1"/>
          </p:cNvPicPr>
          <p:nvPr/>
        </p:nvPicPr>
        <p:blipFill>
          <a:blip r:embed="rId5"/>
          <a:stretch>
            <a:fillRect/>
          </a:stretch>
        </p:blipFill>
        <p:spPr>
          <a:xfrm>
            <a:off x="6382512" y="1463040"/>
            <a:ext cx="2331720" cy="2331720"/>
          </a:xfrm>
          <a:prstGeom prst="rect">
            <a:avLst/>
          </a:prstGeom>
          <a:effectLst>
            <a:outerShdw blurRad="101600" dist="25400" dir="5400000" algn="bl" rotWithShape="0">
              <a:srgbClr val="000000">
                <a:alpha val="14000"/>
              </a:srgbClr>
            </a:outerShdw>
          </a:effectLst>
        </p:spPr>
      </p:pic>
      <p:sp>
        <p:nvSpPr>
          <p:cNvPr id="13" name="Text 8"/>
          <p:cNvSpPr txBox="1"/>
          <p:nvPr/>
        </p:nvSpPr>
        <p:spPr>
          <a:xfrm>
            <a:off x="6382512" y="3886200"/>
            <a:ext cx="233172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Raw mask (p &gt; 0.5)</a:t>
            </a:r>
            <a:endParaRPr lang="en-US" sz="1400" dirty="0"/>
          </a:p>
        </p:txBody>
      </p:sp>
      <p:sp>
        <p:nvSpPr>
          <p:cNvPr id="14" name="Text 9"/>
          <p:cNvSpPr txBox="1"/>
          <p:nvPr/>
        </p:nvSpPr>
        <p:spPr>
          <a:xfrm>
            <a:off x="6382512" y="4206240"/>
            <a:ext cx="2331720" cy="320040"/>
          </a:xfrm>
          <a:prstGeom prst="rect">
            <a:avLst/>
          </a:prstGeom>
          <a:noFill/>
          <a:ln/>
        </p:spPr>
        <p:txBody>
          <a:bodyPr wrap="square" lIns="0" tIns="0" rIns="0" bIns="0" rtlCol="0" anchor="ctr"/>
          <a:lstStyle/>
          <a:p>
            <a:pPr marL="0" indent="0">
              <a:buNone/>
            </a:pPr>
            <a:r>
              <a:rPr lang="en-US" sz="1150" dirty="0">
                <a:solidFill>
                  <a:srgbClr val="5B6B7B"/>
                </a:solidFill>
                <a:latin typeface="Calibri" pitchFamily="34" charset="0"/>
                <a:ea typeface="Calibri" pitchFamily="34" charset="-122"/>
                <a:cs typeface="Calibri" pitchFamily="34" charset="-120"/>
              </a:rPr>
              <a:t>Speckle noise; holes under roofs and trees</a:t>
            </a:r>
            <a:endParaRPr lang="en-US" sz="1150" dirty="0"/>
          </a:p>
        </p:txBody>
      </p:sp>
      <p:sp>
        <p:nvSpPr>
          <p:cNvPr id="15" name="Shape 10"/>
          <p:cNvSpPr/>
          <p:nvPr/>
        </p:nvSpPr>
        <p:spPr>
          <a:xfrm>
            <a:off x="8823960" y="2628900"/>
            <a:ext cx="365760" cy="0"/>
          </a:xfrm>
          <a:prstGeom prst="line">
            <a:avLst/>
          </a:prstGeom>
          <a:noFill/>
          <a:ln w="28575">
            <a:solidFill>
              <a:srgbClr val="0B2545"/>
            </a:solidFill>
            <a:prstDash val="solid"/>
            <a:tailEnd type="triangle"/>
          </a:ln>
        </p:spPr>
      </p:sp>
      <p:pic>
        <p:nvPicPr>
          <p:cNvPr id="16" name="Image 3" descr="preencoded.png"/>
          <p:cNvPicPr>
            <a:picLocks noChangeAspect="1"/>
          </p:cNvPicPr>
          <p:nvPr/>
        </p:nvPicPr>
        <p:blipFill>
          <a:blip r:embed="rId6"/>
          <a:stretch>
            <a:fillRect/>
          </a:stretch>
        </p:blipFill>
        <p:spPr>
          <a:xfrm>
            <a:off x="9299448" y="1463040"/>
            <a:ext cx="2331720" cy="2331720"/>
          </a:xfrm>
          <a:prstGeom prst="rect">
            <a:avLst/>
          </a:prstGeom>
          <a:effectLst>
            <a:outerShdw blurRad="101600" dist="25400" dir="5400000" algn="bl" rotWithShape="0">
              <a:srgbClr val="000000">
                <a:alpha val="14000"/>
              </a:srgbClr>
            </a:outerShdw>
          </a:effectLst>
        </p:spPr>
      </p:pic>
      <p:sp>
        <p:nvSpPr>
          <p:cNvPr id="17" name="Text 11"/>
          <p:cNvSpPr txBox="1"/>
          <p:nvPr/>
        </p:nvSpPr>
        <p:spPr>
          <a:xfrm>
            <a:off x="9299448" y="3886200"/>
            <a:ext cx="233172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Refined flood mask</a:t>
            </a:r>
            <a:endParaRPr lang="en-US" sz="1400" dirty="0"/>
          </a:p>
        </p:txBody>
      </p:sp>
      <p:sp>
        <p:nvSpPr>
          <p:cNvPr id="18" name="Text 12"/>
          <p:cNvSpPr txBox="1"/>
          <p:nvPr/>
        </p:nvSpPr>
        <p:spPr>
          <a:xfrm>
            <a:off x="9299448" y="4206240"/>
            <a:ext cx="2331720" cy="320040"/>
          </a:xfrm>
          <a:prstGeom prst="rect">
            <a:avLst/>
          </a:prstGeom>
          <a:noFill/>
          <a:ln/>
        </p:spPr>
        <p:txBody>
          <a:bodyPr wrap="square" lIns="0" tIns="0" rIns="0" bIns="0" rtlCol="0" anchor="ctr"/>
          <a:lstStyle/>
          <a:p>
            <a:pPr marL="0" indent="0">
              <a:buNone/>
            </a:pPr>
            <a:r>
              <a:rPr lang="en-US" sz="1150" dirty="0">
                <a:solidFill>
                  <a:srgbClr val="5B6B7B"/>
                </a:solidFill>
                <a:latin typeface="Calibri" pitchFamily="34" charset="0"/>
                <a:ea typeface="Calibri" pitchFamily="34" charset="-122"/>
                <a:cs typeface="Calibri" pitchFamily="34" charset="-120"/>
              </a:rPr>
              <a:t>After morphology and area filtering</a:t>
            </a:r>
            <a:endParaRPr lang="en-US" sz="1150" dirty="0"/>
          </a:p>
        </p:txBody>
      </p:sp>
      <p:sp>
        <p:nvSpPr>
          <p:cNvPr id="19" name="Shape 13"/>
          <p:cNvSpPr/>
          <p:nvPr/>
        </p:nvSpPr>
        <p:spPr>
          <a:xfrm>
            <a:off x="548640" y="4846320"/>
            <a:ext cx="2651760" cy="1325880"/>
          </a:xfrm>
          <a:prstGeom prst="roundRect">
            <a:avLst>
              <a:gd name="adj" fmla="val 6897"/>
            </a:avLst>
          </a:prstGeom>
          <a:solidFill>
            <a:srgbClr val="EEF4F7"/>
          </a:solidFill>
          <a:ln w="12700">
            <a:solidFill>
              <a:srgbClr val="EEF4F7"/>
            </a:solidFill>
            <a:prstDash val="solid"/>
          </a:ln>
        </p:spPr>
      </p:sp>
      <p:sp>
        <p:nvSpPr>
          <p:cNvPr id="20" name="Shape 14"/>
          <p:cNvSpPr/>
          <p:nvPr/>
        </p:nvSpPr>
        <p:spPr>
          <a:xfrm>
            <a:off x="731520" y="4983480"/>
            <a:ext cx="502920" cy="502920"/>
          </a:xfrm>
          <a:prstGeom prst="ellipse">
            <a:avLst/>
          </a:prstGeom>
          <a:solidFill>
            <a:srgbClr val="1B9AAA"/>
          </a:solidFill>
          <a:ln w="12700">
            <a:solidFill>
              <a:srgbClr val="1B9AAA"/>
            </a:solidFill>
            <a:prstDash val="solid"/>
          </a:ln>
        </p:spPr>
      </p:sp>
      <p:pic>
        <p:nvPicPr>
          <p:cNvPr id="21" name="Image 4" descr="preencoded.png"/>
          <p:cNvPicPr>
            <a:picLocks noChangeAspect="1"/>
          </p:cNvPicPr>
          <p:nvPr/>
        </p:nvPicPr>
        <p:blipFill>
          <a:blip r:embed="rId7"/>
          <a:stretch>
            <a:fillRect/>
          </a:stretch>
        </p:blipFill>
        <p:spPr>
          <a:xfrm>
            <a:off x="862279" y="5114239"/>
            <a:ext cx="241402" cy="241402"/>
          </a:xfrm>
          <a:prstGeom prst="rect">
            <a:avLst/>
          </a:prstGeom>
        </p:spPr>
      </p:pic>
      <p:sp>
        <p:nvSpPr>
          <p:cNvPr id="22" name="Text 15"/>
          <p:cNvSpPr txBox="1"/>
          <p:nvPr/>
        </p:nvSpPr>
        <p:spPr>
          <a:xfrm>
            <a:off x="1325880" y="4956048"/>
            <a:ext cx="1783080" cy="5486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Morphological opening</a:t>
            </a:r>
            <a:endParaRPr lang="en-US" sz="1350" dirty="0"/>
          </a:p>
        </p:txBody>
      </p:sp>
      <p:sp>
        <p:nvSpPr>
          <p:cNvPr id="23" name="Text 16"/>
          <p:cNvSpPr txBox="1"/>
          <p:nvPr/>
        </p:nvSpPr>
        <p:spPr>
          <a:xfrm>
            <a:off x="731520" y="5550408"/>
            <a:ext cx="2377440" cy="54864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Removes isolated false-water pixels</a:t>
            </a:r>
            <a:endParaRPr lang="en-US" sz="1200" dirty="0"/>
          </a:p>
        </p:txBody>
      </p:sp>
      <p:sp>
        <p:nvSpPr>
          <p:cNvPr id="24" name="Shape 17"/>
          <p:cNvSpPr/>
          <p:nvPr/>
        </p:nvSpPr>
        <p:spPr>
          <a:xfrm>
            <a:off x="3364992" y="4846320"/>
            <a:ext cx="2651760" cy="1325880"/>
          </a:xfrm>
          <a:prstGeom prst="roundRect">
            <a:avLst>
              <a:gd name="adj" fmla="val 6897"/>
            </a:avLst>
          </a:prstGeom>
          <a:solidFill>
            <a:srgbClr val="EEF4F7"/>
          </a:solidFill>
          <a:ln w="12700">
            <a:solidFill>
              <a:srgbClr val="EEF4F7"/>
            </a:solidFill>
            <a:prstDash val="solid"/>
          </a:ln>
        </p:spPr>
      </p:sp>
      <p:sp>
        <p:nvSpPr>
          <p:cNvPr id="25" name="Shape 18"/>
          <p:cNvSpPr/>
          <p:nvPr/>
        </p:nvSpPr>
        <p:spPr>
          <a:xfrm>
            <a:off x="3547872" y="4983480"/>
            <a:ext cx="502920" cy="502920"/>
          </a:xfrm>
          <a:prstGeom prst="ellipse">
            <a:avLst/>
          </a:prstGeom>
          <a:solidFill>
            <a:srgbClr val="1B9AAA"/>
          </a:solidFill>
          <a:ln w="12700">
            <a:solidFill>
              <a:srgbClr val="1B9AAA"/>
            </a:solidFill>
            <a:prstDash val="solid"/>
          </a:ln>
        </p:spPr>
      </p:sp>
      <p:pic>
        <p:nvPicPr>
          <p:cNvPr id="26" name="Image 5" descr="preencoded.png"/>
          <p:cNvPicPr>
            <a:picLocks noChangeAspect="1"/>
          </p:cNvPicPr>
          <p:nvPr/>
        </p:nvPicPr>
        <p:blipFill>
          <a:blip r:embed="rId8"/>
          <a:stretch>
            <a:fillRect/>
          </a:stretch>
        </p:blipFill>
        <p:spPr>
          <a:xfrm>
            <a:off x="3678631" y="5114239"/>
            <a:ext cx="241402" cy="241402"/>
          </a:xfrm>
          <a:prstGeom prst="rect">
            <a:avLst/>
          </a:prstGeom>
        </p:spPr>
      </p:pic>
      <p:sp>
        <p:nvSpPr>
          <p:cNvPr id="27" name="Text 19"/>
          <p:cNvSpPr txBox="1"/>
          <p:nvPr/>
        </p:nvSpPr>
        <p:spPr>
          <a:xfrm>
            <a:off x="4142232" y="4956048"/>
            <a:ext cx="1783080" cy="5486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Closing &amp; hole filling</a:t>
            </a:r>
            <a:endParaRPr lang="en-US" sz="1350" dirty="0"/>
          </a:p>
        </p:txBody>
      </p:sp>
      <p:sp>
        <p:nvSpPr>
          <p:cNvPr id="28" name="Text 20"/>
          <p:cNvSpPr txBox="1"/>
          <p:nvPr/>
        </p:nvSpPr>
        <p:spPr>
          <a:xfrm>
            <a:off x="3547872" y="5550408"/>
            <a:ext cx="2377440" cy="54864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Fills gaps under roofs and tree canopy</a:t>
            </a:r>
            <a:endParaRPr lang="en-US" sz="1200" dirty="0"/>
          </a:p>
        </p:txBody>
      </p:sp>
      <p:sp>
        <p:nvSpPr>
          <p:cNvPr id="29" name="Shape 21"/>
          <p:cNvSpPr/>
          <p:nvPr/>
        </p:nvSpPr>
        <p:spPr>
          <a:xfrm>
            <a:off x="6181344" y="4846320"/>
            <a:ext cx="2651760" cy="1325880"/>
          </a:xfrm>
          <a:prstGeom prst="roundRect">
            <a:avLst>
              <a:gd name="adj" fmla="val 6897"/>
            </a:avLst>
          </a:prstGeom>
          <a:solidFill>
            <a:srgbClr val="EEF4F7"/>
          </a:solidFill>
          <a:ln w="12700">
            <a:solidFill>
              <a:srgbClr val="EEF4F7"/>
            </a:solidFill>
            <a:prstDash val="solid"/>
          </a:ln>
        </p:spPr>
      </p:sp>
      <p:sp>
        <p:nvSpPr>
          <p:cNvPr id="30" name="Shape 22"/>
          <p:cNvSpPr/>
          <p:nvPr/>
        </p:nvSpPr>
        <p:spPr>
          <a:xfrm>
            <a:off x="6364224" y="4983480"/>
            <a:ext cx="502920" cy="502920"/>
          </a:xfrm>
          <a:prstGeom prst="ellipse">
            <a:avLst/>
          </a:prstGeom>
          <a:solidFill>
            <a:srgbClr val="1B9AAA"/>
          </a:solidFill>
          <a:ln w="12700">
            <a:solidFill>
              <a:srgbClr val="1B9AAA"/>
            </a:solidFill>
            <a:prstDash val="solid"/>
          </a:ln>
        </p:spPr>
      </p:sp>
      <p:pic>
        <p:nvPicPr>
          <p:cNvPr id="31" name="Image 6" descr="preencoded.png"/>
          <p:cNvPicPr>
            <a:picLocks noChangeAspect="1"/>
          </p:cNvPicPr>
          <p:nvPr/>
        </p:nvPicPr>
        <p:blipFill>
          <a:blip r:embed="rId9"/>
          <a:stretch>
            <a:fillRect/>
          </a:stretch>
        </p:blipFill>
        <p:spPr>
          <a:xfrm>
            <a:off x="6494983" y="5114239"/>
            <a:ext cx="241402" cy="241402"/>
          </a:xfrm>
          <a:prstGeom prst="rect">
            <a:avLst/>
          </a:prstGeom>
        </p:spPr>
      </p:pic>
      <p:sp>
        <p:nvSpPr>
          <p:cNvPr id="32" name="Text 23"/>
          <p:cNvSpPr txBox="1"/>
          <p:nvPr/>
        </p:nvSpPr>
        <p:spPr>
          <a:xfrm>
            <a:off x="6958584" y="4956048"/>
            <a:ext cx="1783080" cy="5486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Minimum mapping unit</a:t>
            </a:r>
            <a:endParaRPr lang="en-US" sz="1350" dirty="0"/>
          </a:p>
        </p:txBody>
      </p:sp>
      <p:sp>
        <p:nvSpPr>
          <p:cNvPr id="33" name="Text 24"/>
          <p:cNvSpPr txBox="1"/>
          <p:nvPr/>
        </p:nvSpPr>
        <p:spPr>
          <a:xfrm>
            <a:off x="6364224" y="5550408"/>
            <a:ext cx="2377440" cy="54864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Drops blobs smaller than a set area</a:t>
            </a:r>
            <a:endParaRPr lang="en-US" sz="1200" dirty="0"/>
          </a:p>
        </p:txBody>
      </p:sp>
      <p:sp>
        <p:nvSpPr>
          <p:cNvPr id="34" name="Shape 25"/>
          <p:cNvSpPr/>
          <p:nvPr/>
        </p:nvSpPr>
        <p:spPr>
          <a:xfrm>
            <a:off x="8997696" y="4846320"/>
            <a:ext cx="2651760" cy="1325880"/>
          </a:xfrm>
          <a:prstGeom prst="roundRect">
            <a:avLst>
              <a:gd name="adj" fmla="val 6897"/>
            </a:avLst>
          </a:prstGeom>
          <a:solidFill>
            <a:srgbClr val="EEF4F7"/>
          </a:solidFill>
          <a:ln w="12700">
            <a:solidFill>
              <a:srgbClr val="EEF4F7"/>
            </a:solidFill>
            <a:prstDash val="solid"/>
          </a:ln>
        </p:spPr>
      </p:sp>
      <p:sp>
        <p:nvSpPr>
          <p:cNvPr id="35" name="Shape 26"/>
          <p:cNvSpPr/>
          <p:nvPr/>
        </p:nvSpPr>
        <p:spPr>
          <a:xfrm>
            <a:off x="9180576" y="4983480"/>
            <a:ext cx="502920" cy="502920"/>
          </a:xfrm>
          <a:prstGeom prst="ellipse">
            <a:avLst/>
          </a:prstGeom>
          <a:solidFill>
            <a:srgbClr val="1B9AAA"/>
          </a:solidFill>
          <a:ln w="12700">
            <a:solidFill>
              <a:srgbClr val="1B9AAA"/>
            </a:solidFill>
            <a:prstDash val="solid"/>
          </a:ln>
        </p:spPr>
      </p:sp>
      <p:pic>
        <p:nvPicPr>
          <p:cNvPr id="36" name="Image 7" descr="preencoded.png"/>
          <p:cNvPicPr>
            <a:picLocks noChangeAspect="1"/>
          </p:cNvPicPr>
          <p:nvPr/>
        </p:nvPicPr>
        <p:blipFill>
          <a:blip r:embed="rId10"/>
          <a:stretch>
            <a:fillRect/>
          </a:stretch>
        </p:blipFill>
        <p:spPr>
          <a:xfrm>
            <a:off x="9311335" y="5114239"/>
            <a:ext cx="241402" cy="241402"/>
          </a:xfrm>
          <a:prstGeom prst="rect">
            <a:avLst/>
          </a:prstGeom>
        </p:spPr>
      </p:pic>
      <p:sp>
        <p:nvSpPr>
          <p:cNvPr id="37" name="Text 27"/>
          <p:cNvSpPr txBox="1"/>
          <p:nvPr/>
        </p:nvSpPr>
        <p:spPr>
          <a:xfrm>
            <a:off x="9774936" y="4956048"/>
            <a:ext cx="1783080" cy="5486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Polygonize &amp; simplify</a:t>
            </a:r>
            <a:endParaRPr lang="en-US" sz="1350" dirty="0"/>
          </a:p>
        </p:txBody>
      </p:sp>
      <p:sp>
        <p:nvSpPr>
          <p:cNvPr id="38" name="Text 28"/>
          <p:cNvSpPr txBox="1"/>
          <p:nvPr/>
        </p:nvSpPr>
        <p:spPr>
          <a:xfrm>
            <a:off x="9180576" y="5550408"/>
            <a:ext cx="2377440" cy="548640"/>
          </a:xfrm>
          <a:prstGeom prst="rect">
            <a:avLst/>
          </a:prstGeom>
          <a:noFill/>
          <a:ln/>
        </p:spPr>
        <p:txBody>
          <a:bodyPr wrap="square" lIns="0" tIns="0" rIns="0" bIns="0" rtlCol="0" anchor="t"/>
          <a:lstStyle/>
          <a:p>
            <a:pPr marL="0" indent="0">
              <a:buNone/>
            </a:pPr>
            <a:r>
              <a:rPr lang="en-US" sz="1200" dirty="0">
                <a:solidFill>
                  <a:srgbClr val="1F2D3D"/>
                </a:solidFill>
                <a:latin typeface="Calibri" pitchFamily="34" charset="0"/>
                <a:ea typeface="Calibri" pitchFamily="34" charset="-122"/>
                <a:cs typeface="Calibri" pitchFamily="34" charset="-120"/>
              </a:rPr>
              <a:t>Raster to vector; Douglas–Peucker smoothing</a:t>
            </a:r>
            <a:endParaRPr lang="en-US" sz="1200" dirty="0"/>
          </a:p>
        </p:txBody>
      </p:sp>
      <p:sp>
        <p:nvSpPr>
          <p:cNvPr id="39" name="Text 29"/>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08 · RESULT</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Drone orthomosaic to GIS flood map</a:t>
            </a:r>
            <a:endParaRPr lang="en-US" sz="3000" dirty="0"/>
          </a:p>
        </p:txBody>
      </p:sp>
      <p:pic>
        <p:nvPicPr>
          <p:cNvPr id="4" name="Image 0" descr="preencoded.png"/>
          <p:cNvPicPr>
            <a:picLocks noChangeAspect="1"/>
          </p:cNvPicPr>
          <p:nvPr/>
        </p:nvPicPr>
        <p:blipFill>
          <a:blip r:embed="rId3"/>
          <a:stretch>
            <a:fillRect/>
          </a:stretch>
        </p:blipFill>
        <p:spPr>
          <a:xfrm>
            <a:off x="548640" y="1463040"/>
            <a:ext cx="5257800" cy="3504895"/>
          </a:xfrm>
          <a:prstGeom prst="rect">
            <a:avLst/>
          </a:prstGeom>
          <a:effectLst>
            <a:outerShdw blurRad="101600" dist="25400" dir="5400000" algn="bl" rotWithShape="0">
              <a:srgbClr val="000000">
                <a:alpha val="14000"/>
              </a:srgbClr>
            </a:outerShdw>
          </a:effectLst>
        </p:spPr>
      </p:pic>
      <p:pic>
        <p:nvPicPr>
          <p:cNvPr id="5" name="Image 1" descr="preencoded.png"/>
          <p:cNvPicPr>
            <a:picLocks noChangeAspect="1"/>
          </p:cNvPicPr>
          <p:nvPr/>
        </p:nvPicPr>
        <p:blipFill>
          <a:blip r:embed="rId4"/>
          <a:stretch>
            <a:fillRect/>
          </a:stretch>
        </p:blipFill>
        <p:spPr>
          <a:xfrm>
            <a:off x="6382512" y="1463040"/>
            <a:ext cx="5257800" cy="3504895"/>
          </a:xfrm>
          <a:prstGeom prst="rect">
            <a:avLst/>
          </a:prstGeom>
          <a:effectLst>
            <a:outerShdw blurRad="101600" dist="25400" dir="5400000" algn="bl" rotWithShape="0">
              <a:srgbClr val="000000">
                <a:alpha val="14000"/>
              </a:srgbClr>
            </a:outerShdw>
          </a:effectLst>
        </p:spPr>
      </p:pic>
      <p:sp>
        <p:nvSpPr>
          <p:cNvPr id="6" name="Shape 2"/>
          <p:cNvSpPr/>
          <p:nvPr/>
        </p:nvSpPr>
        <p:spPr>
          <a:xfrm>
            <a:off x="5852160" y="2959456"/>
            <a:ext cx="512064" cy="512064"/>
          </a:xfrm>
          <a:prstGeom prst="ellipse">
            <a:avLst/>
          </a:prstGeom>
          <a:solidFill>
            <a:srgbClr val="E09F3E"/>
          </a:solidFill>
          <a:ln w="25400">
            <a:solidFill>
              <a:srgbClr val="FFFFFF"/>
            </a:solidFill>
            <a:prstDash val="solid"/>
          </a:ln>
        </p:spPr>
      </p:sp>
      <p:pic>
        <p:nvPicPr>
          <p:cNvPr id="7" name="Image 2" descr="preencoded.png"/>
          <p:cNvPicPr>
            <a:picLocks noChangeAspect="1"/>
          </p:cNvPicPr>
          <p:nvPr/>
        </p:nvPicPr>
        <p:blipFill>
          <a:blip r:embed="rId5"/>
          <a:stretch>
            <a:fillRect/>
          </a:stretch>
        </p:blipFill>
        <p:spPr>
          <a:xfrm>
            <a:off x="5943600" y="3050896"/>
            <a:ext cx="329184" cy="329184"/>
          </a:xfrm>
          <a:prstGeom prst="rect">
            <a:avLst/>
          </a:prstGeom>
        </p:spPr>
      </p:pic>
      <p:sp>
        <p:nvSpPr>
          <p:cNvPr id="8" name="Text 3"/>
          <p:cNvSpPr txBox="1"/>
          <p:nvPr/>
        </p:nvSpPr>
        <p:spPr>
          <a:xfrm>
            <a:off x="548640" y="5029200"/>
            <a:ext cx="52578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 Post-flood drone orthomosaic</a:t>
            </a:r>
            <a:endParaRPr lang="en-US" sz="1400" dirty="0"/>
          </a:p>
        </p:txBody>
      </p:sp>
      <p:sp>
        <p:nvSpPr>
          <p:cNvPr id="9" name="Text 4"/>
          <p:cNvSpPr txBox="1"/>
          <p:nvPr/>
        </p:nvSpPr>
        <p:spPr>
          <a:xfrm>
            <a:off x="6382512" y="5029200"/>
            <a:ext cx="52578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 Segmented flood extent with impact layers</a:t>
            </a:r>
            <a:endParaRPr lang="en-US" sz="1400" dirty="0"/>
          </a:p>
        </p:txBody>
      </p:sp>
      <p:sp>
        <p:nvSpPr>
          <p:cNvPr id="10" name="Shape 5"/>
          <p:cNvSpPr/>
          <p:nvPr/>
        </p:nvSpPr>
        <p:spPr>
          <a:xfrm>
            <a:off x="548640" y="5623560"/>
            <a:ext cx="292608" cy="237744"/>
          </a:xfrm>
          <a:prstGeom prst="rect">
            <a:avLst/>
          </a:prstGeom>
          <a:solidFill>
            <a:srgbClr val="1D3C78"/>
          </a:solidFill>
          <a:ln w="9525">
            <a:solidFill>
              <a:srgbClr val="5B6B7B"/>
            </a:solidFill>
            <a:prstDash val="solid"/>
          </a:ln>
        </p:spPr>
      </p:sp>
      <p:sp>
        <p:nvSpPr>
          <p:cNvPr id="11" name="Text 6"/>
          <p:cNvSpPr txBox="1"/>
          <p:nvPr/>
        </p:nvSpPr>
        <p:spPr>
          <a:xfrm>
            <a:off x="93268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Permanent river</a:t>
            </a:r>
            <a:endParaRPr lang="en-US" sz="1200" dirty="0"/>
          </a:p>
        </p:txBody>
      </p:sp>
      <p:sp>
        <p:nvSpPr>
          <p:cNvPr id="12" name="Shape 7"/>
          <p:cNvSpPr/>
          <p:nvPr/>
        </p:nvSpPr>
        <p:spPr>
          <a:xfrm>
            <a:off x="2423160" y="5623560"/>
            <a:ext cx="292608" cy="237744"/>
          </a:xfrm>
          <a:prstGeom prst="rect">
            <a:avLst/>
          </a:prstGeom>
          <a:solidFill>
            <a:srgbClr val="1E96E6"/>
          </a:solidFill>
          <a:ln w="9525">
            <a:solidFill>
              <a:srgbClr val="5B6B7B"/>
            </a:solidFill>
            <a:prstDash val="solid"/>
          </a:ln>
        </p:spPr>
      </p:sp>
      <p:sp>
        <p:nvSpPr>
          <p:cNvPr id="13" name="Text 8"/>
          <p:cNvSpPr txBox="1"/>
          <p:nvPr/>
        </p:nvSpPr>
        <p:spPr>
          <a:xfrm>
            <a:off x="280720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Flood extent</a:t>
            </a:r>
            <a:endParaRPr lang="en-US" sz="1200" dirty="0"/>
          </a:p>
        </p:txBody>
      </p:sp>
      <p:sp>
        <p:nvSpPr>
          <p:cNvPr id="14" name="Shape 9"/>
          <p:cNvSpPr/>
          <p:nvPr/>
        </p:nvSpPr>
        <p:spPr>
          <a:xfrm>
            <a:off x="4297680" y="5623560"/>
            <a:ext cx="292608" cy="237744"/>
          </a:xfrm>
          <a:prstGeom prst="rect">
            <a:avLst/>
          </a:prstGeom>
          <a:solidFill>
            <a:srgbClr val="00E6FF"/>
          </a:solidFill>
          <a:ln w="9525">
            <a:solidFill>
              <a:srgbClr val="5B6B7B"/>
            </a:solidFill>
            <a:prstDash val="solid"/>
          </a:ln>
        </p:spPr>
      </p:sp>
      <p:sp>
        <p:nvSpPr>
          <p:cNvPr id="15" name="Text 10"/>
          <p:cNvSpPr txBox="1"/>
          <p:nvPr/>
        </p:nvSpPr>
        <p:spPr>
          <a:xfrm>
            <a:off x="468172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Flood boundary</a:t>
            </a:r>
            <a:endParaRPr lang="en-US" sz="1200" dirty="0"/>
          </a:p>
        </p:txBody>
      </p:sp>
      <p:sp>
        <p:nvSpPr>
          <p:cNvPr id="16" name="Shape 11"/>
          <p:cNvSpPr/>
          <p:nvPr/>
        </p:nvSpPr>
        <p:spPr>
          <a:xfrm>
            <a:off x="6172200" y="5623560"/>
            <a:ext cx="292608" cy="237744"/>
          </a:xfrm>
          <a:prstGeom prst="rect">
            <a:avLst/>
          </a:prstGeom>
          <a:solidFill>
            <a:srgbClr val="E62828"/>
          </a:solidFill>
          <a:ln w="9525">
            <a:solidFill>
              <a:srgbClr val="5B6B7B"/>
            </a:solidFill>
            <a:prstDash val="solid"/>
          </a:ln>
        </p:spPr>
      </p:sp>
      <p:sp>
        <p:nvSpPr>
          <p:cNvPr id="17" name="Text 12"/>
          <p:cNvSpPr txBox="1"/>
          <p:nvPr/>
        </p:nvSpPr>
        <p:spPr>
          <a:xfrm>
            <a:off x="655624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Flooded road</a:t>
            </a:r>
            <a:endParaRPr lang="en-US" sz="1200" dirty="0"/>
          </a:p>
        </p:txBody>
      </p:sp>
      <p:sp>
        <p:nvSpPr>
          <p:cNvPr id="18" name="Shape 13"/>
          <p:cNvSpPr/>
          <p:nvPr/>
        </p:nvSpPr>
        <p:spPr>
          <a:xfrm>
            <a:off x="8046720" y="5623560"/>
            <a:ext cx="292608" cy="237744"/>
          </a:xfrm>
          <a:prstGeom prst="rect">
            <a:avLst/>
          </a:prstGeom>
          <a:solidFill>
            <a:srgbClr val="FF9614"/>
          </a:solidFill>
          <a:ln w="9525">
            <a:solidFill>
              <a:srgbClr val="5B6B7B"/>
            </a:solidFill>
            <a:prstDash val="solid"/>
          </a:ln>
        </p:spPr>
      </p:sp>
      <p:sp>
        <p:nvSpPr>
          <p:cNvPr id="19" name="Text 14"/>
          <p:cNvSpPr txBox="1"/>
          <p:nvPr/>
        </p:nvSpPr>
        <p:spPr>
          <a:xfrm>
            <a:off x="843076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Affected building</a:t>
            </a:r>
            <a:endParaRPr lang="en-US" sz="1200" dirty="0"/>
          </a:p>
        </p:txBody>
      </p:sp>
      <p:sp>
        <p:nvSpPr>
          <p:cNvPr id="20" name="Shape 15"/>
          <p:cNvSpPr/>
          <p:nvPr/>
        </p:nvSpPr>
        <p:spPr>
          <a:xfrm>
            <a:off x="9921240" y="5623560"/>
            <a:ext cx="292608" cy="237744"/>
          </a:xfrm>
          <a:prstGeom prst="rect">
            <a:avLst/>
          </a:prstGeom>
          <a:solidFill>
            <a:srgbClr val="F5F5F5"/>
          </a:solidFill>
          <a:ln w="9525">
            <a:solidFill>
              <a:srgbClr val="5B6B7B"/>
            </a:solidFill>
            <a:prstDash val="solid"/>
          </a:ln>
        </p:spPr>
      </p:sp>
      <p:sp>
        <p:nvSpPr>
          <p:cNvPr id="21" name="Text 16"/>
          <p:cNvSpPr txBox="1"/>
          <p:nvPr/>
        </p:nvSpPr>
        <p:spPr>
          <a:xfrm>
            <a:off x="10305288" y="5559552"/>
            <a:ext cx="1463040"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Unaffected building</a:t>
            </a:r>
            <a:endParaRPr lang="en-US" sz="1200" dirty="0"/>
          </a:p>
        </p:txBody>
      </p:sp>
      <p:sp>
        <p:nvSpPr>
          <p:cNvPr id="22" name="Text 17"/>
          <p:cNvSpPr txBox="1"/>
          <p:nvPr/>
        </p:nvSpPr>
        <p:spPr>
          <a:xfrm>
            <a:off x="548640" y="6035040"/>
            <a:ext cx="10515600" cy="32004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Demonstration scene: simulated 1.5 km × 1.0 km rural study area (river, cropland and village) used to illustrate the pipeline output.</a:t>
            </a:r>
            <a:endParaRPr lang="en-US" sz="1100" dirty="0"/>
          </a:p>
        </p:txBody>
      </p:sp>
      <p:sp>
        <p:nvSpPr>
          <p:cNvPr id="23" name="Text 18"/>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08 · GIS ANALYSIS</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Calculating flood area and boundaries</a:t>
            </a:r>
            <a:endParaRPr lang="en-US" sz="3000" dirty="0"/>
          </a:p>
        </p:txBody>
      </p:sp>
      <p:sp>
        <p:nvSpPr>
          <p:cNvPr id="4" name="Shape 2"/>
          <p:cNvSpPr/>
          <p:nvPr/>
        </p:nvSpPr>
        <p:spPr>
          <a:xfrm>
            <a:off x="548640" y="1554480"/>
            <a:ext cx="502920" cy="502920"/>
          </a:xfrm>
          <a:prstGeom prst="ellipse">
            <a:avLst/>
          </a:prstGeom>
          <a:solidFill>
            <a:srgbClr val="1B9AAA"/>
          </a:solidFill>
          <a:ln w="12700">
            <a:solidFill>
              <a:srgbClr val="1B9AAA"/>
            </a:solidFill>
            <a:prstDash val="solid"/>
          </a:ln>
        </p:spPr>
      </p:sp>
      <p:sp>
        <p:nvSpPr>
          <p:cNvPr id="5" name="Text 3"/>
          <p:cNvSpPr txBox="1"/>
          <p:nvPr/>
        </p:nvSpPr>
        <p:spPr>
          <a:xfrm>
            <a:off x="54864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34440" y="1508760"/>
            <a:ext cx="5029200" cy="73152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Polygonize</a:t>
            </a:r>
            <a:endParaRPr lang="en-US" sz="1500" dirty="0"/>
          </a:p>
          <a:p>
            <a:pPr marL="0" indent="0">
              <a:buNone/>
            </a:pPr>
            <a:r>
              <a:rPr lang="en-US" sz="1300" dirty="0">
                <a:solidFill>
                  <a:srgbClr val="1F2D3D"/>
                </a:solidFill>
                <a:latin typeface="Calibri" pitchFamily="34" charset="0"/>
                <a:ea typeface="Calibri" pitchFamily="34" charset="-122"/>
                <a:cs typeface="Calibri" pitchFamily="34" charset="-120"/>
              </a:rPr>
              <a:t>Convert the refined raster mask into vector flood polygons (GDAL / Rasterio).</a:t>
            </a:r>
            <a:endParaRPr lang="en-US" sz="1500" dirty="0"/>
          </a:p>
        </p:txBody>
      </p:sp>
      <p:sp>
        <p:nvSpPr>
          <p:cNvPr id="7" name="Shape 5"/>
          <p:cNvSpPr/>
          <p:nvPr/>
        </p:nvSpPr>
        <p:spPr>
          <a:xfrm>
            <a:off x="548640" y="2395728"/>
            <a:ext cx="502920" cy="502920"/>
          </a:xfrm>
          <a:prstGeom prst="ellipse">
            <a:avLst/>
          </a:prstGeom>
          <a:solidFill>
            <a:srgbClr val="1B9AAA"/>
          </a:solidFill>
          <a:ln w="12700">
            <a:solidFill>
              <a:srgbClr val="1B9AAA"/>
            </a:solidFill>
            <a:prstDash val="solid"/>
          </a:ln>
        </p:spPr>
      </p:sp>
      <p:sp>
        <p:nvSpPr>
          <p:cNvPr id="8" name="Text 6"/>
          <p:cNvSpPr txBox="1"/>
          <p:nvPr/>
        </p:nvSpPr>
        <p:spPr>
          <a:xfrm>
            <a:off x="548640" y="239572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234440" y="2350008"/>
            <a:ext cx="5029200" cy="73152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Project to metric CRS</a:t>
            </a:r>
            <a:endParaRPr lang="en-US" sz="1500" dirty="0"/>
          </a:p>
          <a:p>
            <a:pPr marL="0" indent="0">
              <a:buNone/>
            </a:pPr>
            <a:r>
              <a:rPr lang="en-US" sz="1300" dirty="0">
                <a:solidFill>
                  <a:srgbClr val="1F2D3D"/>
                </a:solidFill>
                <a:latin typeface="Calibri" pitchFamily="34" charset="0"/>
                <a:ea typeface="Calibri" pitchFamily="34" charset="-122"/>
                <a:cs typeface="Calibri" pitchFamily="34" charset="-120"/>
              </a:rPr>
              <a:t>Reproject to UTM so that areas are measured in m², not degrees.</a:t>
            </a:r>
            <a:endParaRPr lang="en-US" sz="1500" dirty="0"/>
          </a:p>
        </p:txBody>
      </p:sp>
      <p:sp>
        <p:nvSpPr>
          <p:cNvPr id="10" name="Shape 8"/>
          <p:cNvSpPr/>
          <p:nvPr/>
        </p:nvSpPr>
        <p:spPr>
          <a:xfrm>
            <a:off x="548640" y="3236976"/>
            <a:ext cx="502920" cy="502920"/>
          </a:xfrm>
          <a:prstGeom prst="ellipse">
            <a:avLst/>
          </a:prstGeom>
          <a:solidFill>
            <a:srgbClr val="1B9AAA"/>
          </a:solidFill>
          <a:ln w="12700">
            <a:solidFill>
              <a:srgbClr val="1B9AAA"/>
            </a:solidFill>
            <a:prstDash val="solid"/>
          </a:ln>
        </p:spPr>
      </p:sp>
      <p:sp>
        <p:nvSpPr>
          <p:cNvPr id="11" name="Text 9"/>
          <p:cNvSpPr txBox="1"/>
          <p:nvPr/>
        </p:nvSpPr>
        <p:spPr>
          <a:xfrm>
            <a:off x="548640" y="323697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234440" y="3191256"/>
            <a:ext cx="5029200" cy="73152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Remove permanent water</a:t>
            </a:r>
            <a:endParaRPr lang="en-US" sz="1500" dirty="0"/>
          </a:p>
          <a:p>
            <a:pPr marL="0" indent="0">
              <a:buNone/>
            </a:pPr>
            <a:r>
              <a:rPr lang="en-US" sz="1300" dirty="0">
                <a:solidFill>
                  <a:srgbClr val="1F2D3D"/>
                </a:solidFill>
                <a:latin typeface="Calibri" pitchFamily="34" charset="0"/>
                <a:ea typeface="Calibri" pitchFamily="34" charset="-122"/>
                <a:cs typeface="Calibri" pitchFamily="34" charset="-120"/>
              </a:rPr>
              <a:t>Subtract the pre-flood river and pond layer to isolate new inundation.</a:t>
            </a:r>
            <a:endParaRPr lang="en-US" sz="1500" dirty="0"/>
          </a:p>
        </p:txBody>
      </p:sp>
      <p:sp>
        <p:nvSpPr>
          <p:cNvPr id="13" name="Shape 11"/>
          <p:cNvSpPr/>
          <p:nvPr/>
        </p:nvSpPr>
        <p:spPr>
          <a:xfrm>
            <a:off x="548640" y="4078224"/>
            <a:ext cx="502920" cy="502920"/>
          </a:xfrm>
          <a:prstGeom prst="ellipse">
            <a:avLst/>
          </a:prstGeom>
          <a:solidFill>
            <a:srgbClr val="1B9AAA"/>
          </a:solidFill>
          <a:ln w="12700">
            <a:solidFill>
              <a:srgbClr val="1B9AAA"/>
            </a:solidFill>
            <a:prstDash val="solid"/>
          </a:ln>
        </p:spPr>
      </p:sp>
      <p:sp>
        <p:nvSpPr>
          <p:cNvPr id="14" name="Text 12"/>
          <p:cNvSpPr txBox="1"/>
          <p:nvPr/>
        </p:nvSpPr>
        <p:spPr>
          <a:xfrm>
            <a:off x="548640" y="407822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234440" y="4032504"/>
            <a:ext cx="5029200" cy="73152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Measure &amp; export</a:t>
            </a:r>
            <a:endParaRPr lang="en-US" sz="1500" dirty="0"/>
          </a:p>
          <a:p>
            <a:pPr marL="0" indent="0">
              <a:buNone/>
            </a:pPr>
            <a:r>
              <a:rPr lang="en-US" sz="1300" dirty="0">
                <a:solidFill>
                  <a:srgbClr val="1F2D3D"/>
                </a:solidFill>
                <a:latin typeface="Calibri" pitchFamily="34" charset="0"/>
                <a:ea typeface="Calibri" pitchFamily="34" charset="-122"/>
                <a:cs typeface="Calibri" pitchFamily="34" charset="-120"/>
              </a:rPr>
              <a:t>Compute area and perimeter; export boundaries as GeoJSON, Shapefile or KML.</a:t>
            </a:r>
            <a:endParaRPr lang="en-US" sz="1500" dirty="0"/>
          </a:p>
        </p:txBody>
      </p:sp>
      <p:sp>
        <p:nvSpPr>
          <p:cNvPr id="16" name="Shape 14"/>
          <p:cNvSpPr/>
          <p:nvPr/>
        </p:nvSpPr>
        <p:spPr>
          <a:xfrm>
            <a:off x="548640" y="4983480"/>
            <a:ext cx="5760720" cy="1188720"/>
          </a:xfrm>
          <a:prstGeom prst="roundRect">
            <a:avLst>
              <a:gd name="adj" fmla="val 7692"/>
            </a:avLst>
          </a:prstGeom>
          <a:solidFill>
            <a:srgbClr val="0B2545"/>
          </a:solidFill>
          <a:ln w="12700">
            <a:solidFill>
              <a:srgbClr val="0B2545"/>
            </a:solidFill>
            <a:prstDash val="solid"/>
          </a:ln>
        </p:spPr>
      </p:sp>
      <p:sp>
        <p:nvSpPr>
          <p:cNvPr id="17" name="Text 15"/>
          <p:cNvSpPr txBox="1"/>
          <p:nvPr/>
        </p:nvSpPr>
        <p:spPr>
          <a:xfrm>
            <a:off x="777240" y="5029200"/>
            <a:ext cx="5394960" cy="10972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Flooded area  A = N</a:t>
            </a:r>
            <a:r>
              <a:rPr lang="en-US" sz="1700" b="1" baseline="-40000" dirty="0">
                <a:solidFill>
                  <a:srgbClr val="FFFFFF"/>
                </a:solidFill>
                <a:latin typeface="Calibri" pitchFamily="34" charset="0"/>
                <a:ea typeface="Calibri" pitchFamily="34" charset="-122"/>
                <a:cs typeface="Calibri" pitchFamily="34" charset="-120"/>
              </a:rPr>
              <a:t>flood</a:t>
            </a:r>
            <a:r>
              <a:rPr lang="en-US" sz="1700" b="1" dirty="0">
                <a:solidFill>
                  <a:srgbClr val="FFFFFF"/>
                </a:solidFill>
                <a:latin typeface="Calibri" pitchFamily="34" charset="0"/>
                <a:ea typeface="Calibri" pitchFamily="34" charset="-122"/>
                <a:cs typeface="Calibri" pitchFamily="34" charset="-120"/>
              </a:rPr>
              <a:t> × GSD²</a:t>
            </a:r>
            <a:endParaRPr lang="en-US" sz="1700" dirty="0"/>
          </a:p>
          <a:p>
            <a:pPr marL="0" indent="0">
              <a:buNone/>
            </a:pPr>
            <a:r>
              <a:rPr lang="en-US" sz="1400" b="1" dirty="0">
                <a:solidFill>
                  <a:srgbClr val="E09F3E"/>
                </a:solidFill>
                <a:latin typeface="Calibri" pitchFamily="34" charset="0"/>
                <a:ea typeface="Calibri" pitchFamily="34" charset="-122"/>
                <a:cs typeface="Calibri" pitchFamily="34" charset="-120"/>
              </a:rPr>
              <a:t>Flood extent = post-flood water − permanent water</a:t>
            </a:r>
            <a:endParaRPr lang="en-US" sz="1700" dirty="0"/>
          </a:p>
          <a:p>
            <a:pPr marL="0" indent="0">
              <a:buNone/>
            </a:pPr>
            <a:r>
              <a:rPr lang="en-US" sz="1300" dirty="0">
                <a:solidFill>
                  <a:srgbClr val="CADCFC"/>
                </a:solidFill>
                <a:latin typeface="Calibri" pitchFamily="34" charset="0"/>
                <a:ea typeface="Calibri" pitchFamily="34" charset="-122"/>
                <a:cs typeface="Calibri" pitchFamily="34" charset="-120"/>
              </a:rPr>
              <a:t>Demo: 664,078 px × (1 m)² = 664,078 m² ≈ 66.4 ha</a:t>
            </a:r>
            <a:endParaRPr lang="en-US" sz="1700" dirty="0"/>
          </a:p>
        </p:txBody>
      </p:sp>
      <p:sp>
        <p:nvSpPr>
          <p:cNvPr id="18" name="Shape 16"/>
          <p:cNvSpPr/>
          <p:nvPr/>
        </p:nvSpPr>
        <p:spPr>
          <a:xfrm>
            <a:off x="6675120" y="1508760"/>
            <a:ext cx="2377440" cy="1828800"/>
          </a:xfrm>
          <a:prstGeom prst="roundRect">
            <a:avLst>
              <a:gd name="adj" fmla="val 5000"/>
            </a:avLst>
          </a:prstGeom>
          <a:solidFill>
            <a:srgbClr val="EEF4F7"/>
          </a:solidFill>
          <a:ln w="12700">
            <a:solidFill>
              <a:srgbClr val="EEF4F7"/>
            </a:solidFill>
            <a:prstDash val="solid"/>
          </a:ln>
        </p:spPr>
      </p:sp>
      <p:sp>
        <p:nvSpPr>
          <p:cNvPr id="19" name="Text 17"/>
          <p:cNvSpPr txBox="1"/>
          <p:nvPr/>
        </p:nvSpPr>
        <p:spPr>
          <a:xfrm>
            <a:off x="6858000" y="1737360"/>
            <a:ext cx="2103120" cy="777240"/>
          </a:xfrm>
          <a:prstGeom prst="rect">
            <a:avLst/>
          </a:prstGeom>
          <a:noFill/>
          <a:ln/>
        </p:spPr>
        <p:txBody>
          <a:bodyPr wrap="square" lIns="0" tIns="0" rIns="0" bIns="0" rtlCol="0" anchor="ctr"/>
          <a:lstStyle/>
          <a:p>
            <a:pPr marL="0" indent="0">
              <a:buNone/>
            </a:pPr>
            <a:r>
              <a:rPr lang="en-US" sz="3400" b="1" dirty="0">
                <a:solidFill>
                  <a:srgbClr val="1B9AAA"/>
                </a:solidFill>
                <a:latin typeface="Cambria" pitchFamily="34" charset="0"/>
                <a:ea typeface="Cambria" pitchFamily="34" charset="-122"/>
                <a:cs typeface="Cambria" pitchFamily="34" charset="-120"/>
              </a:rPr>
              <a:t>66.4 ha</a:t>
            </a:r>
            <a:endParaRPr lang="en-US" sz="3400" dirty="0"/>
          </a:p>
        </p:txBody>
      </p:sp>
      <p:sp>
        <p:nvSpPr>
          <p:cNvPr id="20" name="Text 18"/>
          <p:cNvSpPr txBox="1"/>
          <p:nvPr/>
        </p:nvSpPr>
        <p:spPr>
          <a:xfrm>
            <a:off x="6858000" y="2532888"/>
            <a:ext cx="2057400" cy="685800"/>
          </a:xfrm>
          <a:prstGeom prst="rect">
            <a:avLst/>
          </a:prstGeom>
          <a:noFill/>
          <a:ln/>
        </p:spPr>
        <p:txBody>
          <a:bodyPr wrap="square" lIns="0" tIns="0" rIns="0" bIns="0" rtlCol="0" anchor="t"/>
          <a:lstStyle/>
          <a:p>
            <a:pPr marL="0" indent="0">
              <a:buNone/>
            </a:pPr>
            <a:r>
              <a:rPr lang="en-US" sz="1300" dirty="0">
                <a:solidFill>
                  <a:srgbClr val="1F2D3D"/>
                </a:solidFill>
                <a:latin typeface="Calibri" pitchFamily="34" charset="0"/>
                <a:ea typeface="Calibri" pitchFamily="34" charset="-122"/>
                <a:cs typeface="Calibri" pitchFamily="34" charset="-120"/>
              </a:rPr>
              <a:t>newly flooded area</a:t>
            </a:r>
            <a:endParaRPr lang="en-US" sz="1300" dirty="0"/>
          </a:p>
        </p:txBody>
      </p:sp>
      <p:sp>
        <p:nvSpPr>
          <p:cNvPr id="21" name="Shape 19"/>
          <p:cNvSpPr/>
          <p:nvPr/>
        </p:nvSpPr>
        <p:spPr>
          <a:xfrm>
            <a:off x="9208008" y="1508760"/>
            <a:ext cx="2377440" cy="1828800"/>
          </a:xfrm>
          <a:prstGeom prst="roundRect">
            <a:avLst>
              <a:gd name="adj" fmla="val 5000"/>
            </a:avLst>
          </a:prstGeom>
          <a:solidFill>
            <a:srgbClr val="EEF4F7"/>
          </a:solidFill>
          <a:ln w="12700">
            <a:solidFill>
              <a:srgbClr val="EEF4F7"/>
            </a:solidFill>
            <a:prstDash val="solid"/>
          </a:ln>
        </p:spPr>
      </p:sp>
      <p:sp>
        <p:nvSpPr>
          <p:cNvPr id="22" name="Text 20"/>
          <p:cNvSpPr txBox="1"/>
          <p:nvPr/>
        </p:nvSpPr>
        <p:spPr>
          <a:xfrm>
            <a:off x="9390888" y="1737360"/>
            <a:ext cx="2103120" cy="777240"/>
          </a:xfrm>
          <a:prstGeom prst="rect">
            <a:avLst/>
          </a:prstGeom>
          <a:noFill/>
          <a:ln/>
        </p:spPr>
        <p:txBody>
          <a:bodyPr wrap="square" lIns="0" tIns="0" rIns="0" bIns="0" rtlCol="0" anchor="ctr"/>
          <a:lstStyle/>
          <a:p>
            <a:pPr marL="0" indent="0">
              <a:buNone/>
            </a:pPr>
            <a:r>
              <a:rPr lang="en-US" sz="3400" b="1" dirty="0">
                <a:solidFill>
                  <a:srgbClr val="E09F3E"/>
                </a:solidFill>
                <a:latin typeface="Cambria" pitchFamily="34" charset="0"/>
                <a:ea typeface="Cambria" pitchFamily="34" charset="-122"/>
                <a:cs typeface="Cambria" pitchFamily="34" charset="-120"/>
              </a:rPr>
              <a:t>44%</a:t>
            </a:r>
            <a:endParaRPr lang="en-US" sz="3400" dirty="0"/>
          </a:p>
        </p:txBody>
      </p:sp>
      <p:sp>
        <p:nvSpPr>
          <p:cNvPr id="23" name="Text 21"/>
          <p:cNvSpPr txBox="1"/>
          <p:nvPr/>
        </p:nvSpPr>
        <p:spPr>
          <a:xfrm>
            <a:off x="9390888" y="2532888"/>
            <a:ext cx="2057400" cy="685800"/>
          </a:xfrm>
          <a:prstGeom prst="rect">
            <a:avLst/>
          </a:prstGeom>
          <a:noFill/>
          <a:ln/>
        </p:spPr>
        <p:txBody>
          <a:bodyPr wrap="square" lIns="0" tIns="0" rIns="0" bIns="0" rtlCol="0" anchor="t"/>
          <a:lstStyle/>
          <a:p>
            <a:pPr marL="0" indent="0">
              <a:buNone/>
            </a:pPr>
            <a:r>
              <a:rPr lang="en-US" sz="1300" dirty="0">
                <a:solidFill>
                  <a:srgbClr val="1F2D3D"/>
                </a:solidFill>
                <a:latin typeface="Calibri" pitchFamily="34" charset="0"/>
                <a:ea typeface="Calibri" pitchFamily="34" charset="-122"/>
                <a:cs typeface="Calibri" pitchFamily="34" charset="-120"/>
              </a:rPr>
              <a:t>of the 150 ha study area inundated</a:t>
            </a:r>
            <a:endParaRPr lang="en-US" sz="1300" dirty="0"/>
          </a:p>
        </p:txBody>
      </p:sp>
      <p:sp>
        <p:nvSpPr>
          <p:cNvPr id="24" name="Shape 22"/>
          <p:cNvSpPr/>
          <p:nvPr/>
        </p:nvSpPr>
        <p:spPr>
          <a:xfrm>
            <a:off x="6675120" y="3520440"/>
            <a:ext cx="2377440" cy="1828800"/>
          </a:xfrm>
          <a:prstGeom prst="roundRect">
            <a:avLst>
              <a:gd name="adj" fmla="val 5000"/>
            </a:avLst>
          </a:prstGeom>
          <a:solidFill>
            <a:srgbClr val="EEF4F7"/>
          </a:solidFill>
          <a:ln w="12700">
            <a:solidFill>
              <a:srgbClr val="EEF4F7"/>
            </a:solidFill>
            <a:prstDash val="solid"/>
          </a:ln>
        </p:spPr>
      </p:sp>
      <p:sp>
        <p:nvSpPr>
          <p:cNvPr id="25" name="Text 23"/>
          <p:cNvSpPr txBox="1"/>
          <p:nvPr/>
        </p:nvSpPr>
        <p:spPr>
          <a:xfrm>
            <a:off x="6858000" y="3749040"/>
            <a:ext cx="210312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10.3 ha</a:t>
            </a:r>
            <a:endParaRPr lang="en-US" sz="3400" dirty="0"/>
          </a:p>
        </p:txBody>
      </p:sp>
      <p:sp>
        <p:nvSpPr>
          <p:cNvPr id="26" name="Text 24"/>
          <p:cNvSpPr txBox="1"/>
          <p:nvPr/>
        </p:nvSpPr>
        <p:spPr>
          <a:xfrm>
            <a:off x="6858000" y="4544568"/>
            <a:ext cx="2057400" cy="685800"/>
          </a:xfrm>
          <a:prstGeom prst="rect">
            <a:avLst/>
          </a:prstGeom>
          <a:noFill/>
          <a:ln/>
        </p:spPr>
        <p:txBody>
          <a:bodyPr wrap="square" lIns="0" tIns="0" rIns="0" bIns="0" rtlCol="0" anchor="t"/>
          <a:lstStyle/>
          <a:p>
            <a:pPr marL="0" indent="0">
              <a:buNone/>
            </a:pPr>
            <a:r>
              <a:rPr lang="en-US" sz="1300" dirty="0">
                <a:solidFill>
                  <a:srgbClr val="1F2D3D"/>
                </a:solidFill>
                <a:latin typeface="Calibri" pitchFamily="34" charset="0"/>
                <a:ea typeface="Calibri" pitchFamily="34" charset="-122"/>
                <a:cs typeface="Calibri" pitchFamily="34" charset="-120"/>
              </a:rPr>
              <a:t>permanent river excluded from flood extent</a:t>
            </a:r>
            <a:endParaRPr lang="en-US" sz="1300" dirty="0"/>
          </a:p>
        </p:txBody>
      </p:sp>
      <p:sp>
        <p:nvSpPr>
          <p:cNvPr id="27" name="Shape 25"/>
          <p:cNvSpPr/>
          <p:nvPr/>
        </p:nvSpPr>
        <p:spPr>
          <a:xfrm>
            <a:off x="9208008" y="3520440"/>
            <a:ext cx="2377440" cy="1828800"/>
          </a:xfrm>
          <a:prstGeom prst="roundRect">
            <a:avLst>
              <a:gd name="adj" fmla="val 5000"/>
            </a:avLst>
          </a:prstGeom>
          <a:solidFill>
            <a:srgbClr val="EEF4F7"/>
          </a:solidFill>
          <a:ln w="12700">
            <a:solidFill>
              <a:srgbClr val="EEF4F7"/>
            </a:solidFill>
            <a:prstDash val="solid"/>
          </a:ln>
        </p:spPr>
      </p:sp>
      <p:sp>
        <p:nvSpPr>
          <p:cNvPr id="28" name="Text 26"/>
          <p:cNvSpPr txBox="1"/>
          <p:nvPr/>
        </p:nvSpPr>
        <p:spPr>
          <a:xfrm>
            <a:off x="9390888" y="3749040"/>
            <a:ext cx="210312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76.7 ha</a:t>
            </a:r>
            <a:endParaRPr lang="en-US" sz="3400" dirty="0"/>
          </a:p>
        </p:txBody>
      </p:sp>
      <p:sp>
        <p:nvSpPr>
          <p:cNvPr id="29" name="Text 27"/>
          <p:cNvSpPr txBox="1"/>
          <p:nvPr/>
        </p:nvSpPr>
        <p:spPr>
          <a:xfrm>
            <a:off x="9390888" y="4544568"/>
            <a:ext cx="2057400" cy="685800"/>
          </a:xfrm>
          <a:prstGeom prst="rect">
            <a:avLst/>
          </a:prstGeom>
          <a:noFill/>
          <a:ln/>
        </p:spPr>
        <p:txBody>
          <a:bodyPr wrap="square" lIns="0" tIns="0" rIns="0" bIns="0" rtlCol="0" anchor="t"/>
          <a:lstStyle/>
          <a:p>
            <a:pPr marL="0" indent="0">
              <a:buNone/>
            </a:pPr>
            <a:r>
              <a:rPr lang="en-US" sz="1300" dirty="0">
                <a:solidFill>
                  <a:srgbClr val="1F2D3D"/>
                </a:solidFill>
                <a:latin typeface="Calibri" pitchFamily="34" charset="0"/>
                <a:ea typeface="Calibri" pitchFamily="34" charset="-122"/>
                <a:cs typeface="Calibri" pitchFamily="34" charset="-120"/>
              </a:rPr>
              <a:t>total water surface detected</a:t>
            </a:r>
            <a:endParaRPr lang="en-US" sz="1300" dirty="0"/>
          </a:p>
        </p:txBody>
      </p:sp>
      <p:sp>
        <p:nvSpPr>
          <p:cNvPr id="30" name="Text 28"/>
          <p:cNvSpPr txBox="1"/>
          <p:nvPr/>
        </p:nvSpPr>
        <p:spPr>
          <a:xfrm>
            <a:off x="6675120" y="5623560"/>
            <a:ext cx="496519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GIS tools:  </a:t>
            </a:r>
            <a:r>
              <a:rPr lang="en-US" sz="1400" dirty="0">
                <a:solidFill>
                  <a:srgbClr val="1F2D3D"/>
                </a:solidFill>
                <a:latin typeface="Calibri" pitchFamily="34" charset="0"/>
                <a:ea typeface="Calibri" pitchFamily="34" charset="-122"/>
                <a:cs typeface="Calibri" pitchFamily="34" charset="-120"/>
              </a:rPr>
              <a:t>QGIS · ArcGIS Pro · GDAL / Rasterio · GeoPandas</a:t>
            </a:r>
            <a:endParaRPr lang="en-US" sz="1400" dirty="0"/>
          </a:p>
        </p:txBody>
      </p:sp>
      <p:sp>
        <p:nvSpPr>
          <p:cNvPr id="31" name="Text 29"/>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09 · IMPACT ASSESSMENT</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Identifying affected roads, buildings and farmland</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3703320"/>
        </p:xfrm>
        <a:graphic>
          <a:graphicData uri="http://schemas.openxmlformats.org/drawingml/2006/table">
            <a:tbl>
              <a:tblPr/>
              <a:tblGrid>
                <a:gridCol w="1325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Asset</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GIS data source</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Spatial operation</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 (demo scene)</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82296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Roads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OpenStreetMap road network</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Line–polygon intersection; clip and measure length</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1.58 of 4.28 km submerged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Buildings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OSM / Google Open Buildings footprints</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Polygon-in-polygon test with small buffer</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31 of 95 buildings affected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Agricultural land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Cropland layer (e.g., ESA WorldCover)</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Polygon overlay (intersection) and area</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61.3 of 122.1 ha flooded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Settlement area</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Built-up / village boundary</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dirty="0">
                          <a:solidFill>
                            <a:srgbClr val="1F2D3D"/>
                          </a:solidFill>
                          <a:latin typeface="Calibri" pitchFamily="34" charset="0"/>
                          <a:ea typeface="Calibri" pitchFamily="34" charset="-122"/>
                          <a:cs typeface="Calibri" pitchFamily="34" charset="-120"/>
                        </a:rPr>
                        <a:t>Intersection and area</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5.15 of 17.62 ha flooded</a:t>
                      </a:r>
                      <a:endParaRPr lang="en-US" sz="1200" dirty="0">
                        <a:latin typeface="Calibri" charset="0"/>
                        <a:ea typeface="Calibri" charset="0"/>
                        <a:cs typeface="Calibri" charset="0"/>
                      </a:endParaRPr>
                    </a:p>
                  </a:txBody>
                  <a:tcPr marL="64008" marR="64008" marT="64008" marB="64008"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7772400" y="1463040"/>
          <a:ext cx="3867912"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48640" y="5440680"/>
            <a:ext cx="11091672" cy="731520"/>
          </a:xfrm>
          <a:prstGeom prst="roundRect">
            <a:avLst>
              <a:gd name="adj" fmla="val 12500"/>
            </a:avLst>
          </a:prstGeom>
          <a:solidFill>
            <a:srgbClr val="0B2545"/>
          </a:solidFill>
          <a:ln w="12700">
            <a:solidFill>
              <a:srgbClr val="0B2545"/>
            </a:solidFill>
            <a:prstDash val="solid"/>
          </a:ln>
        </p:spPr>
      </p:sp>
      <p:pic>
        <p:nvPicPr>
          <p:cNvPr id="7" name="Image 0" descr="preencoded.png"/>
          <p:cNvPicPr>
            <a:picLocks noChangeAspect="1"/>
          </p:cNvPicPr>
          <p:nvPr/>
        </p:nvPicPr>
        <p:blipFill>
          <a:blip r:embed="rId4"/>
          <a:stretch>
            <a:fillRect/>
          </a:stretch>
        </p:blipFill>
        <p:spPr>
          <a:xfrm>
            <a:off x="777240" y="5577840"/>
            <a:ext cx="457200" cy="457200"/>
          </a:xfrm>
          <a:prstGeom prst="rect">
            <a:avLst/>
          </a:prstGeom>
        </p:spPr>
      </p:pic>
      <p:sp>
        <p:nvSpPr>
          <p:cNvPr id="8" name="Text 3"/>
          <p:cNvSpPr txBox="1"/>
          <p:nvPr/>
        </p:nvSpPr>
        <p:spPr>
          <a:xfrm>
            <a:off x="1417320" y="5440680"/>
            <a:ext cx="10058400" cy="731520"/>
          </a:xfrm>
          <a:prstGeom prst="rect">
            <a:avLst/>
          </a:prstGeom>
          <a:noFill/>
          <a:ln/>
        </p:spPr>
        <p:txBody>
          <a:bodyPr wrap="square" lIns="0" tIns="0" rIns="0" bIns="0" rtlCol="0" anchor="ctr"/>
          <a:lstStyle/>
          <a:p>
            <a:pPr marL="0" indent="0">
              <a:buNone/>
            </a:pPr>
            <a:r>
              <a:rPr lang="en-US" sz="1400" b="1" dirty="0">
                <a:solidFill>
                  <a:srgbClr val="E09F3E"/>
                </a:solidFill>
                <a:latin typeface="Calibri" pitchFamily="34" charset="0"/>
                <a:ea typeface="Calibri" pitchFamily="34" charset="-122"/>
                <a:cs typeface="Calibri" pitchFamily="34" charset="-120"/>
              </a:rPr>
              <a:t>Operational use: </a:t>
            </a:r>
            <a:r>
              <a:rPr lang="en-US" sz="1400" dirty="0">
                <a:solidFill>
                  <a:srgbClr val="FFFFFF"/>
                </a:solidFill>
                <a:latin typeface="Calibri" pitchFamily="34" charset="0"/>
                <a:ea typeface="Calibri" pitchFamily="34" charset="-122"/>
                <a:cs typeface="Calibri" pitchFamily="34" charset="-120"/>
              </a:rPr>
              <a:t>submerged road segments are removed from the network to compute passable rescue routes; affected buildings give a first estimate of stranded households.</a:t>
            </a:r>
            <a:endParaRPr lang="en-US" sz="1400" dirty="0"/>
          </a:p>
        </p:txBody>
      </p:sp>
      <p:sp>
        <p:nvSpPr>
          <p:cNvPr id="9" name="Text 4"/>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09 · APPLICATIONS</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Supporting disaster management and emergency response</a:t>
            </a:r>
            <a:endParaRPr lang="en-US" sz="3000" dirty="0"/>
          </a:p>
        </p:txBody>
      </p:sp>
      <p:sp>
        <p:nvSpPr>
          <p:cNvPr id="4" name="Shape 2"/>
          <p:cNvSpPr/>
          <p:nvPr/>
        </p:nvSpPr>
        <p:spPr>
          <a:xfrm>
            <a:off x="548640" y="150876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5" name="Shape 3"/>
          <p:cNvSpPr/>
          <p:nvPr/>
        </p:nvSpPr>
        <p:spPr>
          <a:xfrm>
            <a:off x="822960" y="1783080"/>
            <a:ext cx="685800" cy="685800"/>
          </a:xfrm>
          <a:prstGeom prst="ellipse">
            <a:avLst/>
          </a:prstGeom>
          <a:solidFill>
            <a:srgbClr val="1B9AAA"/>
          </a:solidFill>
          <a:ln w="12700">
            <a:solidFill>
              <a:srgbClr val="1B9AAA"/>
            </a:solidFill>
            <a:prstDash val="solid"/>
          </a:ln>
        </p:spPr>
      </p:sp>
      <p:pic>
        <p:nvPicPr>
          <p:cNvPr id="6" name="Image 0" descr="preencoded.png"/>
          <p:cNvPicPr>
            <a:picLocks noChangeAspect="1"/>
          </p:cNvPicPr>
          <p:nvPr/>
        </p:nvPicPr>
        <p:blipFill>
          <a:blip r:embed="rId3"/>
          <a:stretch>
            <a:fillRect/>
          </a:stretch>
        </p:blipFill>
        <p:spPr>
          <a:xfrm>
            <a:off x="1001268" y="1961388"/>
            <a:ext cx="329184" cy="329184"/>
          </a:xfrm>
          <a:prstGeom prst="rect">
            <a:avLst/>
          </a:prstGeom>
        </p:spPr>
      </p:pic>
      <p:sp>
        <p:nvSpPr>
          <p:cNvPr id="7" name="Text 4"/>
          <p:cNvSpPr txBox="1"/>
          <p:nvPr/>
        </p:nvSpPr>
        <p:spPr>
          <a:xfrm>
            <a:off x="1691640" y="178308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Search &amp; rescue</a:t>
            </a:r>
            <a:endParaRPr lang="en-US" sz="1700" dirty="0"/>
          </a:p>
        </p:txBody>
      </p:sp>
      <p:sp>
        <p:nvSpPr>
          <p:cNvPr id="8" name="Text 5"/>
          <p:cNvSpPr txBox="1"/>
          <p:nvPr/>
        </p:nvSpPr>
        <p:spPr>
          <a:xfrm>
            <a:off x="822960" y="265176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Locate stranded households and prioritise rescue zones for boat teams.</a:t>
            </a:r>
            <a:endParaRPr lang="en-US" sz="1400" dirty="0"/>
          </a:p>
        </p:txBody>
      </p:sp>
      <p:sp>
        <p:nvSpPr>
          <p:cNvPr id="9" name="Shape 6"/>
          <p:cNvSpPr/>
          <p:nvPr/>
        </p:nvSpPr>
        <p:spPr>
          <a:xfrm>
            <a:off x="4315968" y="150876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10" name="Shape 7"/>
          <p:cNvSpPr/>
          <p:nvPr/>
        </p:nvSpPr>
        <p:spPr>
          <a:xfrm>
            <a:off x="4590288" y="1783080"/>
            <a:ext cx="685800" cy="685800"/>
          </a:xfrm>
          <a:prstGeom prst="ellipse">
            <a:avLst/>
          </a:prstGeom>
          <a:solidFill>
            <a:srgbClr val="E09F3E"/>
          </a:solidFill>
          <a:ln w="12700">
            <a:solidFill>
              <a:srgbClr val="E09F3E"/>
            </a:solidFill>
            <a:prstDash val="solid"/>
          </a:ln>
        </p:spPr>
      </p:sp>
      <p:pic>
        <p:nvPicPr>
          <p:cNvPr id="11" name="Image 1" descr="preencoded.png"/>
          <p:cNvPicPr>
            <a:picLocks noChangeAspect="1"/>
          </p:cNvPicPr>
          <p:nvPr/>
        </p:nvPicPr>
        <p:blipFill>
          <a:blip r:embed="rId4"/>
          <a:stretch>
            <a:fillRect/>
          </a:stretch>
        </p:blipFill>
        <p:spPr>
          <a:xfrm>
            <a:off x="4768596" y="1961388"/>
            <a:ext cx="329184" cy="329184"/>
          </a:xfrm>
          <a:prstGeom prst="rect">
            <a:avLst/>
          </a:prstGeom>
        </p:spPr>
      </p:pic>
      <p:sp>
        <p:nvSpPr>
          <p:cNvPr id="12" name="Text 8"/>
          <p:cNvSpPr txBox="1"/>
          <p:nvPr/>
        </p:nvSpPr>
        <p:spPr>
          <a:xfrm>
            <a:off x="5458968" y="178308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Evacuation &amp; access routes</a:t>
            </a:r>
            <a:endParaRPr lang="en-US" sz="1700" dirty="0"/>
          </a:p>
        </p:txBody>
      </p:sp>
      <p:sp>
        <p:nvSpPr>
          <p:cNvPr id="13" name="Text 9"/>
          <p:cNvSpPr txBox="1"/>
          <p:nvPr/>
        </p:nvSpPr>
        <p:spPr>
          <a:xfrm>
            <a:off x="4590288" y="265176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Find passable roads and safe approach routes for vehicles and boats.</a:t>
            </a:r>
            <a:endParaRPr lang="en-US" sz="1400" dirty="0"/>
          </a:p>
        </p:txBody>
      </p:sp>
      <p:sp>
        <p:nvSpPr>
          <p:cNvPr id="14" name="Shape 10"/>
          <p:cNvSpPr/>
          <p:nvPr/>
        </p:nvSpPr>
        <p:spPr>
          <a:xfrm>
            <a:off x="8083296" y="150876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15" name="Shape 11"/>
          <p:cNvSpPr/>
          <p:nvPr/>
        </p:nvSpPr>
        <p:spPr>
          <a:xfrm>
            <a:off x="8357616" y="1783080"/>
            <a:ext cx="685800" cy="685800"/>
          </a:xfrm>
          <a:prstGeom prst="ellipse">
            <a:avLst/>
          </a:prstGeom>
          <a:solidFill>
            <a:srgbClr val="1B9AAA"/>
          </a:solidFill>
          <a:ln w="12700">
            <a:solidFill>
              <a:srgbClr val="1B9AAA"/>
            </a:solidFill>
            <a:prstDash val="solid"/>
          </a:ln>
        </p:spPr>
      </p:sp>
      <p:pic>
        <p:nvPicPr>
          <p:cNvPr id="16" name="Image 2" descr="preencoded.png"/>
          <p:cNvPicPr>
            <a:picLocks noChangeAspect="1"/>
          </p:cNvPicPr>
          <p:nvPr/>
        </p:nvPicPr>
        <p:blipFill>
          <a:blip r:embed="rId5"/>
          <a:stretch>
            <a:fillRect/>
          </a:stretch>
        </p:blipFill>
        <p:spPr>
          <a:xfrm>
            <a:off x="8535924" y="1961388"/>
            <a:ext cx="329184" cy="329184"/>
          </a:xfrm>
          <a:prstGeom prst="rect">
            <a:avLst/>
          </a:prstGeom>
        </p:spPr>
      </p:pic>
      <p:sp>
        <p:nvSpPr>
          <p:cNvPr id="17" name="Text 12"/>
          <p:cNvSpPr txBox="1"/>
          <p:nvPr/>
        </p:nvSpPr>
        <p:spPr>
          <a:xfrm>
            <a:off x="9226296" y="178308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Relief distribution</a:t>
            </a:r>
            <a:endParaRPr lang="en-US" sz="1700" dirty="0"/>
          </a:p>
        </p:txBody>
      </p:sp>
      <p:sp>
        <p:nvSpPr>
          <p:cNvPr id="18" name="Text 13"/>
          <p:cNvSpPr txBox="1"/>
          <p:nvPr/>
        </p:nvSpPr>
        <p:spPr>
          <a:xfrm>
            <a:off x="8357616" y="265176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Place relief camps and supply drops on dry, reachable ground.</a:t>
            </a:r>
            <a:endParaRPr lang="en-US" sz="1400" dirty="0"/>
          </a:p>
        </p:txBody>
      </p:sp>
      <p:sp>
        <p:nvSpPr>
          <p:cNvPr id="19" name="Shape 14"/>
          <p:cNvSpPr/>
          <p:nvPr/>
        </p:nvSpPr>
        <p:spPr>
          <a:xfrm>
            <a:off x="548640" y="388620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20" name="Shape 15"/>
          <p:cNvSpPr/>
          <p:nvPr/>
        </p:nvSpPr>
        <p:spPr>
          <a:xfrm>
            <a:off x="822960" y="4160520"/>
            <a:ext cx="685800" cy="685800"/>
          </a:xfrm>
          <a:prstGeom prst="ellipse">
            <a:avLst/>
          </a:prstGeom>
          <a:solidFill>
            <a:srgbClr val="E09F3E"/>
          </a:solidFill>
          <a:ln w="12700">
            <a:solidFill>
              <a:srgbClr val="E09F3E"/>
            </a:solidFill>
            <a:prstDash val="solid"/>
          </a:ln>
        </p:spPr>
      </p:sp>
      <p:pic>
        <p:nvPicPr>
          <p:cNvPr id="21" name="Image 3" descr="preencoded.png"/>
          <p:cNvPicPr>
            <a:picLocks noChangeAspect="1"/>
          </p:cNvPicPr>
          <p:nvPr/>
        </p:nvPicPr>
        <p:blipFill>
          <a:blip r:embed="rId6"/>
          <a:stretch>
            <a:fillRect/>
          </a:stretch>
        </p:blipFill>
        <p:spPr>
          <a:xfrm>
            <a:off x="1001268" y="4338828"/>
            <a:ext cx="329184" cy="329184"/>
          </a:xfrm>
          <a:prstGeom prst="rect">
            <a:avLst/>
          </a:prstGeom>
        </p:spPr>
      </p:pic>
      <p:sp>
        <p:nvSpPr>
          <p:cNvPr id="22" name="Text 16"/>
          <p:cNvSpPr txBox="1"/>
          <p:nvPr/>
        </p:nvSpPr>
        <p:spPr>
          <a:xfrm>
            <a:off x="1691640" y="416052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Damage &amp; compensation</a:t>
            </a:r>
            <a:endParaRPr lang="en-US" sz="1700" dirty="0"/>
          </a:p>
        </p:txBody>
      </p:sp>
      <p:sp>
        <p:nvSpPr>
          <p:cNvPr id="23" name="Text 17"/>
          <p:cNvSpPr txBox="1"/>
          <p:nvPr/>
        </p:nvSpPr>
        <p:spPr>
          <a:xfrm>
            <a:off x="822960" y="502920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Evidence-based assessment of houses and crops for relief payments and insurance.</a:t>
            </a:r>
            <a:endParaRPr lang="en-US" sz="1400" dirty="0"/>
          </a:p>
        </p:txBody>
      </p:sp>
      <p:sp>
        <p:nvSpPr>
          <p:cNvPr id="24" name="Shape 18"/>
          <p:cNvSpPr/>
          <p:nvPr/>
        </p:nvSpPr>
        <p:spPr>
          <a:xfrm>
            <a:off x="4315968" y="388620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25" name="Shape 19"/>
          <p:cNvSpPr/>
          <p:nvPr/>
        </p:nvSpPr>
        <p:spPr>
          <a:xfrm>
            <a:off x="4590288" y="4160520"/>
            <a:ext cx="685800" cy="685800"/>
          </a:xfrm>
          <a:prstGeom prst="ellipse">
            <a:avLst/>
          </a:prstGeom>
          <a:solidFill>
            <a:srgbClr val="1B9AAA"/>
          </a:solidFill>
          <a:ln w="12700">
            <a:solidFill>
              <a:srgbClr val="1B9AAA"/>
            </a:solidFill>
            <a:prstDash val="solid"/>
          </a:ln>
        </p:spPr>
      </p:sp>
      <p:pic>
        <p:nvPicPr>
          <p:cNvPr id="26" name="Image 4" descr="preencoded.png"/>
          <p:cNvPicPr>
            <a:picLocks noChangeAspect="1"/>
          </p:cNvPicPr>
          <p:nvPr/>
        </p:nvPicPr>
        <p:blipFill>
          <a:blip r:embed="rId7"/>
          <a:stretch>
            <a:fillRect/>
          </a:stretch>
        </p:blipFill>
        <p:spPr>
          <a:xfrm>
            <a:off x="4768596" y="4338828"/>
            <a:ext cx="329184" cy="329184"/>
          </a:xfrm>
          <a:prstGeom prst="rect">
            <a:avLst/>
          </a:prstGeom>
        </p:spPr>
      </p:pic>
      <p:sp>
        <p:nvSpPr>
          <p:cNvPr id="27" name="Text 20"/>
          <p:cNvSpPr txBox="1"/>
          <p:nvPr/>
        </p:nvSpPr>
        <p:spPr>
          <a:xfrm>
            <a:off x="5458968" y="416052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Infrastructure monitoring</a:t>
            </a:r>
            <a:endParaRPr lang="en-US" sz="1700" dirty="0"/>
          </a:p>
        </p:txBody>
      </p:sp>
      <p:sp>
        <p:nvSpPr>
          <p:cNvPr id="28" name="Text 21"/>
          <p:cNvSpPr txBox="1"/>
          <p:nvPr/>
        </p:nvSpPr>
        <p:spPr>
          <a:xfrm>
            <a:off x="4590288" y="502920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Detect embankment breaches, overtopped roads and threatened bridges.</a:t>
            </a:r>
            <a:endParaRPr lang="en-US" sz="1400" dirty="0"/>
          </a:p>
        </p:txBody>
      </p:sp>
      <p:sp>
        <p:nvSpPr>
          <p:cNvPr id="29" name="Shape 22"/>
          <p:cNvSpPr/>
          <p:nvPr/>
        </p:nvSpPr>
        <p:spPr>
          <a:xfrm>
            <a:off x="8083296" y="3886200"/>
            <a:ext cx="3557016" cy="2148840"/>
          </a:xfrm>
          <a:prstGeom prst="roundRect">
            <a:avLst>
              <a:gd name="adj" fmla="val 5106"/>
            </a:avLst>
          </a:prstGeom>
          <a:solidFill>
            <a:srgbClr val="FFFFFF"/>
          </a:solidFill>
          <a:ln w="12700">
            <a:solidFill>
              <a:srgbClr val="D5DFE6"/>
            </a:solidFill>
            <a:prstDash val="solid"/>
          </a:ln>
          <a:effectLst>
            <a:outerShdw blurRad="101600" dist="25400" dir="5400000" algn="bl" rotWithShape="0">
              <a:srgbClr val="000000">
                <a:alpha val="14000"/>
              </a:srgbClr>
            </a:outerShdw>
          </a:effectLst>
        </p:spPr>
      </p:sp>
      <p:sp>
        <p:nvSpPr>
          <p:cNvPr id="30" name="Shape 23"/>
          <p:cNvSpPr/>
          <p:nvPr/>
        </p:nvSpPr>
        <p:spPr>
          <a:xfrm>
            <a:off x="8357616" y="4160520"/>
            <a:ext cx="685800" cy="685800"/>
          </a:xfrm>
          <a:prstGeom prst="ellipse">
            <a:avLst/>
          </a:prstGeom>
          <a:solidFill>
            <a:srgbClr val="E09F3E"/>
          </a:solidFill>
          <a:ln w="12700">
            <a:solidFill>
              <a:srgbClr val="E09F3E"/>
            </a:solidFill>
            <a:prstDash val="solid"/>
          </a:ln>
        </p:spPr>
      </p:sp>
      <p:pic>
        <p:nvPicPr>
          <p:cNvPr id="31" name="Image 5" descr="preencoded.png"/>
          <p:cNvPicPr>
            <a:picLocks noChangeAspect="1"/>
          </p:cNvPicPr>
          <p:nvPr/>
        </p:nvPicPr>
        <p:blipFill>
          <a:blip r:embed="rId8"/>
          <a:stretch>
            <a:fillRect/>
          </a:stretch>
        </p:blipFill>
        <p:spPr>
          <a:xfrm>
            <a:off x="8535924" y="4338828"/>
            <a:ext cx="329184" cy="329184"/>
          </a:xfrm>
          <a:prstGeom prst="rect">
            <a:avLst/>
          </a:prstGeom>
        </p:spPr>
      </p:pic>
      <p:sp>
        <p:nvSpPr>
          <p:cNvPr id="32" name="Text 24"/>
          <p:cNvSpPr txBox="1"/>
          <p:nvPr/>
        </p:nvSpPr>
        <p:spPr>
          <a:xfrm>
            <a:off x="9226296" y="4160520"/>
            <a:ext cx="2286000" cy="68580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Flood modelling &amp; planning</a:t>
            </a:r>
            <a:endParaRPr lang="en-US" sz="1700" dirty="0"/>
          </a:p>
        </p:txBody>
      </p:sp>
      <p:sp>
        <p:nvSpPr>
          <p:cNvPr id="33" name="Text 25"/>
          <p:cNvSpPr txBox="1"/>
          <p:nvPr/>
        </p:nvSpPr>
        <p:spPr>
          <a:xfrm>
            <a:off x="8357616" y="5029200"/>
            <a:ext cx="3063240" cy="868680"/>
          </a:xfrm>
          <a:prstGeom prst="rect">
            <a:avLst/>
          </a:prstGeom>
          <a:noFill/>
          <a:ln/>
        </p:spPr>
        <p:txBody>
          <a:bodyPr wrap="square" lIns="0" tIns="0" rIns="0" bIns="0" rtlCol="0" anchor="t"/>
          <a:lstStyle/>
          <a:p>
            <a:pPr marL="0" indent="0">
              <a:buNone/>
            </a:pPr>
            <a:r>
              <a:rPr lang="en-US" sz="1400" dirty="0">
                <a:solidFill>
                  <a:srgbClr val="1F2D3D"/>
                </a:solidFill>
                <a:latin typeface="Calibri" pitchFamily="34" charset="0"/>
                <a:ea typeface="Calibri" pitchFamily="34" charset="-122"/>
                <a:cs typeface="Calibri" pitchFamily="34" charset="-120"/>
              </a:rPr>
              <a:t>Validate hydraulic models and update flood-hazard zonation maps.</a:t>
            </a:r>
            <a:endParaRPr lang="en-US" sz="1400" dirty="0"/>
          </a:p>
        </p:txBody>
      </p:sp>
      <p:sp>
        <p:nvSpPr>
          <p:cNvPr id="34" name="Text 26"/>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10 · DISCUSSION</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Challenges and future scope</a:t>
            </a:r>
            <a:endParaRPr lang="en-US" sz="3000" dirty="0"/>
          </a:p>
        </p:txBody>
      </p:sp>
      <p:sp>
        <p:nvSpPr>
          <p:cNvPr id="4" name="Shape 2"/>
          <p:cNvSpPr/>
          <p:nvPr/>
        </p:nvSpPr>
        <p:spPr>
          <a:xfrm>
            <a:off x="548640" y="1463040"/>
            <a:ext cx="5394960" cy="4709160"/>
          </a:xfrm>
          <a:prstGeom prst="roundRect">
            <a:avLst>
              <a:gd name="adj" fmla="val 2330"/>
            </a:avLst>
          </a:prstGeom>
          <a:solidFill>
            <a:srgbClr val="EEF4F7"/>
          </a:solidFill>
          <a:ln w="12700">
            <a:solidFill>
              <a:srgbClr val="EEF4F7"/>
            </a:solidFill>
            <a:prstDash val="solid"/>
          </a:ln>
        </p:spPr>
      </p:sp>
      <p:sp>
        <p:nvSpPr>
          <p:cNvPr id="5" name="Text 3"/>
          <p:cNvSpPr txBox="1"/>
          <p:nvPr/>
        </p:nvSpPr>
        <p:spPr>
          <a:xfrm>
            <a:off x="822960" y="1572768"/>
            <a:ext cx="4846320" cy="457200"/>
          </a:xfrm>
          <a:prstGeom prst="rect">
            <a:avLst/>
          </a:prstGeom>
          <a:noFill/>
          <a:ln/>
        </p:spPr>
        <p:txBody>
          <a:bodyPr wrap="square" lIns="0" tIns="0" rIns="0" bIns="0" rtlCol="0" anchor="ctr"/>
          <a:lstStyle/>
          <a:p>
            <a:pPr marL="0" indent="0">
              <a:buNone/>
            </a:pPr>
            <a:r>
              <a:rPr lang="en-US" sz="2000" b="1" dirty="0">
                <a:solidFill>
                  <a:srgbClr val="C0392B"/>
                </a:solidFill>
                <a:latin typeface="Cambria" pitchFamily="34" charset="0"/>
                <a:ea typeface="Cambria" pitchFamily="34" charset="-122"/>
                <a:cs typeface="Cambria" pitchFamily="34" charset="-120"/>
              </a:rPr>
              <a:t>Challenges</a:t>
            </a:r>
            <a:endParaRPr lang="en-US" sz="2000" dirty="0"/>
          </a:p>
        </p:txBody>
      </p:sp>
      <p:sp>
        <p:nvSpPr>
          <p:cNvPr id="6" name="Shape 4"/>
          <p:cNvSpPr/>
          <p:nvPr/>
        </p:nvSpPr>
        <p:spPr>
          <a:xfrm>
            <a:off x="822960" y="2221992"/>
            <a:ext cx="530352" cy="530352"/>
          </a:xfrm>
          <a:prstGeom prst="ellipse">
            <a:avLst/>
          </a:prstGeom>
          <a:solidFill>
            <a:srgbClr val="C0392B"/>
          </a:solidFill>
          <a:ln w="12700">
            <a:solidFill>
              <a:srgbClr val="C0392B"/>
            </a:solidFill>
            <a:prstDash val="solid"/>
          </a:ln>
        </p:spPr>
      </p:sp>
      <p:pic>
        <p:nvPicPr>
          <p:cNvPr id="7" name="Image 0" descr="preencoded.png"/>
          <p:cNvPicPr>
            <a:picLocks noChangeAspect="1"/>
          </p:cNvPicPr>
          <p:nvPr/>
        </p:nvPicPr>
        <p:blipFill>
          <a:blip r:embed="rId3"/>
          <a:stretch>
            <a:fillRect/>
          </a:stretch>
        </p:blipFill>
        <p:spPr>
          <a:xfrm>
            <a:off x="960852" y="2359884"/>
            <a:ext cx="254569" cy="254569"/>
          </a:xfrm>
          <a:prstGeom prst="rect">
            <a:avLst/>
          </a:prstGeom>
        </p:spPr>
      </p:pic>
      <p:sp>
        <p:nvSpPr>
          <p:cNvPr id="8" name="Text 5"/>
          <p:cNvSpPr txBox="1"/>
          <p:nvPr/>
        </p:nvSpPr>
        <p:spPr>
          <a:xfrm>
            <a:off x="1508760" y="2148840"/>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Turbid &amp; reflective water</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Muddy water resembles bare soil; sun glint saturates pixels</a:t>
            </a:r>
            <a:endParaRPr lang="en-US" sz="1450" dirty="0"/>
          </a:p>
        </p:txBody>
      </p:sp>
      <p:sp>
        <p:nvSpPr>
          <p:cNvPr id="9" name="Shape 6"/>
          <p:cNvSpPr/>
          <p:nvPr/>
        </p:nvSpPr>
        <p:spPr>
          <a:xfrm>
            <a:off x="822960" y="3008376"/>
            <a:ext cx="530352" cy="530352"/>
          </a:xfrm>
          <a:prstGeom prst="ellipse">
            <a:avLst/>
          </a:prstGeom>
          <a:solidFill>
            <a:srgbClr val="C0392B"/>
          </a:solidFill>
          <a:ln w="12700">
            <a:solidFill>
              <a:srgbClr val="C0392B"/>
            </a:solidFill>
            <a:prstDash val="solid"/>
          </a:ln>
        </p:spPr>
      </p:sp>
      <p:pic>
        <p:nvPicPr>
          <p:cNvPr id="10" name="Image 1" descr="preencoded.png"/>
          <p:cNvPicPr>
            <a:picLocks noChangeAspect="1"/>
          </p:cNvPicPr>
          <p:nvPr/>
        </p:nvPicPr>
        <p:blipFill>
          <a:blip r:embed="rId4"/>
          <a:stretch>
            <a:fillRect/>
          </a:stretch>
        </p:blipFill>
        <p:spPr>
          <a:xfrm>
            <a:off x="960852" y="3146268"/>
            <a:ext cx="254569" cy="254569"/>
          </a:xfrm>
          <a:prstGeom prst="rect">
            <a:avLst/>
          </a:prstGeom>
        </p:spPr>
      </p:pic>
      <p:sp>
        <p:nvSpPr>
          <p:cNvPr id="11" name="Text 7"/>
          <p:cNvSpPr txBox="1"/>
          <p:nvPr/>
        </p:nvSpPr>
        <p:spPr>
          <a:xfrm>
            <a:off x="1508760" y="2935224"/>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Hidden water</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Water under trees, roofs and shadows is invisible from above</a:t>
            </a:r>
            <a:endParaRPr lang="en-US" sz="1450" dirty="0"/>
          </a:p>
        </p:txBody>
      </p:sp>
      <p:sp>
        <p:nvSpPr>
          <p:cNvPr id="12" name="Shape 8"/>
          <p:cNvSpPr/>
          <p:nvPr/>
        </p:nvSpPr>
        <p:spPr>
          <a:xfrm>
            <a:off x="822960" y="3794760"/>
            <a:ext cx="530352" cy="530352"/>
          </a:xfrm>
          <a:prstGeom prst="ellipse">
            <a:avLst/>
          </a:prstGeom>
          <a:solidFill>
            <a:srgbClr val="C0392B"/>
          </a:solidFill>
          <a:ln w="12700">
            <a:solidFill>
              <a:srgbClr val="C0392B"/>
            </a:solidFill>
            <a:prstDash val="solid"/>
          </a:ln>
        </p:spPr>
      </p:sp>
      <p:pic>
        <p:nvPicPr>
          <p:cNvPr id="13" name="Image 2" descr="preencoded.png"/>
          <p:cNvPicPr>
            <a:picLocks noChangeAspect="1"/>
          </p:cNvPicPr>
          <p:nvPr/>
        </p:nvPicPr>
        <p:blipFill>
          <a:blip r:embed="rId5"/>
          <a:stretch>
            <a:fillRect/>
          </a:stretch>
        </p:blipFill>
        <p:spPr>
          <a:xfrm>
            <a:off x="960852" y="3932652"/>
            <a:ext cx="254569" cy="254569"/>
          </a:xfrm>
          <a:prstGeom prst="rect">
            <a:avLst/>
          </a:prstGeom>
        </p:spPr>
      </p:pic>
      <p:sp>
        <p:nvSpPr>
          <p:cNvPr id="14" name="Text 9"/>
          <p:cNvSpPr txBox="1"/>
          <p:nvPr/>
        </p:nvSpPr>
        <p:spPr>
          <a:xfrm>
            <a:off x="1508760" y="3721608"/>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Limited endurance</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Short multirotor flights; large areas need many sorties</a:t>
            </a:r>
            <a:endParaRPr lang="en-US" sz="1450" dirty="0"/>
          </a:p>
        </p:txBody>
      </p:sp>
      <p:sp>
        <p:nvSpPr>
          <p:cNvPr id="15" name="Shape 10"/>
          <p:cNvSpPr/>
          <p:nvPr/>
        </p:nvSpPr>
        <p:spPr>
          <a:xfrm>
            <a:off x="822960" y="4581144"/>
            <a:ext cx="530352" cy="530352"/>
          </a:xfrm>
          <a:prstGeom prst="ellipse">
            <a:avLst/>
          </a:prstGeom>
          <a:solidFill>
            <a:srgbClr val="C0392B"/>
          </a:solidFill>
          <a:ln w="12700">
            <a:solidFill>
              <a:srgbClr val="C0392B"/>
            </a:solidFill>
            <a:prstDash val="solid"/>
          </a:ln>
        </p:spPr>
      </p:sp>
      <p:pic>
        <p:nvPicPr>
          <p:cNvPr id="16" name="Image 3" descr="preencoded.png"/>
          <p:cNvPicPr>
            <a:picLocks noChangeAspect="1"/>
          </p:cNvPicPr>
          <p:nvPr/>
        </p:nvPicPr>
        <p:blipFill>
          <a:blip r:embed="rId6"/>
          <a:stretch>
            <a:fillRect/>
          </a:stretch>
        </p:blipFill>
        <p:spPr>
          <a:xfrm>
            <a:off x="960852" y="4719036"/>
            <a:ext cx="254569" cy="254569"/>
          </a:xfrm>
          <a:prstGeom prst="rect">
            <a:avLst/>
          </a:prstGeom>
        </p:spPr>
      </p:pic>
      <p:sp>
        <p:nvSpPr>
          <p:cNvPr id="17" name="Text 11"/>
          <p:cNvSpPr txBox="1"/>
          <p:nvPr/>
        </p:nvSpPr>
        <p:spPr>
          <a:xfrm>
            <a:off x="1508760" y="4507992"/>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Weather &amp; regulation</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Wind and rain ground flights; Drone Rules 2021 airspace zones</a:t>
            </a:r>
            <a:endParaRPr lang="en-US" sz="1450" dirty="0"/>
          </a:p>
        </p:txBody>
      </p:sp>
      <p:sp>
        <p:nvSpPr>
          <p:cNvPr id="18" name="Shape 12"/>
          <p:cNvSpPr/>
          <p:nvPr/>
        </p:nvSpPr>
        <p:spPr>
          <a:xfrm>
            <a:off x="822960" y="5367528"/>
            <a:ext cx="530352" cy="530352"/>
          </a:xfrm>
          <a:prstGeom prst="ellipse">
            <a:avLst/>
          </a:prstGeom>
          <a:solidFill>
            <a:srgbClr val="C0392B"/>
          </a:solidFill>
          <a:ln w="12700">
            <a:solidFill>
              <a:srgbClr val="C0392B"/>
            </a:solidFill>
            <a:prstDash val="solid"/>
          </a:ln>
        </p:spPr>
      </p:sp>
      <p:pic>
        <p:nvPicPr>
          <p:cNvPr id="19" name="Image 4" descr="preencoded.png"/>
          <p:cNvPicPr>
            <a:picLocks noChangeAspect="1"/>
          </p:cNvPicPr>
          <p:nvPr/>
        </p:nvPicPr>
        <p:blipFill>
          <a:blip r:embed="rId7"/>
          <a:stretch>
            <a:fillRect/>
          </a:stretch>
        </p:blipFill>
        <p:spPr>
          <a:xfrm>
            <a:off x="960852" y="5505420"/>
            <a:ext cx="254569" cy="254569"/>
          </a:xfrm>
          <a:prstGeom prst="rect">
            <a:avLst/>
          </a:prstGeom>
        </p:spPr>
      </p:pic>
      <p:sp>
        <p:nvSpPr>
          <p:cNvPr id="20" name="Text 13"/>
          <p:cNvSpPr txBox="1"/>
          <p:nvPr/>
        </p:nvSpPr>
        <p:spPr>
          <a:xfrm>
            <a:off x="1508760" y="5294376"/>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Data &amp; compute</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Thousands of images to process; scarce labelled local data</a:t>
            </a:r>
            <a:endParaRPr lang="en-US" sz="1450" dirty="0"/>
          </a:p>
        </p:txBody>
      </p:sp>
      <p:sp>
        <p:nvSpPr>
          <p:cNvPr id="21" name="Shape 14"/>
          <p:cNvSpPr/>
          <p:nvPr/>
        </p:nvSpPr>
        <p:spPr>
          <a:xfrm>
            <a:off x="6245352" y="1463040"/>
            <a:ext cx="5394960" cy="4709160"/>
          </a:xfrm>
          <a:prstGeom prst="roundRect">
            <a:avLst>
              <a:gd name="adj" fmla="val 2330"/>
            </a:avLst>
          </a:prstGeom>
          <a:solidFill>
            <a:srgbClr val="EEF4F7"/>
          </a:solidFill>
          <a:ln w="12700">
            <a:solidFill>
              <a:srgbClr val="EEF4F7"/>
            </a:solidFill>
            <a:prstDash val="solid"/>
          </a:ln>
        </p:spPr>
      </p:sp>
      <p:sp>
        <p:nvSpPr>
          <p:cNvPr id="22" name="Text 15"/>
          <p:cNvSpPr txBox="1"/>
          <p:nvPr/>
        </p:nvSpPr>
        <p:spPr>
          <a:xfrm>
            <a:off x="6519672" y="1572768"/>
            <a:ext cx="4846320" cy="457200"/>
          </a:xfrm>
          <a:prstGeom prst="rect">
            <a:avLst/>
          </a:prstGeom>
          <a:noFill/>
          <a:ln/>
        </p:spPr>
        <p:txBody>
          <a:bodyPr wrap="square" lIns="0" tIns="0" rIns="0" bIns="0" rtlCol="0" anchor="ctr"/>
          <a:lstStyle/>
          <a:p>
            <a:pPr marL="0" indent="0">
              <a:buNone/>
            </a:pPr>
            <a:r>
              <a:rPr lang="en-US" sz="2000" b="1" dirty="0">
                <a:solidFill>
                  <a:srgbClr val="1B9AAA"/>
                </a:solidFill>
                <a:latin typeface="Cambria" pitchFamily="34" charset="0"/>
                <a:ea typeface="Cambria" pitchFamily="34" charset="-122"/>
                <a:cs typeface="Cambria" pitchFamily="34" charset="-120"/>
              </a:rPr>
              <a:t>Future scope</a:t>
            </a:r>
            <a:endParaRPr lang="en-US" sz="2000" dirty="0"/>
          </a:p>
        </p:txBody>
      </p:sp>
      <p:sp>
        <p:nvSpPr>
          <p:cNvPr id="23" name="Shape 16"/>
          <p:cNvSpPr/>
          <p:nvPr/>
        </p:nvSpPr>
        <p:spPr>
          <a:xfrm>
            <a:off x="6519672" y="2221992"/>
            <a:ext cx="530352" cy="530352"/>
          </a:xfrm>
          <a:prstGeom prst="ellipse">
            <a:avLst/>
          </a:prstGeom>
          <a:solidFill>
            <a:srgbClr val="1B9AAA"/>
          </a:solidFill>
          <a:ln w="12700">
            <a:solidFill>
              <a:srgbClr val="1B9AAA"/>
            </a:solidFill>
            <a:prstDash val="solid"/>
          </a:ln>
        </p:spPr>
      </p:sp>
      <p:pic>
        <p:nvPicPr>
          <p:cNvPr id="24" name="Image 5" descr="preencoded.png"/>
          <p:cNvPicPr>
            <a:picLocks noChangeAspect="1"/>
          </p:cNvPicPr>
          <p:nvPr/>
        </p:nvPicPr>
        <p:blipFill>
          <a:blip r:embed="rId8"/>
          <a:stretch>
            <a:fillRect/>
          </a:stretch>
        </p:blipFill>
        <p:spPr>
          <a:xfrm>
            <a:off x="6657564" y="2359884"/>
            <a:ext cx="254569" cy="254569"/>
          </a:xfrm>
          <a:prstGeom prst="rect">
            <a:avLst/>
          </a:prstGeom>
        </p:spPr>
      </p:pic>
      <p:sp>
        <p:nvSpPr>
          <p:cNvPr id="25" name="Text 17"/>
          <p:cNvSpPr txBox="1"/>
          <p:nvPr/>
        </p:nvSpPr>
        <p:spPr>
          <a:xfrm>
            <a:off x="7205472" y="2148840"/>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Onboard edge AI</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Real-time segmentation on embedded GPUs during flight</a:t>
            </a:r>
            <a:endParaRPr lang="en-US" sz="1450" dirty="0"/>
          </a:p>
        </p:txBody>
      </p:sp>
      <p:sp>
        <p:nvSpPr>
          <p:cNvPr id="26" name="Shape 18"/>
          <p:cNvSpPr/>
          <p:nvPr/>
        </p:nvSpPr>
        <p:spPr>
          <a:xfrm>
            <a:off x="6519672" y="3008376"/>
            <a:ext cx="530352" cy="530352"/>
          </a:xfrm>
          <a:prstGeom prst="ellipse">
            <a:avLst/>
          </a:prstGeom>
          <a:solidFill>
            <a:srgbClr val="1B9AAA"/>
          </a:solidFill>
          <a:ln w="12700">
            <a:solidFill>
              <a:srgbClr val="1B9AAA"/>
            </a:solidFill>
            <a:prstDash val="solid"/>
          </a:ln>
        </p:spPr>
      </p:sp>
      <p:pic>
        <p:nvPicPr>
          <p:cNvPr id="27" name="Image 6" descr="preencoded.png"/>
          <p:cNvPicPr>
            <a:picLocks noChangeAspect="1"/>
          </p:cNvPicPr>
          <p:nvPr/>
        </p:nvPicPr>
        <p:blipFill>
          <a:blip r:embed="rId9"/>
          <a:stretch>
            <a:fillRect/>
          </a:stretch>
        </p:blipFill>
        <p:spPr>
          <a:xfrm>
            <a:off x="6657564" y="3146268"/>
            <a:ext cx="254569" cy="254569"/>
          </a:xfrm>
          <a:prstGeom prst="rect">
            <a:avLst/>
          </a:prstGeom>
        </p:spPr>
      </p:pic>
      <p:sp>
        <p:nvSpPr>
          <p:cNvPr id="28" name="Text 19"/>
          <p:cNvSpPr txBox="1"/>
          <p:nvPr/>
        </p:nvSpPr>
        <p:spPr>
          <a:xfrm>
            <a:off x="7205472" y="2935224"/>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Flood depth estimation</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Combine water edges with DSM / DEM elevation</a:t>
            </a:r>
            <a:endParaRPr lang="en-US" sz="1450" dirty="0"/>
          </a:p>
        </p:txBody>
      </p:sp>
      <p:sp>
        <p:nvSpPr>
          <p:cNvPr id="29" name="Shape 20"/>
          <p:cNvSpPr/>
          <p:nvPr/>
        </p:nvSpPr>
        <p:spPr>
          <a:xfrm>
            <a:off x="6519672" y="3794760"/>
            <a:ext cx="530352" cy="530352"/>
          </a:xfrm>
          <a:prstGeom prst="ellipse">
            <a:avLst/>
          </a:prstGeom>
          <a:solidFill>
            <a:srgbClr val="1B9AAA"/>
          </a:solidFill>
          <a:ln w="12700">
            <a:solidFill>
              <a:srgbClr val="1B9AAA"/>
            </a:solidFill>
            <a:prstDash val="solid"/>
          </a:ln>
        </p:spPr>
      </p:sp>
      <p:pic>
        <p:nvPicPr>
          <p:cNvPr id="30" name="Image 7" descr="preencoded.png"/>
          <p:cNvPicPr>
            <a:picLocks noChangeAspect="1"/>
          </p:cNvPicPr>
          <p:nvPr/>
        </p:nvPicPr>
        <p:blipFill>
          <a:blip r:embed="rId10"/>
          <a:stretch>
            <a:fillRect/>
          </a:stretch>
        </p:blipFill>
        <p:spPr>
          <a:xfrm>
            <a:off x="6657564" y="3932652"/>
            <a:ext cx="254569" cy="254569"/>
          </a:xfrm>
          <a:prstGeom prst="rect">
            <a:avLst/>
          </a:prstGeom>
        </p:spPr>
      </p:pic>
      <p:sp>
        <p:nvSpPr>
          <p:cNvPr id="31" name="Text 21"/>
          <p:cNvSpPr txBox="1"/>
          <p:nvPr/>
        </p:nvSpPr>
        <p:spPr>
          <a:xfrm>
            <a:off x="7205472" y="3721608"/>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Drone + SAR fusion</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Satellites for wide area, drones for high-detail hotspots</a:t>
            </a:r>
            <a:endParaRPr lang="en-US" sz="1450" dirty="0"/>
          </a:p>
        </p:txBody>
      </p:sp>
      <p:sp>
        <p:nvSpPr>
          <p:cNvPr id="32" name="Shape 22"/>
          <p:cNvSpPr/>
          <p:nvPr/>
        </p:nvSpPr>
        <p:spPr>
          <a:xfrm>
            <a:off x="6519672" y="4581144"/>
            <a:ext cx="530352" cy="530352"/>
          </a:xfrm>
          <a:prstGeom prst="ellipse">
            <a:avLst/>
          </a:prstGeom>
          <a:solidFill>
            <a:srgbClr val="1B9AAA"/>
          </a:solidFill>
          <a:ln w="12700">
            <a:solidFill>
              <a:srgbClr val="1B9AAA"/>
            </a:solidFill>
            <a:prstDash val="solid"/>
          </a:ln>
        </p:spPr>
      </p:sp>
      <p:pic>
        <p:nvPicPr>
          <p:cNvPr id="33" name="Image 8" descr="preencoded.png"/>
          <p:cNvPicPr>
            <a:picLocks noChangeAspect="1"/>
          </p:cNvPicPr>
          <p:nvPr/>
        </p:nvPicPr>
        <p:blipFill>
          <a:blip r:embed="rId11"/>
          <a:stretch>
            <a:fillRect/>
          </a:stretch>
        </p:blipFill>
        <p:spPr>
          <a:xfrm>
            <a:off x="6657564" y="4719036"/>
            <a:ext cx="254569" cy="254569"/>
          </a:xfrm>
          <a:prstGeom prst="rect">
            <a:avLst/>
          </a:prstGeom>
        </p:spPr>
      </p:pic>
      <p:sp>
        <p:nvSpPr>
          <p:cNvPr id="34" name="Text 23"/>
          <p:cNvSpPr txBox="1"/>
          <p:nvPr/>
        </p:nvSpPr>
        <p:spPr>
          <a:xfrm>
            <a:off x="7205472" y="4507992"/>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Multi-temporal monitoring</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Track flood rise and recession over successive days</a:t>
            </a:r>
            <a:endParaRPr lang="en-US" sz="1450" dirty="0"/>
          </a:p>
        </p:txBody>
      </p:sp>
      <p:sp>
        <p:nvSpPr>
          <p:cNvPr id="35" name="Shape 24"/>
          <p:cNvSpPr/>
          <p:nvPr/>
        </p:nvSpPr>
        <p:spPr>
          <a:xfrm>
            <a:off x="6519672" y="5367528"/>
            <a:ext cx="530352" cy="530352"/>
          </a:xfrm>
          <a:prstGeom prst="ellipse">
            <a:avLst/>
          </a:prstGeom>
          <a:solidFill>
            <a:srgbClr val="1B9AAA"/>
          </a:solidFill>
          <a:ln w="12700">
            <a:solidFill>
              <a:srgbClr val="1B9AAA"/>
            </a:solidFill>
            <a:prstDash val="solid"/>
          </a:ln>
        </p:spPr>
      </p:sp>
      <p:pic>
        <p:nvPicPr>
          <p:cNvPr id="36" name="Image 9" descr="preencoded.png"/>
          <p:cNvPicPr>
            <a:picLocks noChangeAspect="1"/>
          </p:cNvPicPr>
          <p:nvPr/>
        </p:nvPicPr>
        <p:blipFill>
          <a:blip r:embed="rId12"/>
          <a:stretch>
            <a:fillRect/>
          </a:stretch>
        </p:blipFill>
        <p:spPr>
          <a:xfrm>
            <a:off x="6657564" y="5505420"/>
            <a:ext cx="254569" cy="254569"/>
          </a:xfrm>
          <a:prstGeom prst="rect">
            <a:avLst/>
          </a:prstGeom>
        </p:spPr>
      </p:pic>
      <p:sp>
        <p:nvSpPr>
          <p:cNvPr id="37" name="Text 25"/>
          <p:cNvSpPr txBox="1"/>
          <p:nvPr/>
        </p:nvSpPr>
        <p:spPr>
          <a:xfrm>
            <a:off x="7205472" y="5294376"/>
            <a:ext cx="4297680" cy="713232"/>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Live WebGIS dashboard</a:t>
            </a:r>
            <a:endParaRPr lang="en-US" sz="1450" dirty="0"/>
          </a:p>
          <a:p>
            <a:pPr marL="0" indent="0">
              <a:buNone/>
            </a:pPr>
            <a:r>
              <a:rPr lang="en-US" sz="1250" dirty="0">
                <a:solidFill>
                  <a:srgbClr val="1F2D3D"/>
                </a:solidFill>
                <a:latin typeface="Calibri" pitchFamily="34" charset="0"/>
                <a:ea typeface="Calibri" pitchFamily="34" charset="-122"/>
                <a:cs typeface="Calibri" pitchFamily="34" charset="-120"/>
              </a:rPr>
              <a:t>Automatic alerts and maps for disaster authorities</a:t>
            </a:r>
            <a:endParaRPr lang="en-US" sz="1450" dirty="0"/>
          </a:p>
        </p:txBody>
      </p:sp>
      <p:sp>
        <p:nvSpPr>
          <p:cNvPr id="38" name="Text 26"/>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marL="0" indent="0">
              <a:buNone/>
            </a:pPr>
            <a:r>
              <a:rPr lang="en-US" sz="1200" b="1" kern="0" spc="400" dirty="0">
                <a:solidFill>
                  <a:srgbClr val="E09F3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82296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Shape 2"/>
          <p:cNvSpPr/>
          <p:nvPr/>
        </p:nvSpPr>
        <p:spPr>
          <a:xfrm>
            <a:off x="548640" y="2057400"/>
            <a:ext cx="658368" cy="658368"/>
          </a:xfrm>
          <a:prstGeom prst="ellipse">
            <a:avLst/>
          </a:prstGeom>
          <a:solidFill>
            <a:srgbClr val="1B9AAA"/>
          </a:solidFill>
          <a:ln w="12700">
            <a:solidFill>
              <a:srgbClr val="1B9AAA"/>
            </a:solidFill>
            <a:prstDash val="solid"/>
          </a:ln>
        </p:spPr>
      </p:sp>
      <p:pic>
        <p:nvPicPr>
          <p:cNvPr id="5" name="Image 0" descr="preencoded.png"/>
          <p:cNvPicPr>
            <a:picLocks noChangeAspect="1"/>
          </p:cNvPicPr>
          <p:nvPr/>
        </p:nvPicPr>
        <p:blipFill>
          <a:blip r:embed="rId3"/>
          <a:stretch>
            <a:fillRect/>
          </a:stretch>
        </p:blipFill>
        <p:spPr>
          <a:xfrm>
            <a:off x="719816" y="2228576"/>
            <a:ext cx="316017" cy="316017"/>
          </a:xfrm>
          <a:prstGeom prst="rect">
            <a:avLst/>
          </a:prstGeom>
        </p:spPr>
      </p:pic>
      <p:sp>
        <p:nvSpPr>
          <p:cNvPr id="6" name="Text 3"/>
          <p:cNvSpPr txBox="1"/>
          <p:nvPr/>
        </p:nvSpPr>
        <p:spPr>
          <a:xfrm>
            <a:off x="1463040" y="2002536"/>
            <a:ext cx="57607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Drones deliver centimetre-level, on-demand imagery exactly when and where satellites fall short.</a:t>
            </a:r>
            <a:endParaRPr lang="en-US" sz="1600" dirty="0"/>
          </a:p>
        </p:txBody>
      </p:sp>
      <p:sp>
        <p:nvSpPr>
          <p:cNvPr id="7" name="Shape 4"/>
          <p:cNvSpPr/>
          <p:nvPr/>
        </p:nvSpPr>
        <p:spPr>
          <a:xfrm>
            <a:off x="548640" y="3154680"/>
            <a:ext cx="658368" cy="658368"/>
          </a:xfrm>
          <a:prstGeom prst="ellipse">
            <a:avLst/>
          </a:prstGeom>
          <a:solidFill>
            <a:srgbClr val="1B9AAA"/>
          </a:solidFill>
          <a:ln w="12700">
            <a:solidFill>
              <a:srgbClr val="1B9AAA"/>
            </a:solidFill>
            <a:prstDash val="solid"/>
          </a:ln>
        </p:spPr>
      </p:sp>
      <p:pic>
        <p:nvPicPr>
          <p:cNvPr id="8" name="Image 1" descr="preencoded.png"/>
          <p:cNvPicPr>
            <a:picLocks noChangeAspect="1"/>
          </p:cNvPicPr>
          <p:nvPr/>
        </p:nvPicPr>
        <p:blipFill>
          <a:blip r:embed="rId4"/>
          <a:stretch>
            <a:fillRect/>
          </a:stretch>
        </p:blipFill>
        <p:spPr>
          <a:xfrm>
            <a:off x="719816" y="3325856"/>
            <a:ext cx="316017" cy="316017"/>
          </a:xfrm>
          <a:prstGeom prst="rect">
            <a:avLst/>
          </a:prstGeom>
        </p:spPr>
      </p:pic>
      <p:sp>
        <p:nvSpPr>
          <p:cNvPr id="9" name="Text 5"/>
          <p:cNvSpPr txBox="1"/>
          <p:nvPr/>
        </p:nvSpPr>
        <p:spPr>
          <a:xfrm>
            <a:off x="1463040" y="3099816"/>
            <a:ext cx="57607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Deep-learning segmentation turns thousands of images into accurate, georeferenced flood masks with minimal manual effort.</a:t>
            </a:r>
            <a:endParaRPr lang="en-US" sz="1600" dirty="0"/>
          </a:p>
        </p:txBody>
      </p:sp>
      <p:sp>
        <p:nvSpPr>
          <p:cNvPr id="10" name="Shape 6"/>
          <p:cNvSpPr/>
          <p:nvPr/>
        </p:nvSpPr>
        <p:spPr>
          <a:xfrm>
            <a:off x="548640" y="4251960"/>
            <a:ext cx="658368" cy="658368"/>
          </a:xfrm>
          <a:prstGeom prst="ellipse">
            <a:avLst/>
          </a:prstGeom>
          <a:solidFill>
            <a:srgbClr val="1B9AAA"/>
          </a:solidFill>
          <a:ln w="12700">
            <a:solidFill>
              <a:srgbClr val="1B9AAA"/>
            </a:solidFill>
            <a:prstDash val="solid"/>
          </a:ln>
        </p:spPr>
      </p:sp>
      <p:pic>
        <p:nvPicPr>
          <p:cNvPr id="11" name="Image 2" descr="preencoded.png"/>
          <p:cNvPicPr>
            <a:picLocks noChangeAspect="1"/>
          </p:cNvPicPr>
          <p:nvPr/>
        </p:nvPicPr>
        <p:blipFill>
          <a:blip r:embed="rId5"/>
          <a:stretch>
            <a:fillRect/>
          </a:stretch>
        </p:blipFill>
        <p:spPr>
          <a:xfrm>
            <a:off x="719816" y="4423136"/>
            <a:ext cx="316017" cy="316017"/>
          </a:xfrm>
          <a:prstGeom prst="rect">
            <a:avLst/>
          </a:prstGeom>
        </p:spPr>
      </p:pic>
      <p:sp>
        <p:nvSpPr>
          <p:cNvPr id="12" name="Text 7"/>
          <p:cNvSpPr txBox="1"/>
          <p:nvPr/>
        </p:nvSpPr>
        <p:spPr>
          <a:xfrm>
            <a:off x="1463040" y="4197096"/>
            <a:ext cx="57607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GIS analysis converts masks into decision-ready numbers: flooded hectares, cut-off roads, affected houses and crops.</a:t>
            </a:r>
            <a:endParaRPr lang="en-US" sz="1600" dirty="0"/>
          </a:p>
        </p:txBody>
      </p:sp>
      <p:sp>
        <p:nvSpPr>
          <p:cNvPr id="13" name="Shape 8"/>
          <p:cNvSpPr/>
          <p:nvPr/>
        </p:nvSpPr>
        <p:spPr>
          <a:xfrm>
            <a:off x="548640" y="5349240"/>
            <a:ext cx="658368" cy="658368"/>
          </a:xfrm>
          <a:prstGeom prst="ellipse">
            <a:avLst/>
          </a:prstGeom>
          <a:solidFill>
            <a:srgbClr val="1B9AAA"/>
          </a:solidFill>
          <a:ln w="12700">
            <a:solidFill>
              <a:srgbClr val="1B9AAA"/>
            </a:solidFill>
            <a:prstDash val="solid"/>
          </a:ln>
        </p:spPr>
      </p:sp>
      <p:pic>
        <p:nvPicPr>
          <p:cNvPr id="14" name="Image 3" descr="preencoded.png"/>
          <p:cNvPicPr>
            <a:picLocks noChangeAspect="1"/>
          </p:cNvPicPr>
          <p:nvPr/>
        </p:nvPicPr>
        <p:blipFill>
          <a:blip r:embed="rId6"/>
          <a:stretch>
            <a:fillRect/>
          </a:stretch>
        </p:blipFill>
        <p:spPr>
          <a:xfrm>
            <a:off x="719816" y="5520416"/>
            <a:ext cx="316017" cy="316017"/>
          </a:xfrm>
          <a:prstGeom prst="rect">
            <a:avLst/>
          </a:prstGeom>
        </p:spPr>
      </p:pic>
      <p:sp>
        <p:nvSpPr>
          <p:cNvPr id="15" name="Text 9"/>
          <p:cNvSpPr txBox="1"/>
          <p:nvPr/>
        </p:nvSpPr>
        <p:spPr>
          <a:xfrm>
            <a:off x="1463040" y="5294376"/>
            <a:ext cx="57607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The end-to-end pipeline shortens the time from flight to actionable map, strengthening flood response in regions such as Bihar.</a:t>
            </a:r>
            <a:endParaRPr lang="en-US" sz="1600" dirty="0"/>
          </a:p>
        </p:txBody>
      </p:sp>
      <p:pic>
        <p:nvPicPr>
          <p:cNvPr id="16" name="Image 4" descr="preencoded.png"/>
          <p:cNvPicPr>
            <a:picLocks noChangeAspect="1"/>
          </p:cNvPicPr>
          <p:nvPr/>
        </p:nvPicPr>
        <p:blipFill>
          <a:blip r:embed="rId7"/>
          <a:stretch>
            <a:fillRect/>
          </a:stretch>
        </p:blipFill>
        <p:spPr>
          <a:xfrm>
            <a:off x="7589520" y="2103120"/>
            <a:ext cx="4050792" cy="2700223"/>
          </a:xfrm>
          <a:prstGeom prst="rect">
            <a:avLst/>
          </a:prstGeom>
          <a:effectLst>
            <a:outerShdw blurRad="101600" dist="25400" dir="5400000" algn="bl" rotWithShape="0">
              <a:srgbClr val="000000">
                <a:alpha val="14000"/>
              </a:srgbClr>
            </a:outerShdw>
          </a:effectLst>
        </p:spPr>
      </p:pic>
      <p:sp>
        <p:nvSpPr>
          <p:cNvPr id="17" name="Text 10"/>
          <p:cNvSpPr txBox="1"/>
          <p:nvPr/>
        </p:nvSpPr>
        <p:spPr>
          <a:xfrm>
            <a:off x="7589520" y="4892040"/>
            <a:ext cx="4050792" cy="36576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Flood extent and impact map generated by the pipeline</a:t>
            </a:r>
            <a:endParaRPr lang="en-US" sz="1100" dirty="0"/>
          </a:p>
        </p:txBody>
      </p:sp>
      <p:sp>
        <p:nvSpPr>
          <p:cNvPr id="18" name="Text 11"/>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100" b="1" kern="0" spc="300" dirty="0">
                <a:solidFill>
                  <a:srgbClr val="E09F3E"/>
                </a:solidFill>
                <a:latin typeface="Calibri" pitchFamily="34" charset="0"/>
                <a:ea typeface="Calibri" pitchFamily="34" charset="-122"/>
                <a:cs typeface="Calibri" pitchFamily="34" charset="-120"/>
              </a:rPr>
              <a:t>SOURCES</a:t>
            </a:r>
            <a:endParaRPr lang="en-US" sz="1100" dirty="0"/>
          </a:p>
        </p:txBody>
      </p:sp>
      <p:sp>
        <p:nvSpPr>
          <p:cNvPr id="3" name="Text 1"/>
          <p:cNvSpPr txBox="1"/>
          <p:nvPr/>
        </p:nvSpPr>
        <p:spPr>
          <a:xfrm>
            <a:off x="548640" y="603504"/>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463040"/>
            <a:ext cx="11064240" cy="47548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UNDRR &amp; CRED (2020). The Human Cost of Disasters: An Overview of the Last 20 Years (2000–2019). United Nations Office for Disaster Risk Reduction.</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Flood Management Improvement Support Centre (FMISC), Water Resources Department, Government of Bihar. History of floods in Bihar.</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Rahnemoonfar, M., Chowdhury, T., Sarkar, A., Varshney, D., Yari, M., &amp; Murphy, R. R. (2021). FloodNet: A high resolution aerial imagery dataset for post flood scene understanding. IEEE Access, 9, 89644–89654.</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Rahnemoonfar, M., Chowdhury, T., &amp; Murphy, R. (2023). RescueNet: A high resolution UAV semantic segmentation dataset for natural disaster damage assessment. Scientific Data, 10.</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Ronneberger, O., Fischer, P., &amp; Brox, T. (2015). U-Net: Convolutional networks for biomedical image segmentation. MICCAI 2015, LNCS 9351, 234–241.</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Chen, L.-C., Zhu, Y., Papandreou, G., Schroff, F., &amp; Adam, H. (2018). Encoder-decoder with atrous separable convolution for semantic image segmentation. ECCV 2018.</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Xie, E., Wang, W., Yu, Z., Anandkumar, A., Alvarez, J. M., &amp; Luo, P. (2021). SegFormer: Simple and efficient design for semantic segmentation with transformers. NeurIPS 2021.</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McFeeters, S. K. (1996). The use of the Normalized Difference Water Index (NDWI) in the delineation of open water features. International Journal of Remote Sensing, 17(7), 1425–1432.</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Ministry of Civil Aviation, Government of India (2021). The Drone Rules, 2021.</a:t>
            </a:r>
            <a:endParaRPr lang="en-US" sz="1400" dirty="0"/>
          </a:p>
          <a:p>
            <a:pPr marL="342900" indent="-342900">
              <a:spcAft>
                <a:spcPts val="800"/>
              </a:spcAft>
              <a:buSzPct val="100000"/>
              <a:buFont typeface="+mj-lt"/>
              <a:buAutoNum type="arabicPeriod"/>
            </a:pPr>
            <a:r>
              <a:rPr lang="en-US" sz="1400" dirty="0">
                <a:solidFill>
                  <a:srgbClr val="1F2D3D"/>
                </a:solidFill>
                <a:latin typeface="Calibri" pitchFamily="34" charset="0"/>
                <a:ea typeface="Calibri" pitchFamily="34" charset="-122"/>
                <a:cs typeface="Calibri" pitchFamily="34" charset="-120"/>
              </a:rPr>
              <a:t>European Space Agency. Copernicus Sentinel-1 and Sentinel-2 mission overviews.</a:t>
            </a:r>
            <a:endParaRPr lang="en-US" sz="1400" dirty="0"/>
          </a:p>
        </p:txBody>
      </p:sp>
      <p:sp>
        <p:nvSpPr>
          <p:cNvPr id="5" name="Text 3"/>
          <p:cNvSpPr txBox="1"/>
          <p:nvPr/>
        </p:nvSpPr>
        <p:spPr>
          <a:xfrm>
            <a:off x="11274552" y="6400800"/>
            <a:ext cx="36576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2545">
              <a:alpha val="85000"/>
            </a:srgbClr>
          </a:solidFill>
          <a:ln w="12700">
            <a:solidFill>
              <a:srgbClr val="0B2545">
                <a:alpha val="0"/>
              </a:srgbClr>
            </a:solidFill>
            <a:prstDash val="solid"/>
          </a:ln>
        </p:spPr>
      </p:sp>
      <p:sp>
        <p:nvSpPr>
          <p:cNvPr id="4" name="Shape 1"/>
          <p:cNvSpPr/>
          <p:nvPr/>
        </p:nvSpPr>
        <p:spPr>
          <a:xfrm>
            <a:off x="5638648" y="1737360"/>
            <a:ext cx="914400" cy="914400"/>
          </a:xfrm>
          <a:prstGeom prst="ellipse">
            <a:avLst/>
          </a:prstGeom>
          <a:solidFill>
            <a:srgbClr val="E09F3E"/>
          </a:solidFill>
          <a:ln w="12700">
            <a:solidFill>
              <a:srgbClr val="E09F3E"/>
            </a:solidFill>
            <a:prstDash val="solid"/>
          </a:ln>
        </p:spPr>
      </p:sp>
      <p:pic>
        <p:nvPicPr>
          <p:cNvPr id="5" name="Image 1" descr="preencoded.png"/>
          <p:cNvPicPr>
            <a:picLocks noChangeAspect="1"/>
          </p:cNvPicPr>
          <p:nvPr/>
        </p:nvPicPr>
        <p:blipFill>
          <a:blip r:embed="rId4"/>
          <a:stretch>
            <a:fillRect/>
          </a:stretch>
        </p:blipFill>
        <p:spPr>
          <a:xfrm>
            <a:off x="5876392" y="1975104"/>
            <a:ext cx="438912" cy="438912"/>
          </a:xfrm>
          <a:prstGeom prst="rect">
            <a:avLst/>
          </a:prstGeom>
        </p:spPr>
      </p:pic>
      <p:sp>
        <p:nvSpPr>
          <p:cNvPr id="6" name="Text 2"/>
          <p:cNvSpPr txBox="1"/>
          <p:nvPr/>
        </p:nvSpPr>
        <p:spPr>
          <a:xfrm>
            <a:off x="914400" y="2788920"/>
            <a:ext cx="10362895" cy="109728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7" name="Text 3"/>
          <p:cNvSpPr txBox="1"/>
          <p:nvPr/>
        </p:nvSpPr>
        <p:spPr>
          <a:xfrm>
            <a:off x="914400" y="3840480"/>
            <a:ext cx="10362895" cy="548640"/>
          </a:xfrm>
          <a:prstGeom prst="rect">
            <a:avLst/>
          </a:prstGeom>
          <a:noFill/>
          <a:ln/>
        </p:spPr>
        <p:txBody>
          <a:bodyPr wrap="square" lIns="0" tIns="0" rIns="0" bIns="0" rtlCol="0" anchor="ctr"/>
          <a:lstStyle/>
          <a:p>
            <a:pPr marL="0" indent="0" algn="ctr">
              <a:buNone/>
            </a:pPr>
            <a:endParaRPr lang="en-US" sz="2200" dirty="0"/>
          </a:p>
        </p:txBody>
      </p:sp>
      <p:sp>
        <p:nvSpPr>
          <p:cNvPr id="8" name="Text 4"/>
          <p:cNvSpPr txBox="1"/>
          <p:nvPr/>
        </p:nvSpPr>
        <p:spPr>
          <a:xfrm>
            <a:off x="914400" y="4846320"/>
            <a:ext cx="10362895" cy="457200"/>
          </a:xfrm>
          <a:prstGeom prst="rect">
            <a:avLst/>
          </a:prstGeom>
          <a:noFill/>
          <a:ln/>
        </p:spPr>
        <p:txBody>
          <a:bodyPr wrap="square" lIns="0" tIns="0" rIns="0" bIns="0" rtlCol="0" anchor="ctr"/>
          <a:lstStyle/>
          <a:p>
            <a:pPr marL="0" indent="0" algn="ctr">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3291</Words>
  <Application>Microsoft Office PowerPoint</Application>
  <PresentationFormat>Widescreen</PresentationFormat>
  <Paragraphs>452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 Extent Mapping Using Drone Imagery</dc:title>
  <dc:subject>PptxGenJS Presentation</dc:subject>
  <dc:creator>Ranjesh Kumar Roy</dc:creator>
  <cp:lastModifiedBy>Antra Sinha</cp:lastModifiedBy>
  <cp:revision>2</cp:revision>
  <dcterms:created xsi:type="dcterms:W3CDTF">2026-09-11T08:24:08Z</dcterms:created>
  <dcterms:modified xsi:type="dcterms:W3CDTF">2026-09-11T08:44:41Z</dcterms:modified>
</cp:coreProperties>
</file>